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FBE68C7-E5EC-4345-9E8D-0C72775414EB}" type="datetimeFigureOut">
              <a:rPr lang="en-US" smtClean="0"/>
              <a:t>10/2/2026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A5C8D17-8DD8-4F20-A42C-FD4900A8A38D}" type="slidenum">
              <a:rPr lang="en-US" smtClean="0"/>
              <a:t>‹#›</a:t>
            </a:fld>
            <a:endParaRPr lang="en-US"/>
          </a:p>
        </p:txBody>
      </p:sp>
    </p:spTree>
    <p:extLst>
      <p:ext uri="{BB962C8B-B14F-4D97-AF65-F5344CB8AC3E}">
        <p14:creationId xmlns:p14="http://schemas.microsoft.com/office/powerpoint/2010/main" val="5624261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Prateek Sahay. Planned time: 30 seconds.</a:t>
            </a:r>
          </a:p>
          <a:p>
            <a:endParaRPr lang="en-US"/>
          </a:p>
          <a:p>
            <a:r>
              <a:rPr lang="en-US"/>
              <a:t>Prateek, 0:00-0:30. Introduce the team and the assigned Expense Tracker project. State the comparison question: how do Python and C++ implement the same behavior while making different choices about types, containers, resource ownership, and programming style? Explain that both applications can run independently and share CSV data. Preview two short demonstrations followed by actual source comparisons. Handoff: Venkata will first explain what equivalent behavior means for the user. This is a prepared presentation plan; it does not claim the team has already delivered the presentation.</a:t>
            </a:r>
          </a:p>
        </p:txBody>
      </p:sp>
      <p:sp>
        <p:nvSpPr>
          <p:cNvPr id="4" name="Slide Number Placeholder 3"/>
          <p:cNvSpPr>
            <a:spLocks noGrp="1"/>
          </p:cNvSpPr>
          <p:nvPr>
            <p:ph type="sldNum" sz="quarter" idx="5"/>
          </p:nvPr>
        </p:nvSpPr>
        <p:spPr/>
        <p:txBody>
          <a:bodyPr/>
          <a:lstStyle/>
          <a:p>
            <a:fld id="{6A5C8D17-8DD8-4F20-A42C-FD4900A8A38D}" type="slidenum">
              <a:rPr lang="en-US" smtClean="0"/>
              <a:t>1</a:t>
            </a:fld>
            <a:endParaRPr lang="en-US"/>
          </a:p>
        </p:txBody>
      </p:sp>
    </p:spTree>
    <p:extLst>
      <p:ext uri="{BB962C8B-B14F-4D97-AF65-F5344CB8AC3E}">
        <p14:creationId xmlns:p14="http://schemas.microsoft.com/office/powerpoint/2010/main" val="10293692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Venkata Sai Makani. Planned time: 50 seconds.</a:t>
            </a:r>
          </a:p>
          <a:p>
            <a:endParaRPr lang="en-US"/>
          </a:p>
          <a:p>
            <a:r>
              <a:rPr lang="en-US"/>
              <a:t>Venkata, 0:30-1:20. Walk through one example: an expense dated 2026-10-02 for $12.34 in Food with description Lunch, campus. Explain that category filtering is exact and case-sensitive, so Food and food are different, while a CAMPUS search finds campus. Dates include both ends of a range. Results preserve insertion order; category summaries sort lexicographically. Deletion is an additional convenience feature. Emphasize that functional output is deliberately the same so the comparison is about language design rather than different product features. Handoff: Prateek will show the shared architecture.</a:t>
            </a:r>
          </a:p>
        </p:txBody>
      </p:sp>
      <p:sp>
        <p:nvSpPr>
          <p:cNvPr id="4" name="Slide Number Placeholder 3"/>
          <p:cNvSpPr>
            <a:spLocks noGrp="1"/>
          </p:cNvSpPr>
          <p:nvPr>
            <p:ph type="sldNum" sz="quarter" idx="5"/>
          </p:nvPr>
        </p:nvSpPr>
        <p:spPr/>
        <p:txBody>
          <a:bodyPr/>
          <a:lstStyle/>
          <a:p>
            <a:fld id="{6A5C8D17-8DD8-4F20-A42C-FD4900A8A38D}" type="slidenum">
              <a:rPr lang="en-US" smtClean="0"/>
              <a:t>2</a:t>
            </a:fld>
            <a:endParaRPr lang="en-US"/>
          </a:p>
        </p:txBody>
      </p:sp>
    </p:spTree>
    <p:extLst>
      <p:ext uri="{BB962C8B-B14F-4D97-AF65-F5344CB8AC3E}">
        <p14:creationId xmlns:p14="http://schemas.microsoft.com/office/powerpoint/2010/main" val="31277184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Prateek Sahay. Planned time: 55 seconds.</a:t>
            </a:r>
          </a:p>
          <a:p>
            <a:endParaRPr lang="en-US"/>
          </a:p>
          <a:p>
            <a:r>
              <a:rPr lang="en-US"/>
              <a:t>Prateek, 1:20-2:15. Trace the arrows from a command to the output. Both programs validate the full existing CSV before working with it. Read-only queries do not save; add and delete save after success. Temporary files are written beside the target, then replaced only after successful writing. Show the repository folders in the editor: python/main.py, python/tracker.py, cpp/main.cpp, cpp/tracker.hpp, cpp/tracker.cpp, and tests/test_tracker.py. Explain that this separation lets the team compare core logic while keeping command parsing at the boundary. The implementations share a format and requirements, not a runtime dependency on each other. Handoff: Venkata will define that format precisely.</a:t>
            </a:r>
          </a:p>
        </p:txBody>
      </p:sp>
      <p:sp>
        <p:nvSpPr>
          <p:cNvPr id="4" name="Slide Number Placeholder 3"/>
          <p:cNvSpPr>
            <a:spLocks noGrp="1"/>
          </p:cNvSpPr>
          <p:nvPr>
            <p:ph type="sldNum" sz="quarter" idx="5"/>
          </p:nvPr>
        </p:nvSpPr>
        <p:spPr/>
        <p:txBody>
          <a:bodyPr/>
          <a:lstStyle/>
          <a:p>
            <a:fld id="{6A5C8D17-8DD8-4F20-A42C-FD4900A8A38D}" type="slidenum">
              <a:rPr lang="en-US" smtClean="0"/>
              <a:t>3</a:t>
            </a:fld>
            <a:endParaRPr lang="en-US"/>
          </a:p>
        </p:txBody>
      </p:sp>
    </p:spTree>
    <p:extLst>
      <p:ext uri="{BB962C8B-B14F-4D97-AF65-F5344CB8AC3E}">
        <p14:creationId xmlns:p14="http://schemas.microsoft.com/office/powerpoint/2010/main" val="26317175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Venkata Sai Makani. Planned time: 65 seconds.</a:t>
            </a:r>
          </a:p>
          <a:p>
            <a:endParaRPr lang="en-US"/>
          </a:p>
          <a:p>
            <a:r>
              <a:rPr lang="en-US"/>
              <a:t>Venkata, 2:15-3:20. Open data/sample.csv and point to the five-field header. Explain that 1234 cents represents $12.34; neither implementation rounds a floating-point value. An amount with three decimal places is rejected. Python uses integers with an explicit shared total limit; C++ uses int64_t and checked addition. Dates have a fixed ten-character representation, so validated date strings can be compared chronologically in C++, while Python uses datetime.date objects. Mention unique IDs, trimmed category and description, 40-character category and 200-character description limits, and standard CSV escaping for commas and double quotes. ASCII text and single-writer storage are explicit scope choices. Handoff: Prateek will run the Python application.</a:t>
            </a:r>
          </a:p>
        </p:txBody>
      </p:sp>
      <p:sp>
        <p:nvSpPr>
          <p:cNvPr id="4" name="Slide Number Placeholder 3"/>
          <p:cNvSpPr>
            <a:spLocks noGrp="1"/>
          </p:cNvSpPr>
          <p:nvPr>
            <p:ph type="sldNum" sz="quarter" idx="5"/>
          </p:nvPr>
        </p:nvSpPr>
        <p:spPr/>
        <p:txBody>
          <a:bodyPr/>
          <a:lstStyle/>
          <a:p>
            <a:fld id="{6A5C8D17-8DD8-4F20-A42C-FD4900A8A38D}" type="slidenum">
              <a:rPr lang="en-US" smtClean="0"/>
              <a:t>4</a:t>
            </a:fld>
            <a:endParaRPr lang="en-US"/>
          </a:p>
        </p:txBody>
      </p:sp>
    </p:spTree>
    <p:extLst>
      <p:ext uri="{BB962C8B-B14F-4D97-AF65-F5344CB8AC3E}">
        <p14:creationId xmlns:p14="http://schemas.microsoft.com/office/powerpoint/2010/main" val="15687860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Prateek Sahay. Planned time: 120 seconds.</a:t>
            </a:r>
          </a:p>
          <a:p>
            <a:endParaRPr lang="en-US"/>
          </a:p>
          <a:p>
            <a:r>
              <a:rPr lang="en-US"/>
              <a:t>Prateek, 3:20-5:20. The screenshot shows the five-record sample ($61.08), separate from the three-record live demo below ($5.30). Use it as genuine captured evidence if the terminal is unavailable. Run from the repository root. Use a new, unused path such as data/live-python-demo.csv for each rehearsal; preserve data/sample.csv. First 35 seconds: run python python/main.py --data data/live-python-demo.csv add --date 2026-10-02 --amount 0.10 --category Food --description Coffee, then the same command with --amount 0.20 --description Lunch, then add --date 2026-10-03 --amount 5.00 --category Transport --description Bus. Next 35 seconds: run python python/main.py --data data/live-python-demo.csv list, then list --start 2026-10-02 --end 2026-10-02 --category Food. Next 25 seconds: run search --query COFFEE with the same executable and --data prefix. Final 25 seconds: run summary and show Food $0.30, Transport $5.00, Overall $5.30; inspect the CSV's 10 and 20 cent values. Use python3 or py instead of python if required by the environment. Handoff: Venkata will read this exact file from the independent C++ program.</a:t>
            </a:r>
          </a:p>
        </p:txBody>
      </p:sp>
      <p:sp>
        <p:nvSpPr>
          <p:cNvPr id="4" name="Slide Number Placeholder 3"/>
          <p:cNvSpPr>
            <a:spLocks noGrp="1"/>
          </p:cNvSpPr>
          <p:nvPr>
            <p:ph type="sldNum" sz="quarter" idx="5"/>
          </p:nvPr>
        </p:nvSpPr>
        <p:spPr/>
        <p:txBody>
          <a:bodyPr/>
          <a:lstStyle/>
          <a:p>
            <a:fld id="{6A5C8D17-8DD8-4F20-A42C-FD4900A8A38D}" type="slidenum">
              <a:rPr lang="en-US" smtClean="0"/>
              <a:t>5</a:t>
            </a:fld>
            <a:endParaRPr lang="en-US"/>
          </a:p>
        </p:txBody>
      </p:sp>
    </p:spTree>
    <p:extLst>
      <p:ext uri="{BB962C8B-B14F-4D97-AF65-F5344CB8AC3E}">
        <p14:creationId xmlns:p14="http://schemas.microsoft.com/office/powerpoint/2010/main" val="2670797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Venkata Sai Makani. Planned time: 120 seconds.</a:t>
            </a:r>
          </a:p>
          <a:p>
            <a:endParaRPr lang="en-US"/>
          </a:p>
          <a:p>
            <a:r>
              <a:rPr lang="en-US"/>
              <a:t>Venkata, 5:20-7:20. The screenshot shows the five-record sample ($61.08); the separate live interoperability demonstration below uses the three-record file created on slide 5. On Windows use .\build\expense_tracker.exe; on Linux/macOS use ./build/expense_tracker. First 25 seconds: run .\build\expense_tracker.exe --data data/live-python-demo.csv list and point out that all Python-created records loaded without conversion. Next 30 seconds: run the same prefix with add --date 2026-10-03 --amount 19.99 --category Books --description Reference, then summary; the fresh demo should total $25.29. Next 25 seconds: run delete --id 4, then list to confirm only the first three records remain. Next 25 seconds: attempt add --date 2026-02-29 --amount 1 --category Food --description Invalid and show the error, then summary to confirm $5.30. Final 15 seconds: run python python/main.py --data data/live-python-demo.csv list to demonstrate a Python process reading the C++-written file. If using an already populated file, read the actual generated ID rather than assuming 4. Handoff: Prateek will explain the record representation that supports these same behaviors.</a:t>
            </a:r>
          </a:p>
        </p:txBody>
      </p:sp>
      <p:sp>
        <p:nvSpPr>
          <p:cNvPr id="4" name="Slide Number Placeholder 3"/>
          <p:cNvSpPr>
            <a:spLocks noGrp="1"/>
          </p:cNvSpPr>
          <p:nvPr>
            <p:ph type="sldNum" sz="quarter" idx="5"/>
          </p:nvPr>
        </p:nvSpPr>
        <p:spPr/>
        <p:txBody>
          <a:bodyPr/>
          <a:lstStyle/>
          <a:p>
            <a:fld id="{6A5C8D17-8DD8-4F20-A42C-FD4900A8A38D}" type="slidenum">
              <a:rPr lang="en-US" smtClean="0"/>
              <a:t>6</a:t>
            </a:fld>
            <a:endParaRPr lang="en-US"/>
          </a:p>
        </p:txBody>
      </p:sp>
    </p:spTree>
    <p:extLst>
      <p:ext uri="{BB962C8B-B14F-4D97-AF65-F5344CB8AC3E}">
        <p14:creationId xmlns:p14="http://schemas.microsoft.com/office/powerpoint/2010/main" val="31744024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Prateek Sahay. Planned time: 70 seconds.</a:t>
            </a:r>
          </a:p>
          <a:p>
            <a:endParaRPr lang="en-US"/>
          </a:p>
          <a:p>
            <a:r>
              <a:rPr lang="en-US"/>
              <a:t>Prateek, 7:20-8:30. Navigate to the Expense declarations shown on the slide. In Python, expense['amount_cents'] looks up a string key in a dictionary. TypedDict helps readers and optional type-checking tools; runtime validation in parse_amount, parse_date, and clean_text remains essential. Python dates are date objects, whereas C++ stores a validated string. C++ accesses expense.amount_cents and the compiler knows its fixed-width integer type. Both still need input checks: static typing does not make an invalid date valid or prevent arithmetic overflow automatically. Explain that Python stores records in a list; C++ stores Expense values in a vector, with a map for sorted category totals and a set to detect duplicate stored IDs. Handoff: Venkata will show how those records are filtered.</a:t>
            </a:r>
          </a:p>
        </p:txBody>
      </p:sp>
      <p:sp>
        <p:nvSpPr>
          <p:cNvPr id="4" name="Slide Number Placeholder 3"/>
          <p:cNvSpPr>
            <a:spLocks noGrp="1"/>
          </p:cNvSpPr>
          <p:nvPr>
            <p:ph type="sldNum" sz="quarter" idx="5"/>
          </p:nvPr>
        </p:nvSpPr>
        <p:spPr/>
        <p:txBody>
          <a:bodyPr/>
          <a:lstStyle/>
          <a:p>
            <a:fld id="{6A5C8D17-8DD8-4F20-A42C-FD4900A8A38D}" type="slidenum">
              <a:rPr lang="en-US" smtClean="0"/>
              <a:t>7</a:t>
            </a:fld>
            <a:endParaRPr lang="en-US"/>
          </a:p>
        </p:txBody>
      </p:sp>
    </p:spTree>
    <p:extLst>
      <p:ext uri="{BB962C8B-B14F-4D97-AF65-F5344CB8AC3E}">
        <p14:creationId xmlns:p14="http://schemas.microsoft.com/office/powerpoint/2010/main" val="13573309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Venkata Sai Makani. Planned time: 70 seconds.</a:t>
            </a:r>
          </a:p>
          <a:p>
            <a:endParaRPr lang="en-US"/>
          </a:p>
          <a:p>
            <a:r>
              <a:rPr lang="en-US"/>
              <a:t>Venkata, 8:30-9:40. Read the Python predicate as a description of eligible records: absent bounds allow all dates; supplied bounds must match. Explain short-circuit evaluation and that this expression does not mutate the input list. In cpp/tracker.cpp, continue rejects an expense before the later search and selected.push_back steps. std::optional represents an absent filter explicitly. Fixed-width, validated date strings make lexicographic comparisons valid; Python directly compares date objects. Point to lowercase_ascii in C++ and lower() in Python; because the accepted text is ASCII, they implement the same search behavior. Clarify the ownership tradeoff: the Python result is a new list referencing existing dictionaries, while the C++ result contains copies of matching values. Handoff: Prateek will compare category aggregation and exact totals.</a:t>
            </a:r>
          </a:p>
        </p:txBody>
      </p:sp>
      <p:sp>
        <p:nvSpPr>
          <p:cNvPr id="4" name="Slide Number Placeholder 3"/>
          <p:cNvSpPr>
            <a:spLocks noGrp="1"/>
          </p:cNvSpPr>
          <p:nvPr>
            <p:ph type="sldNum" sz="quarter" idx="5"/>
          </p:nvPr>
        </p:nvSpPr>
        <p:spPr/>
        <p:txBody>
          <a:bodyPr/>
          <a:lstStyle/>
          <a:p>
            <a:fld id="{6A5C8D17-8DD8-4F20-A42C-FD4900A8A38D}" type="slidenum">
              <a:rPr lang="en-US" smtClean="0"/>
              <a:t>8</a:t>
            </a:fld>
            <a:endParaRPr lang="en-US"/>
          </a:p>
        </p:txBody>
      </p:sp>
    </p:spTree>
    <p:extLst>
      <p:ext uri="{BB962C8B-B14F-4D97-AF65-F5344CB8AC3E}">
        <p14:creationId xmlns:p14="http://schemas.microsoft.com/office/powerpoint/2010/main" val="15788009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Prateek Sahay. Planned time: 65 seconds.</a:t>
            </a:r>
          </a:p>
          <a:p>
            <a:endParaRPr lang="en-US"/>
          </a:p>
          <a:p>
            <a:r>
              <a:rPr lang="en-US"/>
              <a:t>Prateek, 9:40-10:45. Explain the Python get(category, 0) pattern and the tuple containing category totals and the overall amount. In C++, auto&amp; binds a reference to the stored map value, and operator[] creates a zero-initialized integer for a missing category. Explain that Python's arbitrary-precision int does not normally overflow at the C++ boundary, but we deliberately impose the same total limit through checked_total. C++ checked_add protects fixed-width addition. Point to format_amount and format_money: both divide by 100 for dollars and take a remainder for cents. Revisit the demonstrated $0.30 result as correctness evidence, not a speed comparison. Handoff: Venkata will show how files and temporary resources are managed.</a:t>
            </a:r>
          </a:p>
        </p:txBody>
      </p:sp>
      <p:sp>
        <p:nvSpPr>
          <p:cNvPr id="4" name="Slide Number Placeholder 3"/>
          <p:cNvSpPr>
            <a:spLocks noGrp="1"/>
          </p:cNvSpPr>
          <p:nvPr>
            <p:ph type="sldNum" sz="quarter" idx="5"/>
          </p:nvPr>
        </p:nvSpPr>
        <p:spPr/>
        <p:txBody>
          <a:bodyPr/>
          <a:lstStyle/>
          <a:p>
            <a:fld id="{6A5C8D17-8DD8-4F20-A42C-FD4900A8A38D}" type="slidenum">
              <a:rPr lang="en-US" smtClean="0"/>
              <a:t>9</a:t>
            </a:fld>
            <a:endParaRPr lang="en-US"/>
          </a:p>
        </p:txBody>
      </p:sp>
    </p:spTree>
    <p:extLst>
      <p:ext uri="{BB962C8B-B14F-4D97-AF65-F5344CB8AC3E}">
        <p14:creationId xmlns:p14="http://schemas.microsoft.com/office/powerpoint/2010/main" val="26305240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Venkata Sai Makani. Planned time: 70 seconds.</a:t>
            </a:r>
          </a:p>
          <a:p>
            <a:endParaRPr lang="en-US"/>
          </a:p>
          <a:p>
            <a:r>
              <a:rPr lang="en-US"/>
              <a:t>Venkata, 10:45-11:55. Define RAII in plain language: a C++ object's lifetime controls a resource's lifetime. Streams close when they leave scope, and the TemporaryFile destructor removes an uncommitted file even during exception unwinding. Point out deleted copy operations on TemporaryFile to prevent two objects from owning the same cleanup. Contrast Python with blocks and its finally cleanup in save_expenses. The C++ vector owns record values, so there are no owning raw pointers and no new/delete calls. Open replace_file: Windows uses MoveFileExW with replacement flags; POSIX uses filesystem rename. Python uses os.replace. Same-directory temporary writes protect against partial replacement after a write failure, but simultaneous writers and every power-loss situation are outside the guarantee. Handoff: Prateek will connect cleanup with error handling.</a:t>
            </a:r>
          </a:p>
        </p:txBody>
      </p:sp>
      <p:sp>
        <p:nvSpPr>
          <p:cNvPr id="4" name="Slide Number Placeholder 3"/>
          <p:cNvSpPr>
            <a:spLocks noGrp="1"/>
          </p:cNvSpPr>
          <p:nvPr>
            <p:ph type="sldNum" sz="quarter" idx="5"/>
          </p:nvPr>
        </p:nvSpPr>
        <p:spPr/>
        <p:txBody>
          <a:bodyPr/>
          <a:lstStyle/>
          <a:p>
            <a:fld id="{6A5C8D17-8DD8-4F20-A42C-FD4900A8A38D}" type="slidenum">
              <a:rPr lang="en-US" smtClean="0"/>
              <a:t>10</a:t>
            </a:fld>
            <a:endParaRPr lang="en-US"/>
          </a:p>
        </p:txBody>
      </p:sp>
    </p:spTree>
    <p:extLst>
      <p:ext uri="{BB962C8B-B14F-4D97-AF65-F5344CB8AC3E}">
        <p14:creationId xmlns:p14="http://schemas.microsoft.com/office/powerpoint/2010/main" val="41220186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Prateek Sahay. Planned time: 65 seconds.</a:t>
            </a:r>
          </a:p>
          <a:p>
            <a:endParaRPr lang="en-US"/>
          </a:p>
          <a:p>
            <a:r>
              <a:rPr lang="en-US"/>
              <a:t>Prateek, 11:55-13:00. Explain the difference between an internal exception and the CLI's user-facing error contract. Python converts parsing and storage problems into TrackerError; C++ catches standard exceptions at main. Both successful runs return zero and errors return two, although detailed help text and error wording can differ. Point to StoreOnceAction in python/main.py and parse_options in cpp/main.cpp for duplicate-flag checks. Open load_expenses and Tracker::load to show full row/header validation before add or delete can save. Explain why malformed stored data is an error rather than an empty tracker: silently replacing corruption would lose evidence and expenses. Relate this to the invalid-date demo and the tests that compare file bytes before and after failure. Handoff: Venkata will compare how the source is organized and built.</a:t>
            </a:r>
          </a:p>
        </p:txBody>
      </p:sp>
      <p:sp>
        <p:nvSpPr>
          <p:cNvPr id="4" name="Slide Number Placeholder 3"/>
          <p:cNvSpPr>
            <a:spLocks noGrp="1"/>
          </p:cNvSpPr>
          <p:nvPr>
            <p:ph type="sldNum" sz="quarter" idx="5"/>
          </p:nvPr>
        </p:nvSpPr>
        <p:spPr/>
        <p:txBody>
          <a:bodyPr/>
          <a:lstStyle/>
          <a:p>
            <a:fld id="{6A5C8D17-8DD8-4F20-A42C-FD4900A8A38D}" type="slidenum">
              <a:rPr lang="en-US" smtClean="0"/>
              <a:t>11</a:t>
            </a:fld>
            <a:endParaRPr lang="en-US"/>
          </a:p>
        </p:txBody>
      </p:sp>
    </p:spTree>
    <p:extLst>
      <p:ext uri="{BB962C8B-B14F-4D97-AF65-F5344CB8AC3E}">
        <p14:creationId xmlns:p14="http://schemas.microsoft.com/office/powerpoint/2010/main" val="22898172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Venkata Sai Makani. Planned time: 50 seconds.</a:t>
            </a:r>
          </a:p>
          <a:p>
            <a:endParaRPr lang="en-US"/>
          </a:p>
          <a:p>
            <a:r>
              <a:rPr lang="en-US"/>
              <a:t>Venkata, 13:00-13:50. Show imports as Python's module boundary and the Tracker declarations as the C++ interface. Explain that the Python core uses functions accepting and returning records, while the C++ class encapsulates a private vector. Build navigation: cpp/CMakeLists.txt and the README's direct compiler command. The local Windows build used C++17, optimization, warning flags, and static C++ libraries, and compiled without warnings. Do not confuse a successful local build with a completed remote CI run. Show .github/workflows/ci.yml as the configured workflow that builds before running tests. State the proposed team workflow: small branches, peer review, and shared test expectations. Handoff: Prateek will relate these concrete choices to programming paradigms.</a:t>
            </a:r>
          </a:p>
        </p:txBody>
      </p:sp>
      <p:sp>
        <p:nvSpPr>
          <p:cNvPr id="4" name="Slide Number Placeholder 3"/>
          <p:cNvSpPr>
            <a:spLocks noGrp="1"/>
          </p:cNvSpPr>
          <p:nvPr>
            <p:ph type="sldNum" sz="quarter" idx="5"/>
          </p:nvPr>
        </p:nvSpPr>
        <p:spPr/>
        <p:txBody>
          <a:bodyPr/>
          <a:lstStyle/>
          <a:p>
            <a:fld id="{6A5C8D17-8DD8-4F20-A42C-FD4900A8A38D}" type="slidenum">
              <a:rPr lang="en-US" smtClean="0"/>
              <a:t>12</a:t>
            </a:fld>
            <a:endParaRPr lang="en-US"/>
          </a:p>
        </p:txBody>
      </p:sp>
    </p:spTree>
    <p:extLst>
      <p:ext uri="{BB962C8B-B14F-4D97-AF65-F5344CB8AC3E}">
        <p14:creationId xmlns:p14="http://schemas.microsoft.com/office/powerpoint/2010/main" val="31615460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Prateek Sahay. Planned time: 65 seconds.</a:t>
            </a:r>
          </a:p>
          <a:p>
            <a:endParaRPr lang="en-US"/>
          </a:p>
          <a:p>
            <a:r>
              <a:rPr lang="en-US"/>
              <a:t>Prateek, 13:50-14:55. Explain that procedural code organizes work into operations such as add_expense and summarize. Python's filtering comprehension describes selection compactly but the application still mutates state when adding and deleting; it is not a purely functional program. C++ keeps records inside Tracker and uses member functions to control access, demonstrating encapsulation. In the snippet, std::find_if is a generic algorithm, and the lambda captures the requested ID by value and receives each Expense by const reference. Compare it with Python enumerate and del. Avoid claiming Python cannot use classes or C++ cannot express functional styles: the code illustrates chosen idioms within multi-paradigm languages. Handoff: Venkata will distinguish performance expectations from measured evidence.</a:t>
            </a:r>
          </a:p>
        </p:txBody>
      </p:sp>
      <p:sp>
        <p:nvSpPr>
          <p:cNvPr id="4" name="Slide Number Placeholder 3"/>
          <p:cNvSpPr>
            <a:spLocks noGrp="1"/>
          </p:cNvSpPr>
          <p:nvPr>
            <p:ph type="sldNum" sz="quarter" idx="5"/>
          </p:nvPr>
        </p:nvSpPr>
        <p:spPr/>
        <p:txBody>
          <a:bodyPr/>
          <a:lstStyle/>
          <a:p>
            <a:fld id="{6A5C8D17-8DD8-4F20-A42C-FD4900A8A38D}" type="slidenum">
              <a:rPr lang="en-US" smtClean="0"/>
              <a:t>13</a:t>
            </a:fld>
            <a:endParaRPr lang="en-US"/>
          </a:p>
        </p:txBody>
      </p:sp>
    </p:spTree>
    <p:extLst>
      <p:ext uri="{BB962C8B-B14F-4D97-AF65-F5344CB8AC3E}">
        <p14:creationId xmlns:p14="http://schemas.microsoft.com/office/powerpoint/2010/main" val="27299560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Venkata Sai Makani. Planned time: 55 seconds.</a:t>
            </a:r>
          </a:p>
          <a:p>
            <a:endParaRPr lang="en-US"/>
          </a:p>
          <a:p>
            <a:r>
              <a:rPr lang="en-US"/>
              <a:t>Venkata, 14:55-15:50. Make the evidence boundary explicit: pass counts and warning-free compilation are observed; faster execution and smaller memory use were not measured in a controlled benchmark. Explain source-derived costs: both load all n rows and scan them for queries, and both rewrite n rows after a mutation. Python dictionary grouping is normally expected constant-time per update and sorts the k category keys for output; C++ map updates are logarithmic in k and iteration is sorted. Python dictionaries and interpreter-managed objects can add overhead, while C++ value copies in selection also have a cost. File I/O can dominate small datasets. Describe a fair future benchmark: identical generated datasets, commands, storage, optimized builds, repeated runs, and separate elapsed-time and peak-memory measurements. Handoff: both members will explain the verification evidence.</a:t>
            </a:r>
          </a:p>
        </p:txBody>
      </p:sp>
      <p:sp>
        <p:nvSpPr>
          <p:cNvPr id="4" name="Slide Number Placeholder 3"/>
          <p:cNvSpPr>
            <a:spLocks noGrp="1"/>
          </p:cNvSpPr>
          <p:nvPr>
            <p:ph type="sldNum" sz="quarter" idx="5"/>
          </p:nvPr>
        </p:nvSpPr>
        <p:spPr/>
        <p:txBody>
          <a:bodyPr/>
          <a:lstStyle/>
          <a:p>
            <a:fld id="{6A5C8D17-8DD8-4F20-A42C-FD4900A8A38D}" type="slidenum">
              <a:rPr lang="en-US" smtClean="0"/>
              <a:t>14</a:t>
            </a:fld>
            <a:endParaRPr lang="en-US"/>
          </a:p>
        </p:txBody>
      </p:sp>
    </p:spTree>
    <p:extLst>
      <p:ext uri="{BB962C8B-B14F-4D97-AF65-F5344CB8AC3E}">
        <p14:creationId xmlns:p14="http://schemas.microsoft.com/office/powerpoint/2010/main" val="28227291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Prateek Sahay / Venkata Sai Makani. Planned time: 55 seconds.</a:t>
            </a:r>
          </a:p>
          <a:p>
            <a:endParaRPr lang="en-US"/>
          </a:p>
          <a:p>
            <a:r>
              <a:rPr lang="en-US"/>
              <a:t>Both members, 15:50-16:45: Prateek speaks for 35 seconds, Venkata for 20 seconds. Prateek: show docs/evidence and tests/test_tracker.py, distinguishing 25 independent tests for each language from five interoperability tests. Explain that tests spawn real CLI processes, read persisted CSV, compare functional outputs, and confirm no rewrite on invalid data. Mention exact $0.10/$0.20 totals, years 0001 and 9999, ID exhaustion, and the 100,000-row limit. Venkata: show python/test_tracker.py's seven focused tests and its mocked os.replace failure, which checks both original preservation and temporary-file cleanup. Point to the test commands in README.md. Explain that an absent C++ binary causes an explicit skip; a Python-only pass does not establish parity. These counts describe local verification and do not claim remote CI has already completed. Handoff: both will identify limitations and lessons.</a:t>
            </a:r>
          </a:p>
        </p:txBody>
      </p:sp>
      <p:sp>
        <p:nvSpPr>
          <p:cNvPr id="4" name="Slide Number Placeholder 3"/>
          <p:cNvSpPr>
            <a:spLocks noGrp="1"/>
          </p:cNvSpPr>
          <p:nvPr>
            <p:ph type="sldNum" sz="quarter" idx="5"/>
          </p:nvPr>
        </p:nvSpPr>
        <p:spPr/>
        <p:txBody>
          <a:bodyPr/>
          <a:lstStyle/>
          <a:p>
            <a:fld id="{6A5C8D17-8DD8-4F20-A42C-FD4900A8A38D}" type="slidenum">
              <a:rPr lang="en-US" smtClean="0"/>
              <a:t>15</a:t>
            </a:fld>
            <a:endParaRPr lang="en-US"/>
          </a:p>
        </p:txBody>
      </p:sp>
    </p:spTree>
    <p:extLst>
      <p:ext uri="{BB962C8B-B14F-4D97-AF65-F5344CB8AC3E}">
        <p14:creationId xmlns:p14="http://schemas.microsoft.com/office/powerpoint/2010/main" val="33976823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Prateek Sahay / Venkata Sai Makani. Planned time: 45 seconds.</a:t>
            </a:r>
          </a:p>
          <a:p>
            <a:endParaRPr lang="en-US"/>
          </a:p>
          <a:p>
            <a:r>
              <a:rPr lang="en-US"/>
              <a:t>Both members, 16:45-17:30: Prateek speaks for 20 seconds, Venkata for 25 seconds. Prateek: explain that the deliberate single-user scope keeps behavior deterministic; concurrency was considered as a course topic but adds no benefit to this CLI without proper writer coordination. Python offered compact standard-library tools for dates, CSV, and argument parsing. Venkata: explain that C++ required explicit calendar and CSV checks but made ownership and field types visible. A future multi-user version would need storage locking or a transactional database, and Unicode support would require a revised shared validation/search contract. The practical lesson is to define observable behavior first, then choose language idioms and verify their equivalence. Handoff: close together and invite questions.</a:t>
            </a:r>
          </a:p>
        </p:txBody>
      </p:sp>
      <p:sp>
        <p:nvSpPr>
          <p:cNvPr id="4" name="Slide Number Placeholder 3"/>
          <p:cNvSpPr>
            <a:spLocks noGrp="1"/>
          </p:cNvSpPr>
          <p:nvPr>
            <p:ph type="sldNum" sz="quarter" idx="5"/>
          </p:nvPr>
        </p:nvSpPr>
        <p:spPr/>
        <p:txBody>
          <a:bodyPr/>
          <a:lstStyle/>
          <a:p>
            <a:fld id="{6A5C8D17-8DD8-4F20-A42C-FD4900A8A38D}" type="slidenum">
              <a:rPr lang="en-US" smtClean="0"/>
              <a:t>16</a:t>
            </a:fld>
            <a:endParaRPr lang="en-US"/>
          </a:p>
        </p:txBody>
      </p:sp>
    </p:spTree>
    <p:extLst>
      <p:ext uri="{BB962C8B-B14F-4D97-AF65-F5344CB8AC3E}">
        <p14:creationId xmlns:p14="http://schemas.microsoft.com/office/powerpoint/2010/main" val="5794526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Prateek Sahay / Venkata Sai Makani. Planned time: 30 seconds.</a:t>
            </a:r>
          </a:p>
          <a:p>
            <a:endParaRPr lang="en-US"/>
          </a:p>
          <a:p>
            <a:r>
              <a:rPr lang="en-US"/>
              <a:t>Both members, 17:30-18:00: Prateek speaks for 15 seconds, Venkata for 15 seconds. Prateek: close with equivalent observable behavior and Python's concise dictionaries/functions. Venkata: close with C++'s typed records, encapsulation, and RAII, then invite questions. Display the real repository URL once publishing is complete. For a question about validation or filtering, Prateek opens python/tracker.py and Venkata shows the matching C++ function; for ownership or compilation, reverse the explanation so both participate. Keep the prepared explanation to 18 minutes. If questions are allowed within the assignment time, use up to two additional minutes, staying within 20 minutes overall. Retain the genuine screenshots if a live demo cannot run.</a:t>
            </a:r>
          </a:p>
        </p:txBody>
      </p:sp>
      <p:sp>
        <p:nvSpPr>
          <p:cNvPr id="4" name="Slide Number Placeholder 3"/>
          <p:cNvSpPr>
            <a:spLocks noGrp="1"/>
          </p:cNvSpPr>
          <p:nvPr>
            <p:ph type="sldNum" sz="quarter" idx="5"/>
          </p:nvPr>
        </p:nvSpPr>
        <p:spPr/>
        <p:txBody>
          <a:bodyPr/>
          <a:lstStyle/>
          <a:p>
            <a:fld id="{6A5C8D17-8DD8-4F20-A42C-FD4900A8A38D}" type="slidenum">
              <a:rPr lang="en-US" smtClean="0"/>
              <a:t>17</a:t>
            </a:fld>
            <a:endParaRPr lang="en-US"/>
          </a:p>
        </p:txBody>
      </p:sp>
    </p:spTree>
    <p:extLst>
      <p:ext uri="{BB962C8B-B14F-4D97-AF65-F5344CB8AC3E}">
        <p14:creationId xmlns:p14="http://schemas.microsoft.com/office/powerpoint/2010/main" val="9183485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752E5-1C24-B496-56B7-9566688E1F0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2D5B8B0-DE5F-E825-E4C6-0F0977F462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425B9A0-1210-94D6-EAEA-9B26CBE8741A}"/>
              </a:ext>
            </a:extLst>
          </p:cNvPr>
          <p:cNvSpPr>
            <a:spLocks noGrp="1"/>
          </p:cNvSpPr>
          <p:nvPr>
            <p:ph type="dt" sz="half" idx="10"/>
          </p:nvPr>
        </p:nvSpPr>
        <p:spPr/>
        <p:txBody>
          <a:bodyPr/>
          <a:lstStyle/>
          <a:p>
            <a:fld id="{D45E28BB-8745-4DF3-B4DD-93E15A3EF99F}" type="datetimeFigureOut">
              <a:rPr lang="en-US" smtClean="0"/>
              <a:t>10/2/2026</a:t>
            </a:fld>
            <a:endParaRPr lang="en-US"/>
          </a:p>
        </p:txBody>
      </p:sp>
      <p:sp>
        <p:nvSpPr>
          <p:cNvPr id="5" name="Footer Placeholder 4">
            <a:extLst>
              <a:ext uri="{FF2B5EF4-FFF2-40B4-BE49-F238E27FC236}">
                <a16:creationId xmlns:a16="http://schemas.microsoft.com/office/drawing/2014/main" id="{87927184-0493-36BC-277D-C6BF688AA6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7399E0E-5FA2-AD92-353C-7A6E21AA4C25}"/>
              </a:ext>
            </a:extLst>
          </p:cNvPr>
          <p:cNvSpPr>
            <a:spLocks noGrp="1"/>
          </p:cNvSpPr>
          <p:nvPr>
            <p:ph type="sldNum" sz="quarter" idx="12"/>
          </p:nvPr>
        </p:nvSpPr>
        <p:spPr/>
        <p:txBody>
          <a:bodyPr/>
          <a:lstStyle/>
          <a:p>
            <a:fld id="{5BA75D0E-F7A1-49BF-A6C1-205A33113E83}" type="slidenum">
              <a:rPr lang="en-US" smtClean="0"/>
              <a:t>‹#›</a:t>
            </a:fld>
            <a:endParaRPr lang="en-US"/>
          </a:p>
        </p:txBody>
      </p:sp>
    </p:spTree>
    <p:extLst>
      <p:ext uri="{BB962C8B-B14F-4D97-AF65-F5344CB8AC3E}">
        <p14:creationId xmlns:p14="http://schemas.microsoft.com/office/powerpoint/2010/main" val="35874265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CEE61-B41A-26DC-8610-BC15845650A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A7E84A6-E84D-6B7C-B172-753C972DD3B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5E2D2B-93EC-4C1E-7B93-BBC8804169EF}"/>
              </a:ext>
            </a:extLst>
          </p:cNvPr>
          <p:cNvSpPr>
            <a:spLocks noGrp="1"/>
          </p:cNvSpPr>
          <p:nvPr>
            <p:ph type="dt" sz="half" idx="10"/>
          </p:nvPr>
        </p:nvSpPr>
        <p:spPr/>
        <p:txBody>
          <a:bodyPr/>
          <a:lstStyle/>
          <a:p>
            <a:fld id="{D45E28BB-8745-4DF3-B4DD-93E15A3EF99F}" type="datetimeFigureOut">
              <a:rPr lang="en-US" smtClean="0"/>
              <a:t>10/2/2026</a:t>
            </a:fld>
            <a:endParaRPr lang="en-US"/>
          </a:p>
        </p:txBody>
      </p:sp>
      <p:sp>
        <p:nvSpPr>
          <p:cNvPr id="5" name="Footer Placeholder 4">
            <a:extLst>
              <a:ext uri="{FF2B5EF4-FFF2-40B4-BE49-F238E27FC236}">
                <a16:creationId xmlns:a16="http://schemas.microsoft.com/office/drawing/2014/main" id="{48C08887-5418-DE66-1C38-E29B96FAE5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23B97A-3B65-5D86-5FCB-08370EC47F60}"/>
              </a:ext>
            </a:extLst>
          </p:cNvPr>
          <p:cNvSpPr>
            <a:spLocks noGrp="1"/>
          </p:cNvSpPr>
          <p:nvPr>
            <p:ph type="sldNum" sz="quarter" idx="12"/>
          </p:nvPr>
        </p:nvSpPr>
        <p:spPr/>
        <p:txBody>
          <a:bodyPr/>
          <a:lstStyle/>
          <a:p>
            <a:fld id="{5BA75D0E-F7A1-49BF-A6C1-205A33113E83}" type="slidenum">
              <a:rPr lang="en-US" smtClean="0"/>
              <a:t>‹#›</a:t>
            </a:fld>
            <a:endParaRPr lang="en-US"/>
          </a:p>
        </p:txBody>
      </p:sp>
    </p:spTree>
    <p:extLst>
      <p:ext uri="{BB962C8B-B14F-4D97-AF65-F5344CB8AC3E}">
        <p14:creationId xmlns:p14="http://schemas.microsoft.com/office/powerpoint/2010/main" val="1610370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5DA7C-C6D1-8717-D1B1-E37ABC6C0E0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9AFEA9E-6D67-365B-48C7-37BB926983B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996669F-4E29-B9B6-3A94-7EF721410CFF}"/>
              </a:ext>
            </a:extLst>
          </p:cNvPr>
          <p:cNvSpPr>
            <a:spLocks noGrp="1"/>
          </p:cNvSpPr>
          <p:nvPr>
            <p:ph type="dt" sz="half" idx="10"/>
          </p:nvPr>
        </p:nvSpPr>
        <p:spPr/>
        <p:txBody>
          <a:bodyPr/>
          <a:lstStyle/>
          <a:p>
            <a:fld id="{D45E28BB-8745-4DF3-B4DD-93E15A3EF99F}" type="datetimeFigureOut">
              <a:rPr lang="en-US" smtClean="0"/>
              <a:t>10/2/2026</a:t>
            </a:fld>
            <a:endParaRPr lang="en-US"/>
          </a:p>
        </p:txBody>
      </p:sp>
      <p:sp>
        <p:nvSpPr>
          <p:cNvPr id="5" name="Footer Placeholder 4">
            <a:extLst>
              <a:ext uri="{FF2B5EF4-FFF2-40B4-BE49-F238E27FC236}">
                <a16:creationId xmlns:a16="http://schemas.microsoft.com/office/drawing/2014/main" id="{8F47D437-E83F-9D1C-6A9B-48FBDAAF87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91F290-97C1-F309-6203-FE2334DB395F}"/>
              </a:ext>
            </a:extLst>
          </p:cNvPr>
          <p:cNvSpPr>
            <a:spLocks noGrp="1"/>
          </p:cNvSpPr>
          <p:nvPr>
            <p:ph type="sldNum" sz="quarter" idx="12"/>
          </p:nvPr>
        </p:nvSpPr>
        <p:spPr/>
        <p:txBody>
          <a:bodyPr/>
          <a:lstStyle/>
          <a:p>
            <a:fld id="{5BA75D0E-F7A1-49BF-A6C1-205A33113E83}" type="slidenum">
              <a:rPr lang="en-US" smtClean="0"/>
              <a:t>‹#›</a:t>
            </a:fld>
            <a:endParaRPr lang="en-US"/>
          </a:p>
        </p:txBody>
      </p:sp>
    </p:spTree>
    <p:extLst>
      <p:ext uri="{BB962C8B-B14F-4D97-AF65-F5344CB8AC3E}">
        <p14:creationId xmlns:p14="http://schemas.microsoft.com/office/powerpoint/2010/main" val="29586126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2CBD7-97EC-5A40-6B1D-EF58C8EB375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211445-D78E-A723-4D92-D040153D4F6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D0E6843-45C3-3BC3-5EE4-8BB1788902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94011CC-0B02-EE14-7B73-39B5A7363071}"/>
              </a:ext>
            </a:extLst>
          </p:cNvPr>
          <p:cNvSpPr>
            <a:spLocks noGrp="1"/>
          </p:cNvSpPr>
          <p:nvPr>
            <p:ph type="dt" sz="half" idx="10"/>
          </p:nvPr>
        </p:nvSpPr>
        <p:spPr/>
        <p:txBody>
          <a:bodyPr/>
          <a:lstStyle/>
          <a:p>
            <a:fld id="{D45E28BB-8745-4DF3-B4DD-93E15A3EF99F}" type="datetimeFigureOut">
              <a:rPr lang="en-US" smtClean="0"/>
              <a:t>10/2/2026</a:t>
            </a:fld>
            <a:endParaRPr lang="en-US"/>
          </a:p>
        </p:txBody>
      </p:sp>
      <p:sp>
        <p:nvSpPr>
          <p:cNvPr id="6" name="Footer Placeholder 5">
            <a:extLst>
              <a:ext uri="{FF2B5EF4-FFF2-40B4-BE49-F238E27FC236}">
                <a16:creationId xmlns:a16="http://schemas.microsoft.com/office/drawing/2014/main" id="{98F3C316-1629-BD93-CD55-3EFC1444CB3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E33A0A-64CB-81B1-15C1-BC705B06A2C1}"/>
              </a:ext>
            </a:extLst>
          </p:cNvPr>
          <p:cNvSpPr>
            <a:spLocks noGrp="1"/>
          </p:cNvSpPr>
          <p:nvPr>
            <p:ph type="sldNum" sz="quarter" idx="12"/>
          </p:nvPr>
        </p:nvSpPr>
        <p:spPr/>
        <p:txBody>
          <a:bodyPr/>
          <a:lstStyle/>
          <a:p>
            <a:fld id="{5BA75D0E-F7A1-49BF-A6C1-205A33113E83}" type="slidenum">
              <a:rPr lang="en-US" smtClean="0"/>
              <a:t>‹#›</a:t>
            </a:fld>
            <a:endParaRPr lang="en-US"/>
          </a:p>
        </p:txBody>
      </p:sp>
    </p:spTree>
    <p:extLst>
      <p:ext uri="{BB962C8B-B14F-4D97-AF65-F5344CB8AC3E}">
        <p14:creationId xmlns:p14="http://schemas.microsoft.com/office/powerpoint/2010/main" val="11956931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06FC3-1845-BCDE-D523-7D129E2DBDF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E32D85-E509-0754-5FC2-5109BA98CFE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A673B84-197C-DCEF-6BB0-7CC52270B71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399D4E1-1075-DC0D-1637-9CE2CFF19E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122DBC5-30D8-F2FC-C545-FC7AB917C5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1386E6A-BC11-2447-BDE2-9DF3CD38AF16}"/>
              </a:ext>
            </a:extLst>
          </p:cNvPr>
          <p:cNvSpPr>
            <a:spLocks noGrp="1"/>
          </p:cNvSpPr>
          <p:nvPr>
            <p:ph type="dt" sz="half" idx="10"/>
          </p:nvPr>
        </p:nvSpPr>
        <p:spPr/>
        <p:txBody>
          <a:bodyPr/>
          <a:lstStyle/>
          <a:p>
            <a:fld id="{D45E28BB-8745-4DF3-B4DD-93E15A3EF99F}" type="datetimeFigureOut">
              <a:rPr lang="en-US" smtClean="0"/>
              <a:t>10/2/2026</a:t>
            </a:fld>
            <a:endParaRPr lang="en-US"/>
          </a:p>
        </p:txBody>
      </p:sp>
      <p:sp>
        <p:nvSpPr>
          <p:cNvPr id="8" name="Footer Placeholder 7">
            <a:extLst>
              <a:ext uri="{FF2B5EF4-FFF2-40B4-BE49-F238E27FC236}">
                <a16:creationId xmlns:a16="http://schemas.microsoft.com/office/drawing/2014/main" id="{788B9FDB-D4A0-A7D8-66BC-149896E9F37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D768D75-0059-6780-B541-530A6750812C}"/>
              </a:ext>
            </a:extLst>
          </p:cNvPr>
          <p:cNvSpPr>
            <a:spLocks noGrp="1"/>
          </p:cNvSpPr>
          <p:nvPr>
            <p:ph type="sldNum" sz="quarter" idx="12"/>
          </p:nvPr>
        </p:nvSpPr>
        <p:spPr/>
        <p:txBody>
          <a:bodyPr/>
          <a:lstStyle/>
          <a:p>
            <a:fld id="{5BA75D0E-F7A1-49BF-A6C1-205A33113E83}" type="slidenum">
              <a:rPr lang="en-US" smtClean="0"/>
              <a:t>‹#›</a:t>
            </a:fld>
            <a:endParaRPr lang="en-US"/>
          </a:p>
        </p:txBody>
      </p:sp>
    </p:spTree>
    <p:extLst>
      <p:ext uri="{BB962C8B-B14F-4D97-AF65-F5344CB8AC3E}">
        <p14:creationId xmlns:p14="http://schemas.microsoft.com/office/powerpoint/2010/main" val="790188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CDE3A-CA72-8C4D-FF8D-FB50B4C313A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8658D8-60DA-2C52-7754-647A7C713EF6}"/>
              </a:ext>
            </a:extLst>
          </p:cNvPr>
          <p:cNvSpPr>
            <a:spLocks noGrp="1"/>
          </p:cNvSpPr>
          <p:nvPr>
            <p:ph type="dt" sz="half" idx="10"/>
          </p:nvPr>
        </p:nvSpPr>
        <p:spPr/>
        <p:txBody>
          <a:bodyPr/>
          <a:lstStyle/>
          <a:p>
            <a:fld id="{D45E28BB-8745-4DF3-B4DD-93E15A3EF99F}" type="datetimeFigureOut">
              <a:rPr lang="en-US" smtClean="0"/>
              <a:t>10/2/2026</a:t>
            </a:fld>
            <a:endParaRPr lang="en-US"/>
          </a:p>
        </p:txBody>
      </p:sp>
      <p:sp>
        <p:nvSpPr>
          <p:cNvPr id="4" name="Footer Placeholder 3">
            <a:extLst>
              <a:ext uri="{FF2B5EF4-FFF2-40B4-BE49-F238E27FC236}">
                <a16:creationId xmlns:a16="http://schemas.microsoft.com/office/drawing/2014/main" id="{740E9F9F-2CEC-7C19-340E-81DAFFE797F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04BFFA-F81A-909F-6E4D-EF36153DD47D}"/>
              </a:ext>
            </a:extLst>
          </p:cNvPr>
          <p:cNvSpPr>
            <a:spLocks noGrp="1"/>
          </p:cNvSpPr>
          <p:nvPr>
            <p:ph type="sldNum" sz="quarter" idx="12"/>
          </p:nvPr>
        </p:nvSpPr>
        <p:spPr/>
        <p:txBody>
          <a:bodyPr/>
          <a:lstStyle/>
          <a:p>
            <a:fld id="{5BA75D0E-F7A1-49BF-A6C1-205A33113E83}" type="slidenum">
              <a:rPr lang="en-US" smtClean="0"/>
              <a:t>‹#›</a:t>
            </a:fld>
            <a:endParaRPr lang="en-US"/>
          </a:p>
        </p:txBody>
      </p:sp>
    </p:spTree>
    <p:extLst>
      <p:ext uri="{BB962C8B-B14F-4D97-AF65-F5344CB8AC3E}">
        <p14:creationId xmlns:p14="http://schemas.microsoft.com/office/powerpoint/2010/main" val="15562053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8AF83A8-9DCE-6A14-21D6-036A382293B7}"/>
              </a:ext>
            </a:extLst>
          </p:cNvPr>
          <p:cNvSpPr>
            <a:spLocks noGrp="1"/>
          </p:cNvSpPr>
          <p:nvPr>
            <p:ph type="dt" sz="half" idx="10"/>
          </p:nvPr>
        </p:nvSpPr>
        <p:spPr/>
        <p:txBody>
          <a:bodyPr/>
          <a:lstStyle/>
          <a:p>
            <a:fld id="{D45E28BB-8745-4DF3-B4DD-93E15A3EF99F}" type="datetimeFigureOut">
              <a:rPr lang="en-US" smtClean="0"/>
              <a:t>10/2/2026</a:t>
            </a:fld>
            <a:endParaRPr lang="en-US"/>
          </a:p>
        </p:txBody>
      </p:sp>
      <p:sp>
        <p:nvSpPr>
          <p:cNvPr id="3" name="Footer Placeholder 2">
            <a:extLst>
              <a:ext uri="{FF2B5EF4-FFF2-40B4-BE49-F238E27FC236}">
                <a16:creationId xmlns:a16="http://schemas.microsoft.com/office/drawing/2014/main" id="{C2A1311C-52DF-CC11-1A83-3F4D270549B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A654E98-1DA9-2CA0-AD44-D1DBEB6DE51F}"/>
              </a:ext>
            </a:extLst>
          </p:cNvPr>
          <p:cNvSpPr>
            <a:spLocks noGrp="1"/>
          </p:cNvSpPr>
          <p:nvPr>
            <p:ph type="sldNum" sz="quarter" idx="12"/>
          </p:nvPr>
        </p:nvSpPr>
        <p:spPr/>
        <p:txBody>
          <a:bodyPr/>
          <a:lstStyle/>
          <a:p>
            <a:fld id="{5BA75D0E-F7A1-49BF-A6C1-205A33113E83}" type="slidenum">
              <a:rPr lang="en-US" smtClean="0"/>
              <a:t>‹#›</a:t>
            </a:fld>
            <a:endParaRPr lang="en-US"/>
          </a:p>
        </p:txBody>
      </p:sp>
    </p:spTree>
    <p:extLst>
      <p:ext uri="{BB962C8B-B14F-4D97-AF65-F5344CB8AC3E}">
        <p14:creationId xmlns:p14="http://schemas.microsoft.com/office/powerpoint/2010/main" val="5020457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1D6670-82D5-E225-179F-EF43D652789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32E4D1D-7B1B-28BC-A4A2-20B6998F04B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AED2A9B-CF6A-DC14-5162-704AE3AE680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91DE785-0D80-8DD8-C5FC-2305D93FBDCD}"/>
              </a:ext>
            </a:extLst>
          </p:cNvPr>
          <p:cNvSpPr>
            <a:spLocks noGrp="1"/>
          </p:cNvSpPr>
          <p:nvPr>
            <p:ph type="dt" sz="half" idx="10"/>
          </p:nvPr>
        </p:nvSpPr>
        <p:spPr/>
        <p:txBody>
          <a:bodyPr/>
          <a:lstStyle/>
          <a:p>
            <a:fld id="{D45E28BB-8745-4DF3-B4DD-93E15A3EF99F}" type="datetimeFigureOut">
              <a:rPr lang="en-US" smtClean="0"/>
              <a:t>10/2/2026</a:t>
            </a:fld>
            <a:endParaRPr lang="en-US"/>
          </a:p>
        </p:txBody>
      </p:sp>
      <p:sp>
        <p:nvSpPr>
          <p:cNvPr id="6" name="Footer Placeholder 5">
            <a:extLst>
              <a:ext uri="{FF2B5EF4-FFF2-40B4-BE49-F238E27FC236}">
                <a16:creationId xmlns:a16="http://schemas.microsoft.com/office/drawing/2014/main" id="{4FB7457A-62BF-5CC2-5EA1-B77C21424D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72BB075-6616-ABCC-EAED-1DB7E6A0C0A8}"/>
              </a:ext>
            </a:extLst>
          </p:cNvPr>
          <p:cNvSpPr>
            <a:spLocks noGrp="1"/>
          </p:cNvSpPr>
          <p:nvPr>
            <p:ph type="sldNum" sz="quarter" idx="12"/>
          </p:nvPr>
        </p:nvSpPr>
        <p:spPr/>
        <p:txBody>
          <a:bodyPr/>
          <a:lstStyle/>
          <a:p>
            <a:fld id="{5BA75D0E-F7A1-49BF-A6C1-205A33113E83}" type="slidenum">
              <a:rPr lang="en-US" smtClean="0"/>
              <a:t>‹#›</a:t>
            </a:fld>
            <a:endParaRPr lang="en-US"/>
          </a:p>
        </p:txBody>
      </p:sp>
    </p:spTree>
    <p:extLst>
      <p:ext uri="{BB962C8B-B14F-4D97-AF65-F5344CB8AC3E}">
        <p14:creationId xmlns:p14="http://schemas.microsoft.com/office/powerpoint/2010/main" val="9956768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52BDC4-E20C-F78B-2D7A-88643C09CA4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110076A-CB9A-4437-FB50-2DB30E1E4B7E}"/>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FC3EBE3-FAF1-0E76-94B4-C9D39F5049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B717B0-E659-55EE-3FD7-AC04DE71DDC7}"/>
              </a:ext>
            </a:extLst>
          </p:cNvPr>
          <p:cNvSpPr>
            <a:spLocks noGrp="1"/>
          </p:cNvSpPr>
          <p:nvPr>
            <p:ph type="dt" sz="half" idx="10"/>
          </p:nvPr>
        </p:nvSpPr>
        <p:spPr/>
        <p:txBody>
          <a:bodyPr/>
          <a:lstStyle/>
          <a:p>
            <a:fld id="{D45E28BB-8745-4DF3-B4DD-93E15A3EF99F}" type="datetimeFigureOut">
              <a:rPr lang="en-US" smtClean="0"/>
              <a:t>10/2/2026</a:t>
            </a:fld>
            <a:endParaRPr lang="en-US"/>
          </a:p>
        </p:txBody>
      </p:sp>
      <p:sp>
        <p:nvSpPr>
          <p:cNvPr id="6" name="Footer Placeholder 5">
            <a:extLst>
              <a:ext uri="{FF2B5EF4-FFF2-40B4-BE49-F238E27FC236}">
                <a16:creationId xmlns:a16="http://schemas.microsoft.com/office/drawing/2014/main" id="{5D32FB18-F4CA-C009-0695-F35353BB4CC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B06DA2-42E4-E54D-95F4-D9BABA145ECE}"/>
              </a:ext>
            </a:extLst>
          </p:cNvPr>
          <p:cNvSpPr>
            <a:spLocks noGrp="1"/>
          </p:cNvSpPr>
          <p:nvPr>
            <p:ph type="sldNum" sz="quarter" idx="12"/>
          </p:nvPr>
        </p:nvSpPr>
        <p:spPr/>
        <p:txBody>
          <a:bodyPr/>
          <a:lstStyle/>
          <a:p>
            <a:fld id="{5BA75D0E-F7A1-49BF-A6C1-205A33113E83}" type="slidenum">
              <a:rPr lang="en-US" smtClean="0"/>
              <a:t>‹#›</a:t>
            </a:fld>
            <a:endParaRPr lang="en-US"/>
          </a:p>
        </p:txBody>
      </p:sp>
    </p:spTree>
    <p:extLst>
      <p:ext uri="{BB962C8B-B14F-4D97-AF65-F5344CB8AC3E}">
        <p14:creationId xmlns:p14="http://schemas.microsoft.com/office/powerpoint/2010/main" val="7737223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616B5-B60E-BAC6-660D-1442D6DDB3D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CDFB218-A8E6-11CA-02C2-12CEB4CE924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C7F49A7-8107-31F2-8CC7-DF59D4173CC0}"/>
              </a:ext>
            </a:extLst>
          </p:cNvPr>
          <p:cNvSpPr>
            <a:spLocks noGrp="1"/>
          </p:cNvSpPr>
          <p:nvPr>
            <p:ph type="dt" sz="half" idx="10"/>
          </p:nvPr>
        </p:nvSpPr>
        <p:spPr/>
        <p:txBody>
          <a:bodyPr/>
          <a:lstStyle/>
          <a:p>
            <a:fld id="{D45E28BB-8745-4DF3-B4DD-93E15A3EF99F}" type="datetimeFigureOut">
              <a:rPr lang="en-US" smtClean="0"/>
              <a:t>10/2/2026</a:t>
            </a:fld>
            <a:endParaRPr lang="en-US"/>
          </a:p>
        </p:txBody>
      </p:sp>
      <p:sp>
        <p:nvSpPr>
          <p:cNvPr id="5" name="Footer Placeholder 4">
            <a:extLst>
              <a:ext uri="{FF2B5EF4-FFF2-40B4-BE49-F238E27FC236}">
                <a16:creationId xmlns:a16="http://schemas.microsoft.com/office/drawing/2014/main" id="{A3DF0317-6760-FC32-FEF7-3702CAD647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3581BB-B5BE-5A9D-5B22-67D616FE8DCE}"/>
              </a:ext>
            </a:extLst>
          </p:cNvPr>
          <p:cNvSpPr>
            <a:spLocks noGrp="1"/>
          </p:cNvSpPr>
          <p:nvPr>
            <p:ph type="sldNum" sz="quarter" idx="12"/>
          </p:nvPr>
        </p:nvSpPr>
        <p:spPr/>
        <p:txBody>
          <a:bodyPr/>
          <a:lstStyle/>
          <a:p>
            <a:fld id="{5BA75D0E-F7A1-49BF-A6C1-205A33113E83}" type="slidenum">
              <a:rPr lang="en-US" smtClean="0"/>
              <a:t>‹#›</a:t>
            </a:fld>
            <a:endParaRPr lang="en-US"/>
          </a:p>
        </p:txBody>
      </p:sp>
    </p:spTree>
    <p:extLst>
      <p:ext uri="{BB962C8B-B14F-4D97-AF65-F5344CB8AC3E}">
        <p14:creationId xmlns:p14="http://schemas.microsoft.com/office/powerpoint/2010/main" val="33910775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F5CA9AE-46D0-8806-D369-5FE06CBD688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9EF5B70-C058-3D36-D862-91549EC1B8F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4C0FB1-7708-85CE-2C1A-AD84F05A0B3F}"/>
              </a:ext>
            </a:extLst>
          </p:cNvPr>
          <p:cNvSpPr>
            <a:spLocks noGrp="1"/>
          </p:cNvSpPr>
          <p:nvPr>
            <p:ph type="dt" sz="half" idx="10"/>
          </p:nvPr>
        </p:nvSpPr>
        <p:spPr/>
        <p:txBody>
          <a:bodyPr/>
          <a:lstStyle/>
          <a:p>
            <a:fld id="{D45E28BB-8745-4DF3-B4DD-93E15A3EF99F}" type="datetimeFigureOut">
              <a:rPr lang="en-US" smtClean="0"/>
              <a:t>10/2/2026</a:t>
            </a:fld>
            <a:endParaRPr lang="en-US"/>
          </a:p>
        </p:txBody>
      </p:sp>
      <p:sp>
        <p:nvSpPr>
          <p:cNvPr id="5" name="Footer Placeholder 4">
            <a:extLst>
              <a:ext uri="{FF2B5EF4-FFF2-40B4-BE49-F238E27FC236}">
                <a16:creationId xmlns:a16="http://schemas.microsoft.com/office/drawing/2014/main" id="{963DF94D-4246-B86D-2633-2B8BF8C427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1C44B1-2D7A-9B68-836F-14DC84F26EB5}"/>
              </a:ext>
            </a:extLst>
          </p:cNvPr>
          <p:cNvSpPr>
            <a:spLocks noGrp="1"/>
          </p:cNvSpPr>
          <p:nvPr>
            <p:ph type="sldNum" sz="quarter" idx="12"/>
          </p:nvPr>
        </p:nvSpPr>
        <p:spPr/>
        <p:txBody>
          <a:bodyPr/>
          <a:lstStyle/>
          <a:p>
            <a:fld id="{5BA75D0E-F7A1-49BF-A6C1-205A33113E83}" type="slidenum">
              <a:rPr lang="en-US" smtClean="0"/>
              <a:t>‹#›</a:t>
            </a:fld>
            <a:endParaRPr lang="en-US"/>
          </a:p>
        </p:txBody>
      </p:sp>
    </p:spTree>
    <p:extLst>
      <p:ext uri="{BB962C8B-B14F-4D97-AF65-F5344CB8AC3E}">
        <p14:creationId xmlns:p14="http://schemas.microsoft.com/office/powerpoint/2010/main" val="25736214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58917E6-3279-012E-C791-3CA0F9AD82D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0598ABC-4BDA-8DEE-31A8-08473C7EFF7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932264-D330-E57B-671A-E5D44638144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45E28BB-8745-4DF3-B4DD-93E15A3EF99F}" type="datetimeFigureOut">
              <a:rPr lang="en-US" smtClean="0"/>
              <a:t>10/2/2026</a:t>
            </a:fld>
            <a:endParaRPr lang="en-US"/>
          </a:p>
        </p:txBody>
      </p:sp>
      <p:sp>
        <p:nvSpPr>
          <p:cNvPr id="5" name="Footer Placeholder 4">
            <a:extLst>
              <a:ext uri="{FF2B5EF4-FFF2-40B4-BE49-F238E27FC236}">
                <a16:creationId xmlns:a16="http://schemas.microsoft.com/office/drawing/2014/main" id="{286CEE9E-DD46-C8C6-66AC-A1DCEE9916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2C29E52-01F2-5A87-7E3B-8F5AD00399E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BA75D0E-F7A1-49BF-A6C1-205A33113E83}" type="slidenum">
              <a:rPr lang="en-US" smtClean="0"/>
              <a:t>‹#›</a:t>
            </a:fld>
            <a:endParaRPr lang="en-US"/>
          </a:p>
        </p:txBody>
      </p:sp>
    </p:spTree>
    <p:extLst>
      <p:ext uri="{BB962C8B-B14F-4D97-AF65-F5344CB8AC3E}">
        <p14:creationId xmlns:p14="http://schemas.microsoft.com/office/powerpoint/2010/main" val="7098387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8615E0F-E932-D0B3-99E2-7799D8320F92}"/>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360A1BD5-834F-6638-E8C9-C9D74A5085C9}"/>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Cross-Language Expense Tracker</a:t>
            </a:r>
          </a:p>
        </p:txBody>
      </p:sp>
      <p:sp>
        <p:nvSpPr>
          <p:cNvPr id="4" name="TextBox 3">
            <a:extLst>
              <a:ext uri="{FF2B5EF4-FFF2-40B4-BE49-F238E27FC236}">
                <a16:creationId xmlns:a16="http://schemas.microsoft.com/office/drawing/2014/main" id="{1175B53C-57D2-775C-ACB0-D8C31CF8B9FA}"/>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Prateek Sahay | 0.5 min</a:t>
            </a:r>
          </a:p>
        </p:txBody>
      </p:sp>
      <p:sp>
        <p:nvSpPr>
          <p:cNvPr id="5" name="TextBox 4">
            <a:extLst>
              <a:ext uri="{FF2B5EF4-FFF2-40B4-BE49-F238E27FC236}">
                <a16:creationId xmlns:a16="http://schemas.microsoft.com/office/drawing/2014/main" id="{27867ED2-6F8C-6B23-505C-64837AC033A7}"/>
              </a:ext>
            </a:extLst>
          </p:cNvPr>
          <p:cNvSpPr txBox="1"/>
          <p:nvPr/>
        </p:nvSpPr>
        <p:spPr>
          <a:xfrm>
            <a:off x="698500" y="1917700"/>
            <a:ext cx="10795000" cy="3462486"/>
          </a:xfrm>
          <a:prstGeom prst="rect">
            <a:avLst/>
          </a:prstGeom>
          <a:noFill/>
        </p:spPr>
        <p:txBody>
          <a:bodyPr vert="horz" wrap="square" lIns="0" tIns="0" rIns="0" bIns="0" rtlCol="0">
            <a:spAutoFit/>
          </a:bodyPr>
          <a:lstStyle/>
          <a:p>
            <a:pPr>
              <a:spcAft>
                <a:spcPts val="1000"/>
              </a:spcAft>
            </a:pPr>
            <a:r>
              <a:rPr lang="en-US" sz="2500">
                <a:solidFill>
                  <a:srgbClr val="15283E"/>
                </a:solidFill>
                <a:latin typeface="Aptos" panose="020B0004020202020204" pitchFamily="34" charset="0"/>
              </a:rPr>
              <a:t>Prateek Sahay and Venkata Sai Makani</a:t>
            </a:r>
          </a:p>
          <a:p>
            <a:pPr>
              <a:spcAft>
                <a:spcPts val="1000"/>
              </a:spcAft>
            </a:pPr>
            <a:endParaRPr lang="en-US" sz="2500">
              <a:solidFill>
                <a:srgbClr val="15283E"/>
              </a:solidFill>
              <a:latin typeface="Aptos" panose="020B0004020202020204" pitchFamily="34" charset="0"/>
            </a:endParaRPr>
          </a:p>
          <a:p>
            <a:pPr>
              <a:spcAft>
                <a:spcPts val="1000"/>
              </a:spcAft>
            </a:pPr>
            <a:r>
              <a:rPr lang="en-US" sz="2500">
                <a:solidFill>
                  <a:srgbClr val="15283E"/>
                </a:solidFill>
                <a:latin typeface="Aptos" panose="020B0004020202020204" pitchFamily="34" charset="0"/>
              </a:rPr>
              <a:t>One application, two independent implementations: Python and C++17</a:t>
            </a:r>
          </a:p>
          <a:p>
            <a:pPr>
              <a:spcAft>
                <a:spcPts val="1000"/>
              </a:spcAft>
            </a:pPr>
            <a:endParaRPr lang="en-US" sz="2500">
              <a:solidFill>
                <a:srgbClr val="15283E"/>
              </a:solidFill>
              <a:latin typeface="Aptos" panose="020B0004020202020204" pitchFamily="34" charset="0"/>
            </a:endParaRPr>
          </a:p>
          <a:p>
            <a:pPr>
              <a:spcAft>
                <a:spcPts val="1000"/>
              </a:spcAft>
            </a:pPr>
            <a:r>
              <a:rPr lang="en-US" sz="2500">
                <a:solidFill>
                  <a:srgbClr val="15283E"/>
                </a:solidFill>
                <a:latin typeface="Aptos" panose="020B0004020202020204" pitchFamily="34" charset="0"/>
              </a:rPr>
              <a:t>Focus: equivalent behavior and meaningful language differences</a:t>
            </a:r>
          </a:p>
          <a:p>
            <a:pPr>
              <a:spcAft>
                <a:spcPts val="1000"/>
              </a:spcAft>
            </a:pPr>
            <a:endParaRPr lang="en-US" sz="2500">
              <a:solidFill>
                <a:srgbClr val="15283E"/>
              </a:solidFill>
              <a:latin typeface="Aptos" panose="020B0004020202020204" pitchFamily="34" charset="0"/>
            </a:endParaRPr>
          </a:p>
          <a:p>
            <a:pPr>
              <a:spcAft>
                <a:spcPts val="1000"/>
              </a:spcAft>
            </a:pPr>
            <a:r>
              <a:rPr lang="en-US" sz="2500">
                <a:solidFill>
                  <a:srgbClr val="15283E"/>
                </a:solidFill>
                <a:latin typeface="Aptos" panose="020B0004020202020204" pitchFamily="34" charset="0"/>
              </a:rPr>
              <a:t>18-minute plan: demonstrations, source examples, verification, and team Q&amp;A</a:t>
            </a:r>
          </a:p>
        </p:txBody>
      </p:sp>
      <p:sp>
        <p:nvSpPr>
          <p:cNvPr id="6" name="TextBox 5">
            <a:extLst>
              <a:ext uri="{FF2B5EF4-FFF2-40B4-BE49-F238E27FC236}">
                <a16:creationId xmlns:a16="http://schemas.microsoft.com/office/drawing/2014/main" id="{92CC6354-6A07-2ADD-2AA1-1C796DCFFE5F}"/>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7" name="TextBox 6">
            <a:extLst>
              <a:ext uri="{FF2B5EF4-FFF2-40B4-BE49-F238E27FC236}">
                <a16:creationId xmlns:a16="http://schemas.microsoft.com/office/drawing/2014/main" id="{6CC6FA84-E9C1-1849-1C6F-9184975681B7}"/>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1 / 17</a:t>
            </a:r>
          </a:p>
        </p:txBody>
      </p:sp>
    </p:spTree>
    <p:extLst>
      <p:ext uri="{BB962C8B-B14F-4D97-AF65-F5344CB8AC3E}">
        <p14:creationId xmlns:p14="http://schemas.microsoft.com/office/powerpoint/2010/main" val="2286424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5349BE7-C5B2-CB33-C4B2-263454B81C20}"/>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EBBF8E2-619E-0FD7-8DBC-D5E62B7684FA}"/>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Shared features and observable behavior</a:t>
            </a:r>
          </a:p>
        </p:txBody>
      </p:sp>
      <p:sp>
        <p:nvSpPr>
          <p:cNvPr id="4" name="TextBox 3">
            <a:extLst>
              <a:ext uri="{FF2B5EF4-FFF2-40B4-BE49-F238E27FC236}">
                <a16:creationId xmlns:a16="http://schemas.microsoft.com/office/drawing/2014/main" id="{31D1B7A1-7277-954E-1AC3-156743659679}"/>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fi-FI" sz="1200">
                <a:solidFill>
                  <a:srgbClr val="515E6C"/>
                </a:solidFill>
                <a:latin typeface="Aptos" panose="020B0004020202020204" pitchFamily="34" charset="0"/>
              </a:rPr>
              <a:t>Venkata Sai Makani | 0.83 min</a:t>
            </a:r>
            <a:endParaRPr lang="en-US" sz="1200">
              <a:solidFill>
                <a:srgbClr val="515E6C"/>
              </a:solidFill>
              <a:latin typeface="Aptos" panose="020B0004020202020204" pitchFamily="34" charset="0"/>
            </a:endParaRPr>
          </a:p>
        </p:txBody>
      </p:sp>
      <p:sp>
        <p:nvSpPr>
          <p:cNvPr id="5" name="TextBox 4">
            <a:extLst>
              <a:ext uri="{FF2B5EF4-FFF2-40B4-BE49-F238E27FC236}">
                <a16:creationId xmlns:a16="http://schemas.microsoft.com/office/drawing/2014/main" id="{85FA73D2-CA07-FFB4-F0EB-4AFE1C83DD98}"/>
              </a:ext>
            </a:extLst>
          </p:cNvPr>
          <p:cNvSpPr txBox="1"/>
          <p:nvPr/>
        </p:nvSpPr>
        <p:spPr>
          <a:xfrm>
            <a:off x="698500" y="1917700"/>
            <a:ext cx="10795000" cy="4280659"/>
          </a:xfrm>
          <a:prstGeom prst="rect">
            <a:avLst/>
          </a:prstGeom>
          <a:noFill/>
        </p:spPr>
        <p:txBody>
          <a:bodyPr vert="horz" wrap="square" lIns="0" tIns="0" rIns="0" bIns="0" rtlCol="0">
            <a:spAutoFit/>
          </a:bodyPr>
          <a:lstStyle/>
          <a:p>
            <a:pPr>
              <a:spcAft>
                <a:spcPts val="1000"/>
              </a:spcAft>
            </a:pPr>
            <a:r>
              <a:rPr lang="en-US" sz="2250">
                <a:solidFill>
                  <a:srgbClr val="15283E"/>
                </a:solidFill>
                <a:latin typeface="Aptos" panose="020B0004020202020204" pitchFamily="34" charset="0"/>
              </a:rPr>
              <a:t>Add expenses with a date, amount, category, description, and generated ID</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List and filter by inclusive dates and an exact category</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Search category or description without ASCII case sensitivity</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Calculate category totals and an overall total; delete by ID</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Persist records and reject invalid input without rewriting valid data</a:t>
            </a:r>
          </a:p>
        </p:txBody>
      </p:sp>
      <p:sp>
        <p:nvSpPr>
          <p:cNvPr id="6" name="TextBox 5">
            <a:extLst>
              <a:ext uri="{FF2B5EF4-FFF2-40B4-BE49-F238E27FC236}">
                <a16:creationId xmlns:a16="http://schemas.microsoft.com/office/drawing/2014/main" id="{C262DF52-B5F9-279D-6351-40FC96676C89}"/>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7" name="TextBox 6">
            <a:extLst>
              <a:ext uri="{FF2B5EF4-FFF2-40B4-BE49-F238E27FC236}">
                <a16:creationId xmlns:a16="http://schemas.microsoft.com/office/drawing/2014/main" id="{5F75E49E-7AC2-C906-8A2F-BA2A07CA2E56}"/>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2 / 17</a:t>
            </a:r>
          </a:p>
        </p:txBody>
      </p:sp>
    </p:spTree>
    <p:extLst>
      <p:ext uri="{BB962C8B-B14F-4D97-AF65-F5344CB8AC3E}">
        <p14:creationId xmlns:p14="http://schemas.microsoft.com/office/powerpoint/2010/main" val="30043267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F090B46-BFED-0863-ABBD-76F0F31C4D1B}"/>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07F516AF-AA83-F194-28A9-0C310AA8011E}"/>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Architecture: separate interfaces, common contract</a:t>
            </a:r>
          </a:p>
        </p:txBody>
      </p:sp>
      <p:sp>
        <p:nvSpPr>
          <p:cNvPr id="4" name="TextBox 3">
            <a:extLst>
              <a:ext uri="{FF2B5EF4-FFF2-40B4-BE49-F238E27FC236}">
                <a16:creationId xmlns:a16="http://schemas.microsoft.com/office/drawing/2014/main" id="{B3F93386-2862-AEBA-277E-3665CE9C9613}"/>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Prateek Sahay | 0.92 min</a:t>
            </a:r>
          </a:p>
        </p:txBody>
      </p:sp>
      <p:sp>
        <p:nvSpPr>
          <p:cNvPr id="5" name="TextBox 4">
            <a:extLst>
              <a:ext uri="{FF2B5EF4-FFF2-40B4-BE49-F238E27FC236}">
                <a16:creationId xmlns:a16="http://schemas.microsoft.com/office/drawing/2014/main" id="{19794F6C-F773-D444-E866-FD8A53687326}"/>
              </a:ext>
            </a:extLst>
          </p:cNvPr>
          <p:cNvSpPr txBox="1"/>
          <p:nvPr/>
        </p:nvSpPr>
        <p:spPr>
          <a:xfrm>
            <a:off x="698500" y="1917700"/>
            <a:ext cx="10795000" cy="4280659"/>
          </a:xfrm>
          <a:prstGeom prst="rect">
            <a:avLst/>
          </a:prstGeom>
          <a:noFill/>
        </p:spPr>
        <p:txBody>
          <a:bodyPr vert="horz" wrap="square" lIns="0" tIns="0" rIns="0" bIns="0" rtlCol="0">
            <a:spAutoFit/>
          </a:bodyPr>
          <a:lstStyle/>
          <a:p>
            <a:pPr>
              <a:spcAft>
                <a:spcPts val="1000"/>
              </a:spcAft>
            </a:pPr>
            <a:r>
              <a:rPr lang="en-US" sz="2250">
                <a:solidFill>
                  <a:srgbClr val="15283E"/>
                </a:solidFill>
                <a:latin typeface="Aptos" panose="020B0004020202020204" pitchFamily="34" charset="0"/>
              </a:rPr>
              <a:t>Command line -&gt; parse options -&gt; validate and load CSV -&gt; core operation</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Queries -&gt; deterministic output; mutations -&gt; temporary write -&gt; replacement</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Python: main.py interface; tracker.py core functions and dictionary records</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C++: main.cpp interface; tracker.hpp declarations; tracker.cpp Tracker class</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One behavioral suite exercises both programs and checks interoperability</a:t>
            </a:r>
          </a:p>
        </p:txBody>
      </p:sp>
      <p:sp>
        <p:nvSpPr>
          <p:cNvPr id="6" name="TextBox 5">
            <a:extLst>
              <a:ext uri="{FF2B5EF4-FFF2-40B4-BE49-F238E27FC236}">
                <a16:creationId xmlns:a16="http://schemas.microsoft.com/office/drawing/2014/main" id="{274BA203-6E9B-0580-236D-ECC0605CAD94}"/>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7" name="TextBox 6">
            <a:extLst>
              <a:ext uri="{FF2B5EF4-FFF2-40B4-BE49-F238E27FC236}">
                <a16:creationId xmlns:a16="http://schemas.microsoft.com/office/drawing/2014/main" id="{E83B5AAF-66A1-205D-3FF3-7189CFAEFDA4}"/>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3 / 17</a:t>
            </a:r>
          </a:p>
        </p:txBody>
      </p:sp>
    </p:spTree>
    <p:extLst>
      <p:ext uri="{BB962C8B-B14F-4D97-AF65-F5344CB8AC3E}">
        <p14:creationId xmlns:p14="http://schemas.microsoft.com/office/powerpoint/2010/main" val="36882522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EBD8464-07D5-2133-B4F0-1D47A9060753}"/>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9125014-53CF-F054-E34B-8F8C17EB6368}"/>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CSV and exact currency are the shared contract</a:t>
            </a:r>
          </a:p>
        </p:txBody>
      </p:sp>
      <p:sp>
        <p:nvSpPr>
          <p:cNvPr id="4" name="TextBox 3">
            <a:extLst>
              <a:ext uri="{FF2B5EF4-FFF2-40B4-BE49-F238E27FC236}">
                <a16:creationId xmlns:a16="http://schemas.microsoft.com/office/drawing/2014/main" id="{34CD9335-338B-04A2-5347-02B2D6FB9700}"/>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fi-FI" sz="1200">
                <a:solidFill>
                  <a:srgbClr val="515E6C"/>
                </a:solidFill>
                <a:latin typeface="Aptos" panose="020B0004020202020204" pitchFamily="34" charset="0"/>
              </a:rPr>
              <a:t>Venkata Sai Makani | 1.08 min</a:t>
            </a:r>
            <a:endParaRPr lang="en-US" sz="1200">
              <a:solidFill>
                <a:srgbClr val="515E6C"/>
              </a:solidFill>
              <a:latin typeface="Aptos" panose="020B0004020202020204" pitchFamily="34" charset="0"/>
            </a:endParaRPr>
          </a:p>
        </p:txBody>
      </p:sp>
      <p:sp>
        <p:nvSpPr>
          <p:cNvPr id="5" name="TextBox 4">
            <a:extLst>
              <a:ext uri="{FF2B5EF4-FFF2-40B4-BE49-F238E27FC236}">
                <a16:creationId xmlns:a16="http://schemas.microsoft.com/office/drawing/2014/main" id="{7CDEFCE0-3107-26F3-6D52-ACB9FABF900C}"/>
              </a:ext>
            </a:extLst>
          </p:cNvPr>
          <p:cNvSpPr txBox="1"/>
          <p:nvPr/>
        </p:nvSpPr>
        <p:spPr>
          <a:xfrm>
            <a:off x="698500" y="1917700"/>
            <a:ext cx="10795000" cy="4280659"/>
          </a:xfrm>
          <a:prstGeom prst="rect">
            <a:avLst/>
          </a:prstGeom>
          <a:noFill/>
        </p:spPr>
        <p:txBody>
          <a:bodyPr vert="horz" wrap="square" lIns="0" tIns="0" rIns="0" bIns="0" rtlCol="0">
            <a:spAutoFit/>
          </a:bodyPr>
          <a:lstStyle/>
          <a:p>
            <a:pPr>
              <a:spcAft>
                <a:spcPts val="1000"/>
              </a:spcAft>
            </a:pPr>
            <a:r>
              <a:rPr lang="en-US" sz="2250">
                <a:solidFill>
                  <a:srgbClr val="15283E"/>
                </a:solidFill>
                <a:latin typeface="Aptos" panose="020B0004020202020204" pitchFamily="34" charset="0"/>
              </a:rPr>
              <a:t>CSV fields: id, date, amount_cents, category, description</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Integer cents: $0.10 + $0.20 = $0.30 without binary floating point</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Valid dates: YYYY-MM-DD, years 0001-9999; real calendar validation</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Positive amounts up to $999999999.99; up to 100,000 records</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Printable ASCII text, quoted commas and doubled quotes, one record per line</a:t>
            </a:r>
          </a:p>
        </p:txBody>
      </p:sp>
      <p:sp>
        <p:nvSpPr>
          <p:cNvPr id="6" name="TextBox 5">
            <a:extLst>
              <a:ext uri="{FF2B5EF4-FFF2-40B4-BE49-F238E27FC236}">
                <a16:creationId xmlns:a16="http://schemas.microsoft.com/office/drawing/2014/main" id="{7A7C0933-F1E2-A78E-3E15-CB8E95D4DFC6}"/>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7" name="TextBox 6">
            <a:extLst>
              <a:ext uri="{FF2B5EF4-FFF2-40B4-BE49-F238E27FC236}">
                <a16:creationId xmlns:a16="http://schemas.microsoft.com/office/drawing/2014/main" id="{2736A844-3A4E-F1A9-96ED-0A83C1566AB1}"/>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4 / 17</a:t>
            </a:r>
          </a:p>
        </p:txBody>
      </p:sp>
    </p:spTree>
    <p:extLst>
      <p:ext uri="{BB962C8B-B14F-4D97-AF65-F5344CB8AC3E}">
        <p14:creationId xmlns:p14="http://schemas.microsoft.com/office/powerpoint/2010/main" val="35771273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5433ACD-3675-B2AA-4A20-BBEEA16FFE6D}"/>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1D6D8BE-48DC-9423-FF1A-2FD685538EB3}"/>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Python live demonstration</a:t>
            </a:r>
          </a:p>
        </p:txBody>
      </p:sp>
      <p:sp>
        <p:nvSpPr>
          <p:cNvPr id="4" name="TextBox 3">
            <a:extLst>
              <a:ext uri="{FF2B5EF4-FFF2-40B4-BE49-F238E27FC236}">
                <a16:creationId xmlns:a16="http://schemas.microsoft.com/office/drawing/2014/main" id="{CD808DD0-F389-D605-3E13-4AE9F09310C9}"/>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Prateek Sahay | 2 min</a:t>
            </a:r>
          </a:p>
        </p:txBody>
      </p:sp>
      <p:pic>
        <p:nvPicPr>
          <p:cNvPr id="6" name="Picture 5">
            <a:extLst>
              <a:ext uri="{FF2B5EF4-FFF2-40B4-BE49-F238E27FC236}">
                <a16:creationId xmlns:a16="http://schemas.microsoft.com/office/drawing/2014/main" id="{38696A14-DA7B-4F10-D872-10643C84BD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8000" y="1701800"/>
            <a:ext cx="7213600" cy="4508500"/>
          </a:xfrm>
          <a:prstGeom prst="rect">
            <a:avLst/>
          </a:prstGeom>
        </p:spPr>
      </p:pic>
      <p:sp>
        <p:nvSpPr>
          <p:cNvPr id="7" name="TextBox 6">
            <a:extLst>
              <a:ext uri="{FF2B5EF4-FFF2-40B4-BE49-F238E27FC236}">
                <a16:creationId xmlns:a16="http://schemas.microsoft.com/office/drawing/2014/main" id="{77AE21A7-079F-FC92-710E-85A83A2C4CB4}"/>
              </a:ext>
            </a:extLst>
          </p:cNvPr>
          <p:cNvSpPr txBox="1"/>
          <p:nvPr/>
        </p:nvSpPr>
        <p:spPr>
          <a:xfrm>
            <a:off x="8445500" y="1841500"/>
            <a:ext cx="3238500" cy="3985706"/>
          </a:xfrm>
          <a:prstGeom prst="rect">
            <a:avLst/>
          </a:prstGeom>
          <a:noFill/>
        </p:spPr>
        <p:txBody>
          <a:bodyPr vert="horz" wrap="square" lIns="0" tIns="0" rIns="0" bIns="0" rtlCol="0">
            <a:spAutoFit/>
          </a:bodyPr>
          <a:lstStyle/>
          <a:p>
            <a:pPr>
              <a:spcAft>
                <a:spcPts val="1000"/>
              </a:spcAft>
            </a:pPr>
            <a:r>
              <a:rPr lang="en-US" sz="1900">
                <a:solidFill>
                  <a:srgbClr val="15283E"/>
                </a:solidFill>
                <a:latin typeface="Aptos" panose="020B0004020202020204" pitchFamily="34" charset="0"/>
              </a:rPr>
              <a:t>Live demo: three new expenses totaling $5.30</a:t>
            </a:r>
          </a:p>
          <a:p>
            <a:pPr>
              <a:spcAft>
                <a:spcPts val="1000"/>
              </a:spcAft>
            </a:pPr>
            <a:endParaRPr lang="en-US" sz="1900">
              <a:solidFill>
                <a:srgbClr val="15283E"/>
              </a:solidFill>
              <a:latin typeface="Aptos" panose="020B0004020202020204" pitchFamily="34" charset="0"/>
            </a:endParaRPr>
          </a:p>
          <a:p>
            <a:pPr>
              <a:spcAft>
                <a:spcPts val="1000"/>
              </a:spcAft>
            </a:pPr>
            <a:r>
              <a:rPr lang="en-US" sz="1900">
                <a:solidFill>
                  <a:srgbClr val="15283E"/>
                </a:solidFill>
                <a:latin typeface="Aptos" panose="020B0004020202020204" pitchFamily="34" charset="0"/>
              </a:rPr>
              <a:t>Show listing, inclusive filters, and search</a:t>
            </a:r>
          </a:p>
          <a:p>
            <a:pPr>
              <a:spcAft>
                <a:spcPts val="1000"/>
              </a:spcAft>
            </a:pPr>
            <a:endParaRPr lang="en-US" sz="1900">
              <a:solidFill>
                <a:srgbClr val="15283E"/>
              </a:solidFill>
              <a:latin typeface="Aptos" panose="020B0004020202020204" pitchFamily="34" charset="0"/>
            </a:endParaRPr>
          </a:p>
          <a:p>
            <a:pPr>
              <a:spcAft>
                <a:spcPts val="1000"/>
              </a:spcAft>
            </a:pPr>
            <a:r>
              <a:rPr lang="en-US" sz="1900">
                <a:solidFill>
                  <a:srgbClr val="15283E"/>
                </a:solidFill>
                <a:latin typeface="Aptos" panose="020B0004020202020204" pitchFamily="34" charset="0"/>
              </a:rPr>
              <a:t>Screenshot: five-record sample totaling $61.08</a:t>
            </a:r>
          </a:p>
          <a:p>
            <a:pPr>
              <a:spcAft>
                <a:spcPts val="1000"/>
              </a:spcAft>
            </a:pPr>
            <a:endParaRPr lang="en-US" sz="1900">
              <a:solidFill>
                <a:srgbClr val="15283E"/>
              </a:solidFill>
              <a:latin typeface="Aptos" panose="020B0004020202020204" pitchFamily="34" charset="0"/>
            </a:endParaRPr>
          </a:p>
          <a:p>
            <a:pPr>
              <a:spcAft>
                <a:spcPts val="1000"/>
              </a:spcAft>
            </a:pPr>
            <a:r>
              <a:rPr lang="en-US" sz="1900">
                <a:solidFill>
                  <a:srgbClr val="15283E"/>
                </a:solidFill>
                <a:latin typeface="Aptos" panose="020B0004020202020204" pitchFamily="34" charset="0"/>
              </a:rPr>
              <a:t>Reuse the live CSV for the C++ walkthrough</a:t>
            </a:r>
          </a:p>
        </p:txBody>
      </p:sp>
      <p:sp>
        <p:nvSpPr>
          <p:cNvPr id="8" name="TextBox 7">
            <a:extLst>
              <a:ext uri="{FF2B5EF4-FFF2-40B4-BE49-F238E27FC236}">
                <a16:creationId xmlns:a16="http://schemas.microsoft.com/office/drawing/2014/main" id="{F386204C-2DA3-01A3-FB88-AB5DDF9BF24D}"/>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9" name="TextBox 8">
            <a:extLst>
              <a:ext uri="{FF2B5EF4-FFF2-40B4-BE49-F238E27FC236}">
                <a16:creationId xmlns:a16="http://schemas.microsoft.com/office/drawing/2014/main" id="{54506D38-C628-2EB6-50F6-D780698E25B2}"/>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5 / 17</a:t>
            </a:r>
          </a:p>
        </p:txBody>
      </p:sp>
    </p:spTree>
    <p:extLst>
      <p:ext uri="{BB962C8B-B14F-4D97-AF65-F5344CB8AC3E}">
        <p14:creationId xmlns:p14="http://schemas.microsoft.com/office/powerpoint/2010/main" val="25162284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E8035C3-FD4E-46C9-FC33-7D3907E5211C}"/>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D6CE764-FA57-8AF7-2FA5-D97D3BD168D4}"/>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C++ live demonstration and interoperability</a:t>
            </a:r>
          </a:p>
        </p:txBody>
      </p:sp>
      <p:sp>
        <p:nvSpPr>
          <p:cNvPr id="4" name="TextBox 3">
            <a:extLst>
              <a:ext uri="{FF2B5EF4-FFF2-40B4-BE49-F238E27FC236}">
                <a16:creationId xmlns:a16="http://schemas.microsoft.com/office/drawing/2014/main" id="{D20ECC76-1993-3A93-7BEF-C7B650A02FCF}"/>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fi-FI" sz="1200">
                <a:solidFill>
                  <a:srgbClr val="515E6C"/>
                </a:solidFill>
                <a:latin typeface="Aptos" panose="020B0004020202020204" pitchFamily="34" charset="0"/>
              </a:rPr>
              <a:t>Venkata Sai Makani | 2 min</a:t>
            </a:r>
            <a:endParaRPr lang="en-US" sz="1200">
              <a:solidFill>
                <a:srgbClr val="515E6C"/>
              </a:solidFill>
              <a:latin typeface="Aptos" panose="020B0004020202020204" pitchFamily="34" charset="0"/>
            </a:endParaRPr>
          </a:p>
        </p:txBody>
      </p:sp>
      <p:pic>
        <p:nvPicPr>
          <p:cNvPr id="6" name="Picture 5">
            <a:extLst>
              <a:ext uri="{FF2B5EF4-FFF2-40B4-BE49-F238E27FC236}">
                <a16:creationId xmlns:a16="http://schemas.microsoft.com/office/drawing/2014/main" id="{582EC9BB-1319-E257-C0BF-098EA46D28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8000" y="1701800"/>
            <a:ext cx="7213600" cy="4508500"/>
          </a:xfrm>
          <a:prstGeom prst="rect">
            <a:avLst/>
          </a:prstGeom>
        </p:spPr>
      </p:pic>
      <p:sp>
        <p:nvSpPr>
          <p:cNvPr id="7" name="TextBox 6">
            <a:extLst>
              <a:ext uri="{FF2B5EF4-FFF2-40B4-BE49-F238E27FC236}">
                <a16:creationId xmlns:a16="http://schemas.microsoft.com/office/drawing/2014/main" id="{3F79CDA2-E548-0C27-45CF-7D5FEA07B1B8}"/>
              </a:ext>
            </a:extLst>
          </p:cNvPr>
          <p:cNvSpPr txBox="1"/>
          <p:nvPr/>
        </p:nvSpPr>
        <p:spPr>
          <a:xfrm>
            <a:off x="8445500" y="1841500"/>
            <a:ext cx="3238500" cy="3985706"/>
          </a:xfrm>
          <a:prstGeom prst="rect">
            <a:avLst/>
          </a:prstGeom>
          <a:noFill/>
        </p:spPr>
        <p:txBody>
          <a:bodyPr vert="horz" wrap="square" lIns="0" tIns="0" rIns="0" bIns="0" rtlCol="0">
            <a:spAutoFit/>
          </a:bodyPr>
          <a:lstStyle/>
          <a:p>
            <a:pPr>
              <a:spcAft>
                <a:spcPts val="1000"/>
              </a:spcAft>
            </a:pPr>
            <a:r>
              <a:rPr lang="en-US" sz="1900">
                <a:solidFill>
                  <a:srgbClr val="15283E"/>
                </a:solidFill>
                <a:latin typeface="Aptos" panose="020B0004020202020204" pitchFamily="34" charset="0"/>
              </a:rPr>
              <a:t>Read Python's live CSV with C++</a:t>
            </a:r>
          </a:p>
          <a:p>
            <a:pPr>
              <a:spcAft>
                <a:spcPts val="1000"/>
              </a:spcAft>
            </a:pPr>
            <a:endParaRPr lang="en-US" sz="1900">
              <a:solidFill>
                <a:srgbClr val="15283E"/>
              </a:solidFill>
              <a:latin typeface="Aptos" panose="020B0004020202020204" pitchFamily="34" charset="0"/>
            </a:endParaRPr>
          </a:p>
          <a:p>
            <a:pPr>
              <a:spcAft>
                <a:spcPts val="1000"/>
              </a:spcAft>
            </a:pPr>
            <a:r>
              <a:rPr lang="en-US" sz="1900">
                <a:solidFill>
                  <a:srgbClr val="15283E"/>
                </a:solidFill>
                <a:latin typeface="Aptos" panose="020B0004020202020204" pitchFamily="34" charset="0"/>
              </a:rPr>
              <a:t>Add a Books expense; expected total $25.29</a:t>
            </a:r>
          </a:p>
          <a:p>
            <a:pPr>
              <a:spcAft>
                <a:spcPts val="1000"/>
              </a:spcAft>
            </a:pPr>
            <a:endParaRPr lang="en-US" sz="1900">
              <a:solidFill>
                <a:srgbClr val="15283E"/>
              </a:solidFill>
              <a:latin typeface="Aptos" panose="020B0004020202020204" pitchFamily="34" charset="0"/>
            </a:endParaRPr>
          </a:p>
          <a:p>
            <a:pPr>
              <a:spcAft>
                <a:spcPts val="1000"/>
              </a:spcAft>
            </a:pPr>
            <a:r>
              <a:rPr lang="en-US" sz="1900">
                <a:solidFill>
                  <a:srgbClr val="15283E"/>
                </a:solidFill>
                <a:latin typeface="Aptos" panose="020B0004020202020204" pitchFamily="34" charset="0"/>
              </a:rPr>
              <a:t>Delete it, reject an invalid date, and verify $5.30</a:t>
            </a:r>
          </a:p>
          <a:p>
            <a:pPr>
              <a:spcAft>
                <a:spcPts val="1000"/>
              </a:spcAft>
            </a:pPr>
            <a:endParaRPr lang="en-US" sz="1900">
              <a:solidFill>
                <a:srgbClr val="15283E"/>
              </a:solidFill>
              <a:latin typeface="Aptos" panose="020B0004020202020204" pitchFamily="34" charset="0"/>
            </a:endParaRPr>
          </a:p>
          <a:p>
            <a:pPr>
              <a:spcAft>
                <a:spcPts val="1000"/>
              </a:spcAft>
            </a:pPr>
            <a:r>
              <a:rPr lang="en-US" sz="1900">
                <a:solidFill>
                  <a:srgbClr val="15283E"/>
                </a:solidFill>
                <a:latin typeface="Aptos" panose="020B0004020202020204" pitchFamily="34" charset="0"/>
              </a:rPr>
              <a:t>Screenshot: recorded five-expense sample ($61.08)</a:t>
            </a:r>
          </a:p>
        </p:txBody>
      </p:sp>
      <p:sp>
        <p:nvSpPr>
          <p:cNvPr id="8" name="TextBox 7">
            <a:extLst>
              <a:ext uri="{FF2B5EF4-FFF2-40B4-BE49-F238E27FC236}">
                <a16:creationId xmlns:a16="http://schemas.microsoft.com/office/drawing/2014/main" id="{FA56E039-B31F-4ED1-BAF0-4925F4E2B338}"/>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9" name="TextBox 8">
            <a:extLst>
              <a:ext uri="{FF2B5EF4-FFF2-40B4-BE49-F238E27FC236}">
                <a16:creationId xmlns:a16="http://schemas.microsoft.com/office/drawing/2014/main" id="{7D03CABF-1CD9-8DB6-81C4-88812E74EC25}"/>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6 / 17</a:t>
            </a:r>
          </a:p>
        </p:txBody>
      </p:sp>
    </p:spTree>
    <p:extLst>
      <p:ext uri="{BB962C8B-B14F-4D97-AF65-F5344CB8AC3E}">
        <p14:creationId xmlns:p14="http://schemas.microsoft.com/office/powerpoint/2010/main" val="40380476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247B327-34CF-3DEF-E993-DF33A0576347}"/>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76C47BB-9713-E14C-F32B-C5189538C0DD}"/>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Types and containers shape the implementation</a:t>
            </a:r>
          </a:p>
        </p:txBody>
      </p:sp>
      <p:sp>
        <p:nvSpPr>
          <p:cNvPr id="4" name="TextBox 3">
            <a:extLst>
              <a:ext uri="{FF2B5EF4-FFF2-40B4-BE49-F238E27FC236}">
                <a16:creationId xmlns:a16="http://schemas.microsoft.com/office/drawing/2014/main" id="{E8603EF2-CDC0-D2AF-C616-3D2EEA8DC3D9}"/>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Prateek Sahay | 1.17 min</a:t>
            </a:r>
          </a:p>
        </p:txBody>
      </p:sp>
      <p:sp>
        <p:nvSpPr>
          <p:cNvPr id="5" name="TextBox 4">
            <a:extLst>
              <a:ext uri="{FF2B5EF4-FFF2-40B4-BE49-F238E27FC236}">
                <a16:creationId xmlns:a16="http://schemas.microsoft.com/office/drawing/2014/main" id="{7442DF69-C80D-1DB5-2F2B-07A24CC4DBB4}"/>
              </a:ext>
            </a:extLst>
          </p:cNvPr>
          <p:cNvSpPr txBox="1"/>
          <p:nvPr/>
        </p:nvSpPr>
        <p:spPr>
          <a:xfrm>
            <a:off x="508000" y="1663700"/>
            <a:ext cx="11176000" cy="877163"/>
          </a:xfrm>
          <a:prstGeom prst="rect">
            <a:avLst/>
          </a:prstGeom>
          <a:noFill/>
        </p:spPr>
        <p:txBody>
          <a:bodyPr vert="horz" wrap="square" lIns="0" tIns="0" rIns="0" bIns="0" rtlCol="0">
            <a:spAutoFit/>
          </a:bodyPr>
          <a:lstStyle/>
          <a:p>
            <a:pPr>
              <a:spcAft>
                <a:spcPts val="1000"/>
              </a:spcAft>
            </a:pPr>
            <a:r>
              <a:rPr lang="en-US" sz="1900">
                <a:solidFill>
                  <a:srgbClr val="515E6C"/>
                </a:solidFill>
                <a:latin typeface="Aptos" panose="020B0004020202020204" pitchFamily="34" charset="0"/>
              </a:rPr>
              <a:t>Python records are dictionaries; TypedDict documents their expected shape • Python type hints do not enforce field types at runtime • C++ Expense fields have compiler-enforced types and value ownership • Lists/dictionaries versus std::vector/std::map/std::set</a:t>
            </a:r>
          </a:p>
        </p:txBody>
      </p:sp>
      <p:sp>
        <p:nvSpPr>
          <p:cNvPr id="6" name="Rectangle 5">
            <a:extLst>
              <a:ext uri="{FF2B5EF4-FFF2-40B4-BE49-F238E27FC236}">
                <a16:creationId xmlns:a16="http://schemas.microsoft.com/office/drawing/2014/main" id="{FA6CEFCF-BF08-2DAA-0279-D28BC2AA93FF}"/>
              </a:ext>
            </a:extLst>
          </p:cNvPr>
          <p:cNvSpPr/>
          <p:nvPr/>
        </p:nvSpPr>
        <p:spPr>
          <a:xfrm>
            <a:off x="508000" y="2908300"/>
            <a:ext cx="5435600" cy="3162300"/>
          </a:xfrm>
          <a:prstGeom prst="rect">
            <a:avLst/>
          </a:prstGeom>
          <a:solidFill>
            <a:srgbClr val="F2F6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724FDA9-7B13-7840-87A2-2F702F277A86}"/>
              </a:ext>
            </a:extLst>
          </p:cNvPr>
          <p:cNvSpPr txBox="1"/>
          <p:nvPr/>
        </p:nvSpPr>
        <p:spPr>
          <a:xfrm>
            <a:off x="698500" y="3009900"/>
            <a:ext cx="5054600" cy="200055"/>
          </a:xfrm>
          <a:prstGeom prst="rect">
            <a:avLst/>
          </a:prstGeom>
          <a:noFill/>
        </p:spPr>
        <p:txBody>
          <a:bodyPr vert="horz" wrap="square" lIns="0" tIns="0" rIns="0" bIns="0" rtlCol="0">
            <a:spAutoFit/>
          </a:bodyPr>
          <a:lstStyle/>
          <a:p>
            <a:pPr>
              <a:spcAft>
                <a:spcPts val="1000"/>
              </a:spcAft>
            </a:pPr>
            <a:r>
              <a:rPr lang="en-US" sz="1300" b="1">
                <a:solidFill>
                  <a:srgbClr val="007983"/>
                </a:solidFill>
                <a:latin typeface="Aptos" panose="020B0004020202020204" pitchFamily="34" charset="0"/>
              </a:rPr>
              <a:t>python/tracker.py - Expense</a:t>
            </a:r>
          </a:p>
        </p:txBody>
      </p:sp>
      <p:sp>
        <p:nvSpPr>
          <p:cNvPr id="8" name="TextBox 7">
            <a:extLst>
              <a:ext uri="{FF2B5EF4-FFF2-40B4-BE49-F238E27FC236}">
                <a16:creationId xmlns:a16="http://schemas.microsoft.com/office/drawing/2014/main" id="{586391CE-EA48-140D-D52F-41CB94AC47BE}"/>
              </a:ext>
            </a:extLst>
          </p:cNvPr>
          <p:cNvSpPr txBox="1"/>
          <p:nvPr/>
        </p:nvSpPr>
        <p:spPr>
          <a:xfrm>
            <a:off x="698500" y="3568700"/>
            <a:ext cx="5054600" cy="1292662"/>
          </a:xfrm>
          <a:prstGeom prst="rect">
            <a:avLst/>
          </a:prstGeom>
          <a:noFill/>
        </p:spPr>
        <p:txBody>
          <a:bodyPr vert="horz" wrap="square" lIns="0" tIns="0" rIns="0" bIns="0" rtlCol="0">
            <a:spAutoFit/>
          </a:bodyPr>
          <a:lstStyle/>
          <a:p>
            <a:r>
              <a:rPr lang="en-US" sz="1400">
                <a:solidFill>
                  <a:srgbClr val="15283E"/>
                </a:solidFill>
                <a:latin typeface="Consolas" panose="020B0609020204030204" pitchFamily="49" charset="0"/>
              </a:rPr>
              <a:t>class Expense(TypedDict):
    id: int
    date: date
    amount_cents: int
    category: str
    description: str</a:t>
            </a:r>
          </a:p>
        </p:txBody>
      </p:sp>
      <p:sp>
        <p:nvSpPr>
          <p:cNvPr id="9" name="Rectangle 8">
            <a:extLst>
              <a:ext uri="{FF2B5EF4-FFF2-40B4-BE49-F238E27FC236}">
                <a16:creationId xmlns:a16="http://schemas.microsoft.com/office/drawing/2014/main" id="{67879588-7215-EB1F-BE78-BDFC5DE57C02}"/>
              </a:ext>
            </a:extLst>
          </p:cNvPr>
          <p:cNvSpPr/>
          <p:nvPr/>
        </p:nvSpPr>
        <p:spPr>
          <a:xfrm>
            <a:off x="6248400" y="2908300"/>
            <a:ext cx="5435600" cy="3162300"/>
          </a:xfrm>
          <a:prstGeom prst="rect">
            <a:avLst/>
          </a:prstGeom>
          <a:solidFill>
            <a:srgbClr val="F2F6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37FFFEF-2D0C-B162-0EB1-E49373910126}"/>
              </a:ext>
            </a:extLst>
          </p:cNvPr>
          <p:cNvSpPr txBox="1"/>
          <p:nvPr/>
        </p:nvSpPr>
        <p:spPr>
          <a:xfrm>
            <a:off x="6438900" y="3009900"/>
            <a:ext cx="5054600" cy="200055"/>
          </a:xfrm>
          <a:prstGeom prst="rect">
            <a:avLst/>
          </a:prstGeom>
          <a:noFill/>
        </p:spPr>
        <p:txBody>
          <a:bodyPr vert="horz" wrap="square" lIns="0" tIns="0" rIns="0" bIns="0" rtlCol="0">
            <a:spAutoFit/>
          </a:bodyPr>
          <a:lstStyle/>
          <a:p>
            <a:pPr>
              <a:spcAft>
                <a:spcPts val="1000"/>
              </a:spcAft>
            </a:pPr>
            <a:r>
              <a:rPr lang="en-US" sz="1300" b="1">
                <a:solidFill>
                  <a:srgbClr val="007983"/>
                </a:solidFill>
                <a:latin typeface="Aptos" panose="020B0004020202020204" pitchFamily="34" charset="0"/>
              </a:rPr>
              <a:t>cpp/tracker.hpp - Expense</a:t>
            </a:r>
          </a:p>
        </p:txBody>
      </p:sp>
      <p:sp>
        <p:nvSpPr>
          <p:cNvPr id="11" name="TextBox 10">
            <a:extLst>
              <a:ext uri="{FF2B5EF4-FFF2-40B4-BE49-F238E27FC236}">
                <a16:creationId xmlns:a16="http://schemas.microsoft.com/office/drawing/2014/main" id="{91F2D22B-698B-43EA-4EB1-5804EA051113}"/>
              </a:ext>
            </a:extLst>
          </p:cNvPr>
          <p:cNvSpPr txBox="1"/>
          <p:nvPr/>
        </p:nvSpPr>
        <p:spPr>
          <a:xfrm>
            <a:off x="6438900" y="3568700"/>
            <a:ext cx="5054600" cy="1508105"/>
          </a:xfrm>
          <a:prstGeom prst="rect">
            <a:avLst/>
          </a:prstGeom>
          <a:noFill/>
        </p:spPr>
        <p:txBody>
          <a:bodyPr vert="horz" wrap="square" lIns="0" tIns="0" rIns="0" bIns="0" rtlCol="0">
            <a:spAutoFit/>
          </a:bodyPr>
          <a:lstStyle/>
          <a:p>
            <a:r>
              <a:rPr lang="en-US" sz="1400">
                <a:solidFill>
                  <a:srgbClr val="15283E"/>
                </a:solidFill>
                <a:latin typeface="Consolas" panose="020B0609020204030204" pitchFamily="49" charset="0"/>
              </a:rPr>
              <a:t>struct Expense {
    std::int32_t id;
    std::string date;
    std::int64_t amount_cents;
    std::string category;
    std::string description;
};</a:t>
            </a:r>
          </a:p>
        </p:txBody>
      </p:sp>
      <p:sp>
        <p:nvSpPr>
          <p:cNvPr id="12" name="TextBox 11">
            <a:extLst>
              <a:ext uri="{FF2B5EF4-FFF2-40B4-BE49-F238E27FC236}">
                <a16:creationId xmlns:a16="http://schemas.microsoft.com/office/drawing/2014/main" id="{36D00F2B-2BAE-2514-9B28-ECB43A6055C7}"/>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13" name="TextBox 12">
            <a:extLst>
              <a:ext uri="{FF2B5EF4-FFF2-40B4-BE49-F238E27FC236}">
                <a16:creationId xmlns:a16="http://schemas.microsoft.com/office/drawing/2014/main" id="{ACFDE1BD-A95A-890C-80A6-E525D05C6094}"/>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7 / 17</a:t>
            </a:r>
          </a:p>
        </p:txBody>
      </p:sp>
    </p:spTree>
    <p:extLst>
      <p:ext uri="{BB962C8B-B14F-4D97-AF65-F5344CB8AC3E}">
        <p14:creationId xmlns:p14="http://schemas.microsoft.com/office/powerpoint/2010/main" val="26019013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78C24B7-6621-B965-4A48-7AF621FFA8F8}"/>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DA24271A-FBE6-388D-3FE6-2825698CA7F5}"/>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Filtering: comprehension versus explicit control flow</a:t>
            </a:r>
          </a:p>
        </p:txBody>
      </p:sp>
      <p:sp>
        <p:nvSpPr>
          <p:cNvPr id="4" name="TextBox 3">
            <a:extLst>
              <a:ext uri="{FF2B5EF4-FFF2-40B4-BE49-F238E27FC236}">
                <a16:creationId xmlns:a16="http://schemas.microsoft.com/office/drawing/2014/main" id="{0BD14E26-DE1D-E173-BAFE-7B38E6A8C838}"/>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fi-FI" sz="1200">
                <a:solidFill>
                  <a:srgbClr val="515E6C"/>
                </a:solidFill>
                <a:latin typeface="Aptos" panose="020B0004020202020204" pitchFamily="34" charset="0"/>
              </a:rPr>
              <a:t>Venkata Sai Makani | 1.17 min</a:t>
            </a:r>
            <a:endParaRPr lang="en-US" sz="1200">
              <a:solidFill>
                <a:srgbClr val="515E6C"/>
              </a:solidFill>
              <a:latin typeface="Aptos" panose="020B0004020202020204" pitchFamily="34" charset="0"/>
            </a:endParaRPr>
          </a:p>
        </p:txBody>
      </p:sp>
      <p:sp>
        <p:nvSpPr>
          <p:cNvPr id="5" name="TextBox 4">
            <a:extLst>
              <a:ext uri="{FF2B5EF4-FFF2-40B4-BE49-F238E27FC236}">
                <a16:creationId xmlns:a16="http://schemas.microsoft.com/office/drawing/2014/main" id="{55BD52F6-3BAA-88B4-D6C9-C1A48BDBACBA}"/>
              </a:ext>
            </a:extLst>
          </p:cNvPr>
          <p:cNvSpPr txBox="1"/>
          <p:nvPr/>
        </p:nvSpPr>
        <p:spPr>
          <a:xfrm>
            <a:off x="508000" y="1663700"/>
            <a:ext cx="11176000" cy="877163"/>
          </a:xfrm>
          <a:prstGeom prst="rect">
            <a:avLst/>
          </a:prstGeom>
          <a:noFill/>
        </p:spPr>
        <p:txBody>
          <a:bodyPr vert="horz" wrap="square" lIns="0" tIns="0" rIns="0" bIns="0" rtlCol="0">
            <a:spAutoFit/>
          </a:bodyPr>
          <a:lstStyle/>
          <a:p>
            <a:pPr>
              <a:spcAft>
                <a:spcPts val="1000"/>
              </a:spcAft>
            </a:pPr>
            <a:r>
              <a:rPr lang="en-US" sz="1900">
                <a:solidFill>
                  <a:srgbClr val="515E6C"/>
                </a:solidFill>
                <a:latin typeface="Aptos" panose="020B0004020202020204" pitchFamily="34" charset="0"/>
              </a:rPr>
              <a:t>Python expresses selection with a list comprehension and predicate conditions • C++ uses a loop, std::optional bounds, and continue for rejected records • Both apply inclusive dates and the same exact category condition • Python returns references to dictionaries; C++ copies selected Expense values</a:t>
            </a:r>
          </a:p>
        </p:txBody>
      </p:sp>
      <p:sp>
        <p:nvSpPr>
          <p:cNvPr id="6" name="Rectangle 5">
            <a:extLst>
              <a:ext uri="{FF2B5EF4-FFF2-40B4-BE49-F238E27FC236}">
                <a16:creationId xmlns:a16="http://schemas.microsoft.com/office/drawing/2014/main" id="{5EFFE43D-1403-B7F4-BEB6-6EBF9C74485A}"/>
              </a:ext>
            </a:extLst>
          </p:cNvPr>
          <p:cNvSpPr/>
          <p:nvPr/>
        </p:nvSpPr>
        <p:spPr>
          <a:xfrm>
            <a:off x="508000" y="2819400"/>
            <a:ext cx="11176000" cy="1938020"/>
          </a:xfrm>
          <a:prstGeom prst="rect">
            <a:avLst/>
          </a:prstGeom>
          <a:solidFill>
            <a:srgbClr val="F2F6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D285BED6-C0C3-5910-98AE-F7AC849B548A}"/>
              </a:ext>
            </a:extLst>
          </p:cNvPr>
          <p:cNvSpPr txBox="1"/>
          <p:nvPr/>
        </p:nvSpPr>
        <p:spPr>
          <a:xfrm>
            <a:off x="698500" y="2921000"/>
            <a:ext cx="10795000" cy="200055"/>
          </a:xfrm>
          <a:prstGeom prst="rect">
            <a:avLst/>
          </a:prstGeom>
          <a:noFill/>
        </p:spPr>
        <p:txBody>
          <a:bodyPr vert="horz" wrap="square" lIns="0" tIns="0" rIns="0" bIns="0" rtlCol="0">
            <a:spAutoFit/>
          </a:bodyPr>
          <a:lstStyle/>
          <a:p>
            <a:pPr>
              <a:spcAft>
                <a:spcPts val="1000"/>
              </a:spcAft>
            </a:pPr>
            <a:r>
              <a:rPr lang="en-US" sz="1300" b="1">
                <a:solidFill>
                  <a:srgbClr val="007983"/>
                </a:solidFill>
                <a:latin typeface="Aptos" panose="020B0004020202020204" pitchFamily="34" charset="0"/>
              </a:rPr>
              <a:t>python/tracker.py - filter_expenses excerpt</a:t>
            </a:r>
          </a:p>
        </p:txBody>
      </p:sp>
      <p:sp>
        <p:nvSpPr>
          <p:cNvPr id="8" name="TextBox 7">
            <a:extLst>
              <a:ext uri="{FF2B5EF4-FFF2-40B4-BE49-F238E27FC236}">
                <a16:creationId xmlns:a16="http://schemas.microsoft.com/office/drawing/2014/main" id="{74542C87-33DA-6C1F-6105-8B56F5B12824}"/>
              </a:ext>
            </a:extLst>
          </p:cNvPr>
          <p:cNvSpPr txBox="1"/>
          <p:nvPr/>
        </p:nvSpPr>
        <p:spPr>
          <a:xfrm>
            <a:off x="698500" y="3187700"/>
            <a:ext cx="10795000" cy="1538883"/>
          </a:xfrm>
          <a:prstGeom prst="rect">
            <a:avLst/>
          </a:prstGeom>
          <a:noFill/>
        </p:spPr>
        <p:txBody>
          <a:bodyPr vert="horz" wrap="square" lIns="0" tIns="0" rIns="0" bIns="0" rtlCol="0">
            <a:spAutoFit/>
          </a:bodyPr>
          <a:lstStyle/>
          <a:p>
            <a:r>
              <a:rPr lang="en-US" sz="1250">
                <a:solidFill>
                  <a:srgbClr val="15283E"/>
                </a:solidFill>
                <a:latin typeface="Consolas" panose="020B0609020204030204" pitchFamily="49" charset="0"/>
              </a:rPr>
              <a:t>    return [
        expense for expense in expenses
        if (start_date is None or expense["date"] &gt;= start_date)
        and (end_date is None or expense["date"] &lt;= end_date)
        and (selected_category is None or expense["category"] == selected_category)
        and (selected_query is None or selected_query in expense["category"].lower()
             or selected_query in expense["description"].lower())
    ]</a:t>
            </a:r>
          </a:p>
        </p:txBody>
      </p:sp>
      <p:sp>
        <p:nvSpPr>
          <p:cNvPr id="9" name="Rectangle 8">
            <a:extLst>
              <a:ext uri="{FF2B5EF4-FFF2-40B4-BE49-F238E27FC236}">
                <a16:creationId xmlns:a16="http://schemas.microsoft.com/office/drawing/2014/main" id="{EC8F625B-2F59-06C8-F4CF-D7F6ADEED891}"/>
              </a:ext>
            </a:extLst>
          </p:cNvPr>
          <p:cNvSpPr/>
          <p:nvPr/>
        </p:nvSpPr>
        <p:spPr>
          <a:xfrm>
            <a:off x="508000" y="4820920"/>
            <a:ext cx="11176000" cy="1551940"/>
          </a:xfrm>
          <a:prstGeom prst="rect">
            <a:avLst/>
          </a:prstGeom>
          <a:solidFill>
            <a:srgbClr val="F2F6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7E3717C9-F2B5-A2C0-BF8B-1855DFB58C90}"/>
              </a:ext>
            </a:extLst>
          </p:cNvPr>
          <p:cNvSpPr txBox="1"/>
          <p:nvPr/>
        </p:nvSpPr>
        <p:spPr>
          <a:xfrm>
            <a:off x="698500" y="4922520"/>
            <a:ext cx="10795000" cy="200055"/>
          </a:xfrm>
          <a:prstGeom prst="rect">
            <a:avLst/>
          </a:prstGeom>
          <a:noFill/>
        </p:spPr>
        <p:txBody>
          <a:bodyPr vert="horz" wrap="square" lIns="0" tIns="0" rIns="0" bIns="0" rtlCol="0">
            <a:spAutoFit/>
          </a:bodyPr>
          <a:lstStyle/>
          <a:p>
            <a:pPr>
              <a:spcAft>
                <a:spcPts val="1000"/>
              </a:spcAft>
            </a:pPr>
            <a:r>
              <a:rPr lang="en-US" sz="1300" b="1">
                <a:solidFill>
                  <a:srgbClr val="007983"/>
                </a:solidFill>
                <a:latin typeface="Aptos" panose="020B0004020202020204" pitchFamily="34" charset="0"/>
              </a:rPr>
              <a:t>cpp/tracker.cpp - Tracker::select excerpt</a:t>
            </a:r>
          </a:p>
        </p:txBody>
      </p:sp>
      <p:sp>
        <p:nvSpPr>
          <p:cNvPr id="11" name="TextBox 10">
            <a:extLst>
              <a:ext uri="{FF2B5EF4-FFF2-40B4-BE49-F238E27FC236}">
                <a16:creationId xmlns:a16="http://schemas.microsoft.com/office/drawing/2014/main" id="{7799E48F-51D9-64D4-A799-64BF91590AEF}"/>
              </a:ext>
            </a:extLst>
          </p:cNvPr>
          <p:cNvSpPr txBox="1"/>
          <p:nvPr/>
        </p:nvSpPr>
        <p:spPr>
          <a:xfrm>
            <a:off x="698500" y="5189220"/>
            <a:ext cx="10795000" cy="1154162"/>
          </a:xfrm>
          <a:prstGeom prst="rect">
            <a:avLst/>
          </a:prstGeom>
          <a:noFill/>
        </p:spPr>
        <p:txBody>
          <a:bodyPr vert="horz" wrap="square" lIns="0" tIns="0" rIns="0" bIns="0" rtlCol="0">
            <a:spAutoFit/>
          </a:bodyPr>
          <a:lstStyle/>
          <a:p>
            <a:r>
              <a:rPr lang="en-US" sz="1250">
                <a:solidFill>
                  <a:srgbClr val="15283E"/>
                </a:solidFill>
                <a:latin typeface="Consolas" panose="020B0609020204030204" pitchFamily="49" charset="0"/>
              </a:rPr>
              <a:t>    for (const auto&amp; record : records_) {
        if ((filters.start &amp;&amp; record.date &lt; *filters.start) ||
            (filters.end &amp;&amp; record.date &gt; *filters.end) ||
            (normalized_category &amp;&amp; record.category != *normalized_category)) {
            continue;
        }</a:t>
            </a:r>
          </a:p>
        </p:txBody>
      </p:sp>
      <p:sp>
        <p:nvSpPr>
          <p:cNvPr id="12" name="TextBox 11">
            <a:extLst>
              <a:ext uri="{FF2B5EF4-FFF2-40B4-BE49-F238E27FC236}">
                <a16:creationId xmlns:a16="http://schemas.microsoft.com/office/drawing/2014/main" id="{BB1D0843-7177-F9F7-34C2-0DB76AAABD5B}"/>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13" name="TextBox 12">
            <a:extLst>
              <a:ext uri="{FF2B5EF4-FFF2-40B4-BE49-F238E27FC236}">
                <a16:creationId xmlns:a16="http://schemas.microsoft.com/office/drawing/2014/main" id="{9D46DDAC-41F5-A7B4-5300-B54B81BA7317}"/>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8 / 17</a:t>
            </a:r>
          </a:p>
        </p:txBody>
      </p:sp>
    </p:spTree>
    <p:extLst>
      <p:ext uri="{BB962C8B-B14F-4D97-AF65-F5344CB8AC3E}">
        <p14:creationId xmlns:p14="http://schemas.microsoft.com/office/powerpoint/2010/main" val="41471434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19340A1-B0DD-8544-9414-C4CE94EF72DB}"/>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ACD08F9-6E29-BD67-3962-51EC0362A7D2}"/>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Aggregation and checked integer totals</a:t>
            </a:r>
          </a:p>
        </p:txBody>
      </p:sp>
      <p:sp>
        <p:nvSpPr>
          <p:cNvPr id="4" name="TextBox 3">
            <a:extLst>
              <a:ext uri="{FF2B5EF4-FFF2-40B4-BE49-F238E27FC236}">
                <a16:creationId xmlns:a16="http://schemas.microsoft.com/office/drawing/2014/main" id="{BBE7D30B-B2BD-AF12-6FBE-181C4326AB41}"/>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Prateek Sahay | 1.08 min</a:t>
            </a:r>
          </a:p>
        </p:txBody>
      </p:sp>
      <p:sp>
        <p:nvSpPr>
          <p:cNvPr id="5" name="TextBox 4">
            <a:extLst>
              <a:ext uri="{FF2B5EF4-FFF2-40B4-BE49-F238E27FC236}">
                <a16:creationId xmlns:a16="http://schemas.microsoft.com/office/drawing/2014/main" id="{B0258358-D9B8-F15A-5134-5AB442ACDCE8}"/>
              </a:ext>
            </a:extLst>
          </p:cNvPr>
          <p:cNvSpPr txBox="1"/>
          <p:nvPr/>
        </p:nvSpPr>
        <p:spPr>
          <a:xfrm>
            <a:off x="508000" y="1663700"/>
            <a:ext cx="11176000" cy="877163"/>
          </a:xfrm>
          <a:prstGeom prst="rect">
            <a:avLst/>
          </a:prstGeom>
          <a:noFill/>
        </p:spPr>
        <p:txBody>
          <a:bodyPr vert="horz" wrap="square" lIns="0" tIns="0" rIns="0" bIns="0" rtlCol="0">
            <a:spAutoFit/>
          </a:bodyPr>
          <a:lstStyle/>
          <a:p>
            <a:pPr>
              <a:spcAft>
                <a:spcPts val="1000"/>
              </a:spcAft>
            </a:pPr>
            <a:r>
              <a:rPr lang="en-US" sz="1900">
                <a:solidFill>
                  <a:srgbClr val="515E6C"/>
                </a:solidFill>
                <a:latin typeface="Aptos" panose="020B0004020202020204" pitchFamily="34" charset="0"/>
              </a:rPr>
              <a:t>Python dict.get supplies a default when a category is first encountered • C++ std::map indexes a category and updates its integer total • Python sorts categories when printing; C++ map iteration is already sorted • Both check the shared signed 64-bit total bound and format integer cents</a:t>
            </a:r>
          </a:p>
        </p:txBody>
      </p:sp>
      <p:sp>
        <p:nvSpPr>
          <p:cNvPr id="6" name="Rectangle 5">
            <a:extLst>
              <a:ext uri="{FF2B5EF4-FFF2-40B4-BE49-F238E27FC236}">
                <a16:creationId xmlns:a16="http://schemas.microsoft.com/office/drawing/2014/main" id="{EAFC8204-8823-7449-A13E-8C64078FB62F}"/>
              </a:ext>
            </a:extLst>
          </p:cNvPr>
          <p:cNvSpPr/>
          <p:nvPr/>
        </p:nvSpPr>
        <p:spPr>
          <a:xfrm>
            <a:off x="508000" y="2819400"/>
            <a:ext cx="11176000" cy="1744980"/>
          </a:xfrm>
          <a:prstGeom prst="rect">
            <a:avLst/>
          </a:prstGeom>
          <a:solidFill>
            <a:srgbClr val="F2F6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E41BE72-320D-823D-250C-5C325BF4AF56}"/>
              </a:ext>
            </a:extLst>
          </p:cNvPr>
          <p:cNvSpPr txBox="1"/>
          <p:nvPr/>
        </p:nvSpPr>
        <p:spPr>
          <a:xfrm>
            <a:off x="698500" y="2921000"/>
            <a:ext cx="10795000" cy="200055"/>
          </a:xfrm>
          <a:prstGeom prst="rect">
            <a:avLst/>
          </a:prstGeom>
          <a:noFill/>
        </p:spPr>
        <p:txBody>
          <a:bodyPr vert="horz" wrap="square" lIns="0" tIns="0" rIns="0" bIns="0" rtlCol="0">
            <a:spAutoFit/>
          </a:bodyPr>
          <a:lstStyle/>
          <a:p>
            <a:pPr>
              <a:spcAft>
                <a:spcPts val="1000"/>
              </a:spcAft>
            </a:pPr>
            <a:r>
              <a:rPr lang="en-US" sz="1300" b="1">
                <a:solidFill>
                  <a:srgbClr val="007983"/>
                </a:solidFill>
                <a:latin typeface="Aptos" panose="020B0004020202020204" pitchFamily="34" charset="0"/>
              </a:rPr>
              <a:t>python/tracker.py - summarize</a:t>
            </a:r>
          </a:p>
        </p:txBody>
      </p:sp>
      <p:sp>
        <p:nvSpPr>
          <p:cNvPr id="8" name="TextBox 7">
            <a:extLst>
              <a:ext uri="{FF2B5EF4-FFF2-40B4-BE49-F238E27FC236}">
                <a16:creationId xmlns:a16="http://schemas.microsoft.com/office/drawing/2014/main" id="{E3B2E382-5760-3EC5-5E2A-5860DD874F85}"/>
              </a:ext>
            </a:extLst>
          </p:cNvPr>
          <p:cNvSpPr txBox="1"/>
          <p:nvPr/>
        </p:nvSpPr>
        <p:spPr>
          <a:xfrm>
            <a:off x="698500" y="3187700"/>
            <a:ext cx="10795000" cy="1346522"/>
          </a:xfrm>
          <a:prstGeom prst="rect">
            <a:avLst/>
          </a:prstGeom>
          <a:noFill/>
        </p:spPr>
        <p:txBody>
          <a:bodyPr vert="horz" wrap="square" lIns="0" tIns="0" rIns="0" bIns="0" rtlCol="0">
            <a:spAutoFit/>
          </a:bodyPr>
          <a:lstStyle/>
          <a:p>
            <a:r>
              <a:rPr lang="en-US" sz="1250">
                <a:solidFill>
                  <a:srgbClr val="15283E"/>
                </a:solidFill>
                <a:latin typeface="Consolas" panose="020B0609020204030204" pitchFamily="49" charset="0"/>
              </a:rPr>
              <a:t>def summarize(expenses: list[Expense]) -&gt; tuple[dict[str, int], int]:
    totals: dict[str, int] = {}
    overall = checked_total(expenses)
    for expense in expenses:
        category = expense["category"]
        totals[category] = totals.get(category, 0) + expense["amount_cents"]
    return totals, overall</a:t>
            </a:r>
          </a:p>
        </p:txBody>
      </p:sp>
      <p:sp>
        <p:nvSpPr>
          <p:cNvPr id="9" name="Rectangle 8">
            <a:extLst>
              <a:ext uri="{FF2B5EF4-FFF2-40B4-BE49-F238E27FC236}">
                <a16:creationId xmlns:a16="http://schemas.microsoft.com/office/drawing/2014/main" id="{8FCC8167-09F9-D72E-655D-64C74C319AE4}"/>
              </a:ext>
            </a:extLst>
          </p:cNvPr>
          <p:cNvSpPr/>
          <p:nvPr/>
        </p:nvSpPr>
        <p:spPr>
          <a:xfrm>
            <a:off x="508000" y="4627880"/>
            <a:ext cx="11176000" cy="1744980"/>
          </a:xfrm>
          <a:prstGeom prst="rect">
            <a:avLst/>
          </a:prstGeom>
          <a:solidFill>
            <a:srgbClr val="F2F6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00BAC79-B5FE-A21E-B6A3-F8F9564CEA39}"/>
              </a:ext>
            </a:extLst>
          </p:cNvPr>
          <p:cNvSpPr txBox="1"/>
          <p:nvPr/>
        </p:nvSpPr>
        <p:spPr>
          <a:xfrm>
            <a:off x="698500" y="4729480"/>
            <a:ext cx="10795000" cy="200055"/>
          </a:xfrm>
          <a:prstGeom prst="rect">
            <a:avLst/>
          </a:prstGeom>
          <a:noFill/>
        </p:spPr>
        <p:txBody>
          <a:bodyPr vert="horz" wrap="square" lIns="0" tIns="0" rIns="0" bIns="0" rtlCol="0">
            <a:spAutoFit/>
          </a:bodyPr>
          <a:lstStyle/>
          <a:p>
            <a:pPr>
              <a:spcAft>
                <a:spcPts val="1000"/>
              </a:spcAft>
            </a:pPr>
            <a:r>
              <a:rPr lang="en-US" sz="1300" b="1">
                <a:solidFill>
                  <a:srgbClr val="007983"/>
                </a:solidFill>
                <a:latin typeface="Aptos" panose="020B0004020202020204" pitchFamily="34" charset="0"/>
              </a:rPr>
              <a:t>cpp/tracker.cpp - Tracker::summarize excerpt</a:t>
            </a:r>
          </a:p>
        </p:txBody>
      </p:sp>
      <p:sp>
        <p:nvSpPr>
          <p:cNvPr id="11" name="TextBox 10">
            <a:extLst>
              <a:ext uri="{FF2B5EF4-FFF2-40B4-BE49-F238E27FC236}">
                <a16:creationId xmlns:a16="http://schemas.microsoft.com/office/drawing/2014/main" id="{386E1144-0AFE-8C75-FC40-D3687D5CE698}"/>
              </a:ext>
            </a:extLst>
          </p:cNvPr>
          <p:cNvSpPr txBox="1"/>
          <p:nvPr/>
        </p:nvSpPr>
        <p:spPr>
          <a:xfrm>
            <a:off x="698500" y="4996180"/>
            <a:ext cx="10795000" cy="1346522"/>
          </a:xfrm>
          <a:prstGeom prst="rect">
            <a:avLst/>
          </a:prstGeom>
          <a:noFill/>
        </p:spPr>
        <p:txBody>
          <a:bodyPr vert="horz" wrap="square" lIns="0" tIns="0" rIns="0" bIns="0" rtlCol="0">
            <a:spAutoFit/>
          </a:bodyPr>
          <a:lstStyle/>
          <a:p>
            <a:r>
              <a:rPr lang="en-US" sz="1250">
                <a:solidFill>
                  <a:srgbClr val="15283E"/>
                </a:solidFill>
                <a:latin typeface="Consolas" panose="020B0609020204030204" pitchFamily="49" charset="0"/>
              </a:rPr>
              <a:t>    Summary summary;
    for (const auto&amp; record : select(filters)) {
        auto&amp; category_total = summary.by_category[record.category];
        category_total = checked_add(category_total, record.amount_cents);
        summary.overall = checked_add(summary.overall, record.amount_cents);
    }
    return summary;</a:t>
            </a:r>
          </a:p>
        </p:txBody>
      </p:sp>
      <p:sp>
        <p:nvSpPr>
          <p:cNvPr id="12" name="TextBox 11">
            <a:extLst>
              <a:ext uri="{FF2B5EF4-FFF2-40B4-BE49-F238E27FC236}">
                <a16:creationId xmlns:a16="http://schemas.microsoft.com/office/drawing/2014/main" id="{9B9A8F2F-859F-3AB2-7D87-626B42C254F6}"/>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13" name="TextBox 12">
            <a:extLst>
              <a:ext uri="{FF2B5EF4-FFF2-40B4-BE49-F238E27FC236}">
                <a16:creationId xmlns:a16="http://schemas.microsoft.com/office/drawing/2014/main" id="{6BB26AE0-2CA1-AAC2-EA35-0CD4BFE49388}"/>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9 / 17</a:t>
            </a:r>
          </a:p>
        </p:txBody>
      </p:sp>
    </p:spTree>
    <p:extLst>
      <p:ext uri="{BB962C8B-B14F-4D97-AF65-F5344CB8AC3E}">
        <p14:creationId xmlns:p14="http://schemas.microsoft.com/office/powerpoint/2010/main" val="17120879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9ED5FC-D8BC-343D-20A5-B47FA1EDA3B2}"/>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FABA3FA-4CCC-35A1-1DE4-47C0EDBB18CF}"/>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Resource ownership: context managers and RAII</a:t>
            </a:r>
          </a:p>
        </p:txBody>
      </p:sp>
      <p:sp>
        <p:nvSpPr>
          <p:cNvPr id="4" name="TextBox 3">
            <a:extLst>
              <a:ext uri="{FF2B5EF4-FFF2-40B4-BE49-F238E27FC236}">
                <a16:creationId xmlns:a16="http://schemas.microsoft.com/office/drawing/2014/main" id="{FB76F307-C6A6-0B10-9935-9898969340A8}"/>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fi-FI" sz="1200">
                <a:solidFill>
                  <a:srgbClr val="515E6C"/>
                </a:solidFill>
                <a:latin typeface="Aptos" panose="020B0004020202020204" pitchFamily="34" charset="0"/>
              </a:rPr>
              <a:t>Venkata Sai Makani | 1.17 min</a:t>
            </a:r>
            <a:endParaRPr lang="en-US" sz="1200">
              <a:solidFill>
                <a:srgbClr val="515E6C"/>
              </a:solidFill>
              <a:latin typeface="Aptos" panose="020B0004020202020204" pitchFamily="34" charset="0"/>
            </a:endParaRPr>
          </a:p>
        </p:txBody>
      </p:sp>
      <p:sp>
        <p:nvSpPr>
          <p:cNvPr id="5" name="TextBox 4">
            <a:extLst>
              <a:ext uri="{FF2B5EF4-FFF2-40B4-BE49-F238E27FC236}">
                <a16:creationId xmlns:a16="http://schemas.microsoft.com/office/drawing/2014/main" id="{6EEB01D5-97D5-DAE8-4B25-58530A91E907}"/>
              </a:ext>
            </a:extLst>
          </p:cNvPr>
          <p:cNvSpPr txBox="1"/>
          <p:nvPr/>
        </p:nvSpPr>
        <p:spPr>
          <a:xfrm>
            <a:off x="508000" y="1663700"/>
            <a:ext cx="11176000" cy="877163"/>
          </a:xfrm>
          <a:prstGeom prst="rect">
            <a:avLst/>
          </a:prstGeom>
          <a:noFill/>
        </p:spPr>
        <p:txBody>
          <a:bodyPr vert="horz" wrap="square" lIns="0" tIns="0" rIns="0" bIns="0" rtlCol="0">
            <a:spAutoFit/>
          </a:bodyPr>
          <a:lstStyle/>
          <a:p>
            <a:pPr>
              <a:spcAft>
                <a:spcPts val="1000"/>
              </a:spcAft>
            </a:pPr>
            <a:r>
              <a:rPr lang="en-US" sz="1900">
                <a:solidFill>
                  <a:srgbClr val="515E6C"/>
                </a:solidFill>
                <a:latin typeface="Aptos" panose="020B0004020202020204" pitchFamily="34" charset="0"/>
              </a:rPr>
              <a:t>Python with closes files; try/finally removes temporary files • C++ streams and a temporary-file destructor release resources on scope exit • std::vector and std::string own allocations without manual new/delete • Successful writes replace the target; atomic replacement is not writer locking</a:t>
            </a:r>
          </a:p>
        </p:txBody>
      </p:sp>
      <p:sp>
        <p:nvSpPr>
          <p:cNvPr id="6" name="Rectangle 5">
            <a:extLst>
              <a:ext uri="{FF2B5EF4-FFF2-40B4-BE49-F238E27FC236}">
                <a16:creationId xmlns:a16="http://schemas.microsoft.com/office/drawing/2014/main" id="{DE73CEAB-FEAF-FDCE-7DAF-737B27FE469C}"/>
              </a:ext>
            </a:extLst>
          </p:cNvPr>
          <p:cNvSpPr/>
          <p:nvPr/>
        </p:nvSpPr>
        <p:spPr>
          <a:xfrm>
            <a:off x="508000" y="2819400"/>
            <a:ext cx="11176000" cy="779780"/>
          </a:xfrm>
          <a:prstGeom prst="rect">
            <a:avLst/>
          </a:prstGeom>
          <a:solidFill>
            <a:srgbClr val="F2F6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D5EDE240-0DD6-05C6-54CB-C82C25130956}"/>
              </a:ext>
            </a:extLst>
          </p:cNvPr>
          <p:cNvSpPr txBox="1"/>
          <p:nvPr/>
        </p:nvSpPr>
        <p:spPr>
          <a:xfrm>
            <a:off x="698500" y="2921000"/>
            <a:ext cx="10795000" cy="200055"/>
          </a:xfrm>
          <a:prstGeom prst="rect">
            <a:avLst/>
          </a:prstGeom>
          <a:noFill/>
        </p:spPr>
        <p:txBody>
          <a:bodyPr vert="horz" wrap="square" lIns="0" tIns="0" rIns="0" bIns="0" rtlCol="0">
            <a:spAutoFit/>
          </a:bodyPr>
          <a:lstStyle/>
          <a:p>
            <a:pPr>
              <a:spcAft>
                <a:spcPts val="1000"/>
              </a:spcAft>
            </a:pPr>
            <a:r>
              <a:rPr lang="en-US" sz="1300" b="1">
                <a:solidFill>
                  <a:srgbClr val="007983"/>
                </a:solidFill>
                <a:latin typeface="Aptos" panose="020B0004020202020204" pitchFamily="34" charset="0"/>
              </a:rPr>
              <a:t>python/tracker.py - load_expenses excerpt</a:t>
            </a:r>
          </a:p>
        </p:txBody>
      </p:sp>
      <p:sp>
        <p:nvSpPr>
          <p:cNvPr id="8" name="TextBox 7">
            <a:extLst>
              <a:ext uri="{FF2B5EF4-FFF2-40B4-BE49-F238E27FC236}">
                <a16:creationId xmlns:a16="http://schemas.microsoft.com/office/drawing/2014/main" id="{D136366D-FBFA-350D-40AD-C65D48B7A9E5}"/>
              </a:ext>
            </a:extLst>
          </p:cNvPr>
          <p:cNvSpPr txBox="1"/>
          <p:nvPr/>
        </p:nvSpPr>
        <p:spPr>
          <a:xfrm>
            <a:off x="698500" y="3187700"/>
            <a:ext cx="10795000" cy="384721"/>
          </a:xfrm>
          <a:prstGeom prst="rect">
            <a:avLst/>
          </a:prstGeom>
          <a:noFill/>
        </p:spPr>
        <p:txBody>
          <a:bodyPr vert="horz" wrap="square" lIns="0" tIns="0" rIns="0" bIns="0" rtlCol="0">
            <a:spAutoFit/>
          </a:bodyPr>
          <a:lstStyle/>
          <a:p>
            <a:r>
              <a:rPr lang="en-US" sz="1250">
                <a:solidFill>
                  <a:srgbClr val="15283E"/>
                </a:solidFill>
                <a:latin typeface="Consolas" panose="020B0609020204030204" pitchFamily="49" charset="0"/>
              </a:rPr>
              <a:t>        with path.open("r", encoding="utf-8", newline="") as source:
            reader = csv.reader(checked_csv_lines(source), strict=True)</a:t>
            </a:r>
          </a:p>
        </p:txBody>
      </p:sp>
      <p:sp>
        <p:nvSpPr>
          <p:cNvPr id="9" name="Rectangle 8">
            <a:extLst>
              <a:ext uri="{FF2B5EF4-FFF2-40B4-BE49-F238E27FC236}">
                <a16:creationId xmlns:a16="http://schemas.microsoft.com/office/drawing/2014/main" id="{90290779-8F35-3185-B605-7B6016A16C80}"/>
              </a:ext>
            </a:extLst>
          </p:cNvPr>
          <p:cNvSpPr/>
          <p:nvPr/>
        </p:nvSpPr>
        <p:spPr>
          <a:xfrm>
            <a:off x="508000" y="3662680"/>
            <a:ext cx="11176000" cy="1551940"/>
          </a:xfrm>
          <a:prstGeom prst="rect">
            <a:avLst/>
          </a:prstGeom>
          <a:solidFill>
            <a:srgbClr val="F2F6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2B820C3-13C1-F3F1-CACD-EECCE3DB6452}"/>
              </a:ext>
            </a:extLst>
          </p:cNvPr>
          <p:cNvSpPr txBox="1"/>
          <p:nvPr/>
        </p:nvSpPr>
        <p:spPr>
          <a:xfrm>
            <a:off x="698500" y="3764280"/>
            <a:ext cx="10795000" cy="200055"/>
          </a:xfrm>
          <a:prstGeom prst="rect">
            <a:avLst/>
          </a:prstGeom>
          <a:noFill/>
        </p:spPr>
        <p:txBody>
          <a:bodyPr vert="horz" wrap="square" lIns="0" tIns="0" rIns="0" bIns="0" rtlCol="0">
            <a:spAutoFit/>
          </a:bodyPr>
          <a:lstStyle/>
          <a:p>
            <a:pPr>
              <a:spcAft>
                <a:spcPts val="1000"/>
              </a:spcAft>
            </a:pPr>
            <a:r>
              <a:rPr lang="en-US" sz="1300" b="1">
                <a:solidFill>
                  <a:srgbClr val="007983"/>
                </a:solidFill>
                <a:latin typeface="Aptos" panose="020B0004020202020204" pitchFamily="34" charset="0"/>
              </a:rPr>
              <a:t>cpp/tracker.cpp - TemporaryFile destructor</a:t>
            </a:r>
          </a:p>
        </p:txBody>
      </p:sp>
      <p:sp>
        <p:nvSpPr>
          <p:cNvPr id="11" name="TextBox 10">
            <a:extLst>
              <a:ext uri="{FF2B5EF4-FFF2-40B4-BE49-F238E27FC236}">
                <a16:creationId xmlns:a16="http://schemas.microsoft.com/office/drawing/2014/main" id="{52FA57E6-326F-C16F-0A9C-D89D5D0C1A75}"/>
              </a:ext>
            </a:extLst>
          </p:cNvPr>
          <p:cNvSpPr txBox="1"/>
          <p:nvPr/>
        </p:nvSpPr>
        <p:spPr>
          <a:xfrm>
            <a:off x="698500" y="4030980"/>
            <a:ext cx="10795000" cy="1154162"/>
          </a:xfrm>
          <a:prstGeom prst="rect">
            <a:avLst/>
          </a:prstGeom>
          <a:noFill/>
        </p:spPr>
        <p:txBody>
          <a:bodyPr vert="horz" wrap="square" lIns="0" tIns="0" rIns="0" bIns="0" rtlCol="0">
            <a:spAutoFit/>
          </a:bodyPr>
          <a:lstStyle/>
          <a:p>
            <a:r>
              <a:rPr lang="en-US" sz="1250">
                <a:solidFill>
                  <a:srgbClr val="15283E"/>
                </a:solidFill>
                <a:latin typeface="Consolas" panose="020B0609020204030204" pitchFamily="49" charset="0"/>
              </a:rPr>
              <a:t>    ~TemporaryFile() {
        if (active_) {
            std::error_code ignored;
            std::filesystem::remove(path_, ignored);
        }
    }</a:t>
            </a:r>
          </a:p>
        </p:txBody>
      </p:sp>
      <p:sp>
        <p:nvSpPr>
          <p:cNvPr id="12" name="TextBox 11">
            <a:extLst>
              <a:ext uri="{FF2B5EF4-FFF2-40B4-BE49-F238E27FC236}">
                <a16:creationId xmlns:a16="http://schemas.microsoft.com/office/drawing/2014/main" id="{409E4030-C379-F861-526F-0632AACDCFC3}"/>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13" name="TextBox 12">
            <a:extLst>
              <a:ext uri="{FF2B5EF4-FFF2-40B4-BE49-F238E27FC236}">
                <a16:creationId xmlns:a16="http://schemas.microsoft.com/office/drawing/2014/main" id="{F0FE978D-04C6-6ECA-A015-A63707D6F62F}"/>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10 / 17</a:t>
            </a:r>
          </a:p>
        </p:txBody>
      </p:sp>
    </p:spTree>
    <p:extLst>
      <p:ext uri="{BB962C8B-B14F-4D97-AF65-F5344CB8AC3E}">
        <p14:creationId xmlns:p14="http://schemas.microsoft.com/office/powerpoint/2010/main" val="39800611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841ACFA-140E-B342-C1D0-98F40DB0755E}"/>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EAAE63F5-FC93-B34A-FC9E-9C5C4BBFADDE}"/>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Error handling protects the user and stored data</a:t>
            </a:r>
          </a:p>
        </p:txBody>
      </p:sp>
      <p:sp>
        <p:nvSpPr>
          <p:cNvPr id="4" name="TextBox 3">
            <a:extLst>
              <a:ext uri="{FF2B5EF4-FFF2-40B4-BE49-F238E27FC236}">
                <a16:creationId xmlns:a16="http://schemas.microsoft.com/office/drawing/2014/main" id="{746D72F4-E932-EEBA-EC85-E84E17C830E8}"/>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Prateek Sahay | 1.08 min</a:t>
            </a:r>
          </a:p>
        </p:txBody>
      </p:sp>
      <p:sp>
        <p:nvSpPr>
          <p:cNvPr id="5" name="TextBox 4">
            <a:extLst>
              <a:ext uri="{FF2B5EF4-FFF2-40B4-BE49-F238E27FC236}">
                <a16:creationId xmlns:a16="http://schemas.microsoft.com/office/drawing/2014/main" id="{661297C5-AF33-4C06-E0EA-0E93C5EE6002}"/>
              </a:ext>
            </a:extLst>
          </p:cNvPr>
          <p:cNvSpPr txBox="1"/>
          <p:nvPr/>
        </p:nvSpPr>
        <p:spPr>
          <a:xfrm>
            <a:off x="508000" y="1663700"/>
            <a:ext cx="11176000" cy="877163"/>
          </a:xfrm>
          <a:prstGeom prst="rect">
            <a:avLst/>
          </a:prstGeom>
          <a:noFill/>
        </p:spPr>
        <p:txBody>
          <a:bodyPr vert="horz" wrap="square" lIns="0" tIns="0" rIns="0" bIns="0" rtlCol="0">
            <a:spAutoFit/>
          </a:bodyPr>
          <a:lstStyle/>
          <a:p>
            <a:pPr>
              <a:spcAft>
                <a:spcPts val="1000"/>
              </a:spcAft>
            </a:pPr>
            <a:r>
              <a:rPr lang="en-US" sz="1900">
                <a:solidFill>
                  <a:srgbClr val="515E6C"/>
                </a:solidFill>
                <a:latin typeface="Aptos" panose="020B0004020202020204" pitchFamily="34" charset="0"/>
              </a:rPr>
              <a:t>Python raises TrackerError; C++ throws runtime_error at validation boundaries • Both interfaces print Error: ... to stderr and return exit code 2 • Reject invalid dates, signs/exponents, duplicate flags/IDs, and malformed CSV • Complete validation happens before saving a changed file</a:t>
            </a:r>
          </a:p>
        </p:txBody>
      </p:sp>
      <p:sp>
        <p:nvSpPr>
          <p:cNvPr id="6" name="Rectangle 5">
            <a:extLst>
              <a:ext uri="{FF2B5EF4-FFF2-40B4-BE49-F238E27FC236}">
                <a16:creationId xmlns:a16="http://schemas.microsoft.com/office/drawing/2014/main" id="{BF89BCBC-2029-8B11-B1A5-556BBCEBC7B9}"/>
              </a:ext>
            </a:extLst>
          </p:cNvPr>
          <p:cNvSpPr/>
          <p:nvPr/>
        </p:nvSpPr>
        <p:spPr>
          <a:xfrm>
            <a:off x="508000" y="2819400"/>
            <a:ext cx="11176000" cy="972820"/>
          </a:xfrm>
          <a:prstGeom prst="rect">
            <a:avLst/>
          </a:prstGeom>
          <a:solidFill>
            <a:srgbClr val="F2F6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44F08DF-6CFB-874D-E9B8-606D547A5795}"/>
              </a:ext>
            </a:extLst>
          </p:cNvPr>
          <p:cNvSpPr txBox="1"/>
          <p:nvPr/>
        </p:nvSpPr>
        <p:spPr>
          <a:xfrm>
            <a:off x="698500" y="2921000"/>
            <a:ext cx="10795000" cy="200055"/>
          </a:xfrm>
          <a:prstGeom prst="rect">
            <a:avLst/>
          </a:prstGeom>
          <a:noFill/>
        </p:spPr>
        <p:txBody>
          <a:bodyPr vert="horz" wrap="square" lIns="0" tIns="0" rIns="0" bIns="0" rtlCol="0">
            <a:spAutoFit/>
          </a:bodyPr>
          <a:lstStyle/>
          <a:p>
            <a:pPr>
              <a:spcAft>
                <a:spcPts val="1000"/>
              </a:spcAft>
            </a:pPr>
            <a:r>
              <a:rPr lang="en-US" sz="1300" b="1">
                <a:solidFill>
                  <a:srgbClr val="007983"/>
                </a:solidFill>
                <a:latin typeface="Aptos" panose="020B0004020202020204" pitchFamily="34" charset="0"/>
              </a:rPr>
              <a:t>python/main.py - main error boundary</a:t>
            </a:r>
          </a:p>
        </p:txBody>
      </p:sp>
      <p:sp>
        <p:nvSpPr>
          <p:cNvPr id="8" name="TextBox 7">
            <a:extLst>
              <a:ext uri="{FF2B5EF4-FFF2-40B4-BE49-F238E27FC236}">
                <a16:creationId xmlns:a16="http://schemas.microsoft.com/office/drawing/2014/main" id="{659528CF-E2A3-DA5C-4F84-1310875359A4}"/>
              </a:ext>
            </a:extLst>
          </p:cNvPr>
          <p:cNvSpPr txBox="1"/>
          <p:nvPr/>
        </p:nvSpPr>
        <p:spPr>
          <a:xfrm>
            <a:off x="698500" y="3187700"/>
            <a:ext cx="10795000" cy="577081"/>
          </a:xfrm>
          <a:prstGeom prst="rect">
            <a:avLst/>
          </a:prstGeom>
          <a:noFill/>
        </p:spPr>
        <p:txBody>
          <a:bodyPr vert="horz" wrap="square" lIns="0" tIns="0" rIns="0" bIns="0" rtlCol="0">
            <a:spAutoFit/>
          </a:bodyPr>
          <a:lstStyle/>
          <a:p>
            <a:r>
              <a:rPr lang="en-US" sz="1250">
                <a:solidFill>
                  <a:srgbClr val="15283E"/>
                </a:solidFill>
                <a:latin typeface="Consolas" panose="020B0609020204030204" pitchFamily="49" charset="0"/>
              </a:rPr>
              <a:t>    except TrackerError as exc:
        print(f"Error: {exc}", file=sys.stderr)
        return 2</a:t>
            </a:r>
          </a:p>
        </p:txBody>
      </p:sp>
      <p:sp>
        <p:nvSpPr>
          <p:cNvPr id="9" name="Rectangle 8">
            <a:extLst>
              <a:ext uri="{FF2B5EF4-FFF2-40B4-BE49-F238E27FC236}">
                <a16:creationId xmlns:a16="http://schemas.microsoft.com/office/drawing/2014/main" id="{0D8E1A9F-8B73-4602-6574-7015B896FD2F}"/>
              </a:ext>
            </a:extLst>
          </p:cNvPr>
          <p:cNvSpPr/>
          <p:nvPr/>
        </p:nvSpPr>
        <p:spPr>
          <a:xfrm>
            <a:off x="508000" y="3855720"/>
            <a:ext cx="11176000" cy="1165860"/>
          </a:xfrm>
          <a:prstGeom prst="rect">
            <a:avLst/>
          </a:prstGeom>
          <a:solidFill>
            <a:srgbClr val="F2F6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5A4EA78-66BC-FF92-C448-C4A5B194BA96}"/>
              </a:ext>
            </a:extLst>
          </p:cNvPr>
          <p:cNvSpPr txBox="1"/>
          <p:nvPr/>
        </p:nvSpPr>
        <p:spPr>
          <a:xfrm>
            <a:off x="698500" y="3957320"/>
            <a:ext cx="10795000" cy="200055"/>
          </a:xfrm>
          <a:prstGeom prst="rect">
            <a:avLst/>
          </a:prstGeom>
          <a:noFill/>
        </p:spPr>
        <p:txBody>
          <a:bodyPr vert="horz" wrap="square" lIns="0" tIns="0" rIns="0" bIns="0" rtlCol="0">
            <a:spAutoFit/>
          </a:bodyPr>
          <a:lstStyle/>
          <a:p>
            <a:pPr>
              <a:spcAft>
                <a:spcPts val="1000"/>
              </a:spcAft>
            </a:pPr>
            <a:r>
              <a:rPr lang="en-US" sz="1300" b="1">
                <a:solidFill>
                  <a:srgbClr val="007983"/>
                </a:solidFill>
                <a:latin typeface="Aptos" panose="020B0004020202020204" pitchFamily="34" charset="0"/>
              </a:rPr>
              <a:t>cpp/main.cpp - main error boundary</a:t>
            </a:r>
          </a:p>
        </p:txBody>
      </p:sp>
      <p:sp>
        <p:nvSpPr>
          <p:cNvPr id="11" name="TextBox 10">
            <a:extLst>
              <a:ext uri="{FF2B5EF4-FFF2-40B4-BE49-F238E27FC236}">
                <a16:creationId xmlns:a16="http://schemas.microsoft.com/office/drawing/2014/main" id="{08B88D45-C33B-EC99-384D-30FFCCF0A28C}"/>
              </a:ext>
            </a:extLst>
          </p:cNvPr>
          <p:cNvSpPr txBox="1"/>
          <p:nvPr/>
        </p:nvSpPr>
        <p:spPr>
          <a:xfrm>
            <a:off x="698500" y="4224020"/>
            <a:ext cx="10795000" cy="769441"/>
          </a:xfrm>
          <a:prstGeom prst="rect">
            <a:avLst/>
          </a:prstGeom>
          <a:noFill/>
        </p:spPr>
        <p:txBody>
          <a:bodyPr vert="horz" wrap="square" lIns="0" tIns="0" rIns="0" bIns="0" rtlCol="0">
            <a:spAutoFit/>
          </a:bodyPr>
          <a:lstStyle/>
          <a:p>
            <a:r>
              <a:rPr lang="en-US" sz="1250">
                <a:solidFill>
                  <a:srgbClr val="15283E"/>
                </a:solidFill>
                <a:latin typeface="Consolas" panose="020B0609020204030204" pitchFamily="49" charset="0"/>
              </a:rPr>
              <a:t>    } catch (const std::exception&amp; exception) {
        std::cerr &lt;&lt; "Error: " &lt;&lt; exception.what() &lt;&lt; '\n';
        return 2;
    }</a:t>
            </a:r>
          </a:p>
        </p:txBody>
      </p:sp>
      <p:sp>
        <p:nvSpPr>
          <p:cNvPr id="12" name="TextBox 11">
            <a:extLst>
              <a:ext uri="{FF2B5EF4-FFF2-40B4-BE49-F238E27FC236}">
                <a16:creationId xmlns:a16="http://schemas.microsoft.com/office/drawing/2014/main" id="{5CDDC272-1506-E82E-FD96-A75E7DA5D867}"/>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13" name="TextBox 12">
            <a:extLst>
              <a:ext uri="{FF2B5EF4-FFF2-40B4-BE49-F238E27FC236}">
                <a16:creationId xmlns:a16="http://schemas.microsoft.com/office/drawing/2014/main" id="{38E1CB7D-A6CA-FDEB-720D-83604991FBE9}"/>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11 / 17</a:t>
            </a:r>
          </a:p>
        </p:txBody>
      </p:sp>
    </p:spTree>
    <p:extLst>
      <p:ext uri="{BB962C8B-B14F-4D97-AF65-F5344CB8AC3E}">
        <p14:creationId xmlns:p14="http://schemas.microsoft.com/office/powerpoint/2010/main" val="37107882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20C46B6-CB2A-F331-29D7-CA4AE731D022}"/>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43B4F68-BB92-B33A-1E42-53BC41E1110C}"/>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Modularity and development workflow</a:t>
            </a:r>
          </a:p>
        </p:txBody>
      </p:sp>
      <p:sp>
        <p:nvSpPr>
          <p:cNvPr id="4" name="TextBox 3">
            <a:extLst>
              <a:ext uri="{FF2B5EF4-FFF2-40B4-BE49-F238E27FC236}">
                <a16:creationId xmlns:a16="http://schemas.microsoft.com/office/drawing/2014/main" id="{34FFD7F9-B681-63C4-FD30-610DCFC7DAD2}"/>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fi-FI" sz="1200">
                <a:solidFill>
                  <a:srgbClr val="515E6C"/>
                </a:solidFill>
                <a:latin typeface="Aptos" panose="020B0004020202020204" pitchFamily="34" charset="0"/>
              </a:rPr>
              <a:t>Venkata Sai Makani | 0.83 min</a:t>
            </a:r>
            <a:endParaRPr lang="en-US" sz="1200">
              <a:solidFill>
                <a:srgbClr val="515E6C"/>
              </a:solidFill>
              <a:latin typeface="Aptos" panose="020B0004020202020204" pitchFamily="34" charset="0"/>
            </a:endParaRPr>
          </a:p>
        </p:txBody>
      </p:sp>
      <p:sp>
        <p:nvSpPr>
          <p:cNvPr id="5" name="TextBox 4">
            <a:extLst>
              <a:ext uri="{FF2B5EF4-FFF2-40B4-BE49-F238E27FC236}">
                <a16:creationId xmlns:a16="http://schemas.microsoft.com/office/drawing/2014/main" id="{601A4E12-E6AA-8945-405B-617659387425}"/>
              </a:ext>
            </a:extLst>
          </p:cNvPr>
          <p:cNvSpPr txBox="1"/>
          <p:nvPr/>
        </p:nvSpPr>
        <p:spPr>
          <a:xfrm>
            <a:off x="508000" y="1663700"/>
            <a:ext cx="11176000" cy="877163"/>
          </a:xfrm>
          <a:prstGeom prst="rect">
            <a:avLst/>
          </a:prstGeom>
          <a:noFill/>
        </p:spPr>
        <p:txBody>
          <a:bodyPr vert="horz" wrap="square" lIns="0" tIns="0" rIns="0" bIns="0" rtlCol="0">
            <a:spAutoFit/>
          </a:bodyPr>
          <a:lstStyle/>
          <a:p>
            <a:pPr>
              <a:spcAft>
                <a:spcPts val="1000"/>
              </a:spcAft>
            </a:pPr>
            <a:r>
              <a:rPr lang="en-US" sz="1900">
                <a:solidFill>
                  <a:srgbClr val="515E6C"/>
                </a:solidFill>
                <a:latin typeface="Aptos" panose="020B0004020202020204" pitchFamily="34" charset="0"/>
              </a:rPr>
              <a:t>Python imports reusable core functions from a separate module • C++ separates the public interface in a header from its implementation • Python runs with an interpreter; C++ builds an executable with a C++17 compiler • Git branches, peer review, and CI support consistent requirements</a:t>
            </a:r>
          </a:p>
        </p:txBody>
      </p:sp>
      <p:sp>
        <p:nvSpPr>
          <p:cNvPr id="6" name="Rectangle 5">
            <a:extLst>
              <a:ext uri="{FF2B5EF4-FFF2-40B4-BE49-F238E27FC236}">
                <a16:creationId xmlns:a16="http://schemas.microsoft.com/office/drawing/2014/main" id="{DF2847E4-78C6-DBD7-61B7-6182DE17C5F1}"/>
              </a:ext>
            </a:extLst>
          </p:cNvPr>
          <p:cNvSpPr/>
          <p:nvPr/>
        </p:nvSpPr>
        <p:spPr>
          <a:xfrm>
            <a:off x="508000" y="2819400"/>
            <a:ext cx="11176000" cy="1165860"/>
          </a:xfrm>
          <a:prstGeom prst="rect">
            <a:avLst/>
          </a:prstGeom>
          <a:solidFill>
            <a:srgbClr val="F2F6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A2F32DA-DEED-61FB-AA0F-1E759A0919B9}"/>
              </a:ext>
            </a:extLst>
          </p:cNvPr>
          <p:cNvSpPr txBox="1"/>
          <p:nvPr/>
        </p:nvSpPr>
        <p:spPr>
          <a:xfrm>
            <a:off x="698500" y="2921000"/>
            <a:ext cx="10795000" cy="200055"/>
          </a:xfrm>
          <a:prstGeom prst="rect">
            <a:avLst/>
          </a:prstGeom>
          <a:noFill/>
        </p:spPr>
        <p:txBody>
          <a:bodyPr vert="horz" wrap="square" lIns="0" tIns="0" rIns="0" bIns="0" rtlCol="0">
            <a:spAutoFit/>
          </a:bodyPr>
          <a:lstStyle/>
          <a:p>
            <a:pPr>
              <a:spcAft>
                <a:spcPts val="1000"/>
              </a:spcAft>
            </a:pPr>
            <a:r>
              <a:rPr lang="en-US" sz="1300" b="1">
                <a:solidFill>
                  <a:srgbClr val="007983"/>
                </a:solidFill>
                <a:latin typeface="Aptos" panose="020B0004020202020204" pitchFamily="34" charset="0"/>
              </a:rPr>
              <a:t>python/main.py - imported core interface</a:t>
            </a:r>
          </a:p>
        </p:txBody>
      </p:sp>
      <p:sp>
        <p:nvSpPr>
          <p:cNvPr id="8" name="TextBox 7">
            <a:extLst>
              <a:ext uri="{FF2B5EF4-FFF2-40B4-BE49-F238E27FC236}">
                <a16:creationId xmlns:a16="http://schemas.microsoft.com/office/drawing/2014/main" id="{0E12D242-E426-54D6-9F86-06624577A219}"/>
              </a:ext>
            </a:extLst>
          </p:cNvPr>
          <p:cNvSpPr txBox="1"/>
          <p:nvPr/>
        </p:nvSpPr>
        <p:spPr>
          <a:xfrm>
            <a:off x="698500" y="3187700"/>
            <a:ext cx="10795000" cy="769441"/>
          </a:xfrm>
          <a:prstGeom prst="rect">
            <a:avLst/>
          </a:prstGeom>
          <a:noFill/>
        </p:spPr>
        <p:txBody>
          <a:bodyPr vert="horz" wrap="square" lIns="0" tIns="0" rIns="0" bIns="0" rtlCol="0">
            <a:spAutoFit/>
          </a:bodyPr>
          <a:lstStyle/>
          <a:p>
            <a:r>
              <a:rPr lang="en-US" sz="1250">
                <a:solidFill>
                  <a:srgbClr val="15283E"/>
                </a:solidFill>
                <a:latin typeface="Consolas" panose="020B0609020204030204" pitchFamily="49" charset="0"/>
              </a:rPr>
              <a:t>from tracker import (
    TrackerError, add_expense, delete_expense, filter_expenses,
    format_amount, load_expenses, save_expenses, summarize,
)</a:t>
            </a:r>
          </a:p>
        </p:txBody>
      </p:sp>
      <p:sp>
        <p:nvSpPr>
          <p:cNvPr id="9" name="Rectangle 8">
            <a:extLst>
              <a:ext uri="{FF2B5EF4-FFF2-40B4-BE49-F238E27FC236}">
                <a16:creationId xmlns:a16="http://schemas.microsoft.com/office/drawing/2014/main" id="{88BC5642-A77F-2B33-1E44-546924E85510}"/>
              </a:ext>
            </a:extLst>
          </p:cNvPr>
          <p:cNvSpPr/>
          <p:nvPr/>
        </p:nvSpPr>
        <p:spPr>
          <a:xfrm>
            <a:off x="508000" y="4048760"/>
            <a:ext cx="11176000" cy="1551940"/>
          </a:xfrm>
          <a:prstGeom prst="rect">
            <a:avLst/>
          </a:prstGeom>
          <a:solidFill>
            <a:srgbClr val="F2F6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2D4E1FA-60DD-7AC0-8994-AADFCB554C7F}"/>
              </a:ext>
            </a:extLst>
          </p:cNvPr>
          <p:cNvSpPr txBox="1"/>
          <p:nvPr/>
        </p:nvSpPr>
        <p:spPr>
          <a:xfrm>
            <a:off x="698500" y="4150360"/>
            <a:ext cx="10795000" cy="200055"/>
          </a:xfrm>
          <a:prstGeom prst="rect">
            <a:avLst/>
          </a:prstGeom>
          <a:noFill/>
        </p:spPr>
        <p:txBody>
          <a:bodyPr vert="horz" wrap="square" lIns="0" tIns="0" rIns="0" bIns="0" rtlCol="0">
            <a:spAutoFit/>
          </a:bodyPr>
          <a:lstStyle/>
          <a:p>
            <a:pPr>
              <a:spcAft>
                <a:spcPts val="1000"/>
              </a:spcAft>
            </a:pPr>
            <a:r>
              <a:rPr lang="en-US" sz="1300" b="1">
                <a:solidFill>
                  <a:srgbClr val="007983"/>
                </a:solidFill>
                <a:latin typeface="Aptos" panose="020B0004020202020204" pitchFamily="34" charset="0"/>
              </a:rPr>
              <a:t>cpp/tracker.hpp - Tracker public API excerpt</a:t>
            </a:r>
          </a:p>
        </p:txBody>
      </p:sp>
      <p:sp>
        <p:nvSpPr>
          <p:cNvPr id="11" name="TextBox 10">
            <a:extLst>
              <a:ext uri="{FF2B5EF4-FFF2-40B4-BE49-F238E27FC236}">
                <a16:creationId xmlns:a16="http://schemas.microsoft.com/office/drawing/2014/main" id="{28F68D05-7F96-DC55-BA6F-C207E67F7D2B}"/>
              </a:ext>
            </a:extLst>
          </p:cNvPr>
          <p:cNvSpPr txBox="1"/>
          <p:nvPr/>
        </p:nvSpPr>
        <p:spPr>
          <a:xfrm>
            <a:off x="698500" y="4417060"/>
            <a:ext cx="10795000" cy="1154162"/>
          </a:xfrm>
          <a:prstGeom prst="rect">
            <a:avLst/>
          </a:prstGeom>
          <a:noFill/>
        </p:spPr>
        <p:txBody>
          <a:bodyPr vert="horz" wrap="square" lIns="0" tIns="0" rIns="0" bIns="0" rtlCol="0">
            <a:spAutoFit/>
          </a:bodyPr>
          <a:lstStyle/>
          <a:p>
            <a:r>
              <a:rPr lang="en-US" sz="1250">
                <a:solidFill>
                  <a:srgbClr val="15283E"/>
                </a:solidFill>
                <a:latin typeface="Consolas" panose="020B0609020204030204" pitchFamily="49" charset="0"/>
              </a:rPr>
              <a:t>class Tracker {
public:
    static Tracker load(const std::filesystem::path&amp; file);
    std::int32_t add(const std::string&amp; date, const std::string&amp; amount,
                     const std::string&amp; category, const std::string&amp; description);</a:t>
            </a:r>
          </a:p>
        </p:txBody>
      </p:sp>
      <p:sp>
        <p:nvSpPr>
          <p:cNvPr id="12" name="TextBox 11">
            <a:extLst>
              <a:ext uri="{FF2B5EF4-FFF2-40B4-BE49-F238E27FC236}">
                <a16:creationId xmlns:a16="http://schemas.microsoft.com/office/drawing/2014/main" id="{8DF3A530-909D-7081-72F6-1947FC27AD63}"/>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13" name="TextBox 12">
            <a:extLst>
              <a:ext uri="{FF2B5EF4-FFF2-40B4-BE49-F238E27FC236}">
                <a16:creationId xmlns:a16="http://schemas.microsoft.com/office/drawing/2014/main" id="{9065E33F-7ECF-5B11-C97C-EE63E219D839}"/>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12 / 17</a:t>
            </a:r>
          </a:p>
        </p:txBody>
      </p:sp>
    </p:spTree>
    <p:extLst>
      <p:ext uri="{BB962C8B-B14F-4D97-AF65-F5344CB8AC3E}">
        <p14:creationId xmlns:p14="http://schemas.microsoft.com/office/powerpoint/2010/main" val="1308750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ACF9D30-C241-6CF6-7765-F68A428D8561}"/>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978F656-C997-11E1-74B2-34CF8AC0D62E}"/>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Paradigms appear in the actual code</a:t>
            </a:r>
          </a:p>
        </p:txBody>
      </p:sp>
      <p:sp>
        <p:nvSpPr>
          <p:cNvPr id="4" name="TextBox 3">
            <a:extLst>
              <a:ext uri="{FF2B5EF4-FFF2-40B4-BE49-F238E27FC236}">
                <a16:creationId xmlns:a16="http://schemas.microsoft.com/office/drawing/2014/main" id="{FEA29F65-BA6F-9C43-5690-E706421FEBF4}"/>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Prateek Sahay | 1.08 min</a:t>
            </a:r>
          </a:p>
        </p:txBody>
      </p:sp>
      <p:sp>
        <p:nvSpPr>
          <p:cNvPr id="5" name="TextBox 4">
            <a:extLst>
              <a:ext uri="{FF2B5EF4-FFF2-40B4-BE49-F238E27FC236}">
                <a16:creationId xmlns:a16="http://schemas.microsoft.com/office/drawing/2014/main" id="{23D69A50-1126-A4F0-3974-C2E4FA50FA68}"/>
              </a:ext>
            </a:extLst>
          </p:cNvPr>
          <p:cNvSpPr txBox="1"/>
          <p:nvPr/>
        </p:nvSpPr>
        <p:spPr>
          <a:xfrm>
            <a:off x="508000" y="1663700"/>
            <a:ext cx="11176000" cy="877163"/>
          </a:xfrm>
          <a:prstGeom prst="rect">
            <a:avLst/>
          </a:prstGeom>
          <a:noFill/>
        </p:spPr>
        <p:txBody>
          <a:bodyPr vert="horz" wrap="square" lIns="0" tIns="0" rIns="0" bIns="0" rtlCol="0">
            <a:spAutoFit/>
          </a:bodyPr>
          <a:lstStyle/>
          <a:p>
            <a:pPr>
              <a:spcAft>
                <a:spcPts val="1000"/>
              </a:spcAft>
            </a:pPr>
            <a:r>
              <a:rPr lang="en-US" sz="1900">
                <a:solidFill>
                  <a:srgbClr val="515E6C"/>
                </a:solidFill>
                <a:latin typeface="Aptos" panose="020B0004020202020204" pitchFamily="34" charset="0"/>
              </a:rPr>
              <a:t>Python combines procedural functions with declarative comprehensions • C++ combines encapsulated object state with generic STL algorithms • Both languages support several paradigms; these are project choices • Deletion shows explicit iteration versus a predicate-driven algorithm</a:t>
            </a:r>
          </a:p>
        </p:txBody>
      </p:sp>
      <p:sp>
        <p:nvSpPr>
          <p:cNvPr id="6" name="Rectangle 5">
            <a:extLst>
              <a:ext uri="{FF2B5EF4-FFF2-40B4-BE49-F238E27FC236}">
                <a16:creationId xmlns:a16="http://schemas.microsoft.com/office/drawing/2014/main" id="{1DCBB446-5D96-CE8C-0A5C-6CFE54DD32CA}"/>
              </a:ext>
            </a:extLst>
          </p:cNvPr>
          <p:cNvSpPr/>
          <p:nvPr/>
        </p:nvSpPr>
        <p:spPr>
          <a:xfrm>
            <a:off x="508000" y="2819400"/>
            <a:ext cx="11176000" cy="1358900"/>
          </a:xfrm>
          <a:prstGeom prst="rect">
            <a:avLst/>
          </a:prstGeom>
          <a:solidFill>
            <a:srgbClr val="F2F6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60A311D4-9F79-4A0B-3DE7-121F2B382852}"/>
              </a:ext>
            </a:extLst>
          </p:cNvPr>
          <p:cNvSpPr txBox="1"/>
          <p:nvPr/>
        </p:nvSpPr>
        <p:spPr>
          <a:xfrm>
            <a:off x="698500" y="2921000"/>
            <a:ext cx="10795000" cy="200055"/>
          </a:xfrm>
          <a:prstGeom prst="rect">
            <a:avLst/>
          </a:prstGeom>
          <a:noFill/>
        </p:spPr>
        <p:txBody>
          <a:bodyPr vert="horz" wrap="square" lIns="0" tIns="0" rIns="0" bIns="0" rtlCol="0">
            <a:spAutoFit/>
          </a:bodyPr>
          <a:lstStyle/>
          <a:p>
            <a:pPr>
              <a:spcAft>
                <a:spcPts val="1000"/>
              </a:spcAft>
            </a:pPr>
            <a:r>
              <a:rPr lang="en-US" sz="1300" b="1">
                <a:solidFill>
                  <a:srgbClr val="007983"/>
                </a:solidFill>
                <a:latin typeface="Aptos" panose="020B0004020202020204" pitchFamily="34" charset="0"/>
              </a:rPr>
              <a:t>python/tracker.py - delete_expense excerpt</a:t>
            </a:r>
          </a:p>
        </p:txBody>
      </p:sp>
      <p:sp>
        <p:nvSpPr>
          <p:cNvPr id="8" name="TextBox 7">
            <a:extLst>
              <a:ext uri="{FF2B5EF4-FFF2-40B4-BE49-F238E27FC236}">
                <a16:creationId xmlns:a16="http://schemas.microsoft.com/office/drawing/2014/main" id="{907FD0B1-1C64-B14F-21D3-D780E3F23261}"/>
              </a:ext>
            </a:extLst>
          </p:cNvPr>
          <p:cNvSpPr txBox="1"/>
          <p:nvPr/>
        </p:nvSpPr>
        <p:spPr>
          <a:xfrm>
            <a:off x="698500" y="3187700"/>
            <a:ext cx="10795000" cy="961802"/>
          </a:xfrm>
          <a:prstGeom prst="rect">
            <a:avLst/>
          </a:prstGeom>
          <a:noFill/>
        </p:spPr>
        <p:txBody>
          <a:bodyPr vert="horz" wrap="square" lIns="0" tIns="0" rIns="0" bIns="0" rtlCol="0">
            <a:spAutoFit/>
          </a:bodyPr>
          <a:lstStyle/>
          <a:p>
            <a:r>
              <a:rPr lang="en-US" sz="1250">
                <a:solidFill>
                  <a:srgbClr val="15283E"/>
                </a:solidFill>
                <a:latin typeface="Consolas" panose="020B0609020204030204" pitchFamily="49" charset="0"/>
              </a:rPr>
              <a:t>    for index, expense in enumerate(expenses):
        if expense["id"] == expense_id:
            del expenses[index]
            return expense_id
    raise TrackerError(f"Expense #{expense_id} does not exist.")</a:t>
            </a:r>
          </a:p>
        </p:txBody>
      </p:sp>
      <p:sp>
        <p:nvSpPr>
          <p:cNvPr id="9" name="Rectangle 8">
            <a:extLst>
              <a:ext uri="{FF2B5EF4-FFF2-40B4-BE49-F238E27FC236}">
                <a16:creationId xmlns:a16="http://schemas.microsoft.com/office/drawing/2014/main" id="{2E0BCC15-E7BB-93B8-C69E-F4ABD66CE31A}"/>
              </a:ext>
            </a:extLst>
          </p:cNvPr>
          <p:cNvSpPr/>
          <p:nvPr/>
        </p:nvSpPr>
        <p:spPr>
          <a:xfrm>
            <a:off x="508000" y="4241800"/>
            <a:ext cx="11176000" cy="1551940"/>
          </a:xfrm>
          <a:prstGeom prst="rect">
            <a:avLst/>
          </a:prstGeom>
          <a:solidFill>
            <a:srgbClr val="F2F6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BD375F6B-EFFC-0856-ADB3-6A654B38A699}"/>
              </a:ext>
            </a:extLst>
          </p:cNvPr>
          <p:cNvSpPr txBox="1"/>
          <p:nvPr/>
        </p:nvSpPr>
        <p:spPr>
          <a:xfrm>
            <a:off x="698500" y="4343400"/>
            <a:ext cx="10795000" cy="200055"/>
          </a:xfrm>
          <a:prstGeom prst="rect">
            <a:avLst/>
          </a:prstGeom>
          <a:noFill/>
        </p:spPr>
        <p:txBody>
          <a:bodyPr vert="horz" wrap="square" lIns="0" tIns="0" rIns="0" bIns="0" rtlCol="0">
            <a:spAutoFit/>
          </a:bodyPr>
          <a:lstStyle/>
          <a:p>
            <a:pPr>
              <a:spcAft>
                <a:spcPts val="1000"/>
              </a:spcAft>
            </a:pPr>
            <a:r>
              <a:rPr lang="en-US" sz="1300" b="1">
                <a:solidFill>
                  <a:srgbClr val="007983"/>
                </a:solidFill>
                <a:latin typeface="Aptos" panose="020B0004020202020204" pitchFamily="34" charset="0"/>
              </a:rPr>
              <a:t>cpp/tracker.cpp - Tracker::erase excerpt</a:t>
            </a:r>
          </a:p>
        </p:txBody>
      </p:sp>
      <p:sp>
        <p:nvSpPr>
          <p:cNvPr id="11" name="TextBox 10">
            <a:extLst>
              <a:ext uri="{FF2B5EF4-FFF2-40B4-BE49-F238E27FC236}">
                <a16:creationId xmlns:a16="http://schemas.microsoft.com/office/drawing/2014/main" id="{F5C9FC0F-F2B8-9454-433B-D514194EF50D}"/>
              </a:ext>
            </a:extLst>
          </p:cNvPr>
          <p:cNvSpPr txBox="1"/>
          <p:nvPr/>
        </p:nvSpPr>
        <p:spPr>
          <a:xfrm>
            <a:off x="698500" y="4610100"/>
            <a:ext cx="10795000" cy="1154162"/>
          </a:xfrm>
          <a:prstGeom prst="rect">
            <a:avLst/>
          </a:prstGeom>
          <a:noFill/>
        </p:spPr>
        <p:txBody>
          <a:bodyPr vert="horz" wrap="square" lIns="0" tIns="0" rIns="0" bIns="0" rtlCol="0">
            <a:spAutoFit/>
          </a:bodyPr>
          <a:lstStyle/>
          <a:p>
            <a:r>
              <a:rPr lang="en-US" sz="1250">
                <a:solidFill>
                  <a:srgbClr val="15283E"/>
                </a:solidFill>
                <a:latin typeface="Consolas" panose="020B0609020204030204" pitchFamily="49" charset="0"/>
              </a:rPr>
              <a:t>    const auto record = std::find_if(records_.begin(), records_.end(),
                                     [id](const Expense&amp; expense) { return expense.id == id; });
    if (record == records_.end()) {
        throw std::runtime_error("Expense ID was not found.");
    }
    records_.erase(record);</a:t>
            </a:r>
          </a:p>
        </p:txBody>
      </p:sp>
      <p:sp>
        <p:nvSpPr>
          <p:cNvPr id="12" name="TextBox 11">
            <a:extLst>
              <a:ext uri="{FF2B5EF4-FFF2-40B4-BE49-F238E27FC236}">
                <a16:creationId xmlns:a16="http://schemas.microsoft.com/office/drawing/2014/main" id="{DE99D26B-CBA2-7654-0376-2D65B0C9EF43}"/>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13" name="TextBox 12">
            <a:extLst>
              <a:ext uri="{FF2B5EF4-FFF2-40B4-BE49-F238E27FC236}">
                <a16:creationId xmlns:a16="http://schemas.microsoft.com/office/drawing/2014/main" id="{8C929026-4113-5033-C85D-1F446F907584}"/>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13 / 17</a:t>
            </a:r>
          </a:p>
        </p:txBody>
      </p:sp>
    </p:spTree>
    <p:extLst>
      <p:ext uri="{BB962C8B-B14F-4D97-AF65-F5344CB8AC3E}">
        <p14:creationId xmlns:p14="http://schemas.microsoft.com/office/powerpoint/2010/main" val="41817341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AF849EF-FEAF-E1DA-37E8-FF78030F839D}"/>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D40982EF-DB18-BE71-37F3-BB80534909F7}"/>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Performance: expectations and measurement limits</a:t>
            </a:r>
          </a:p>
        </p:txBody>
      </p:sp>
      <p:sp>
        <p:nvSpPr>
          <p:cNvPr id="4" name="TextBox 3">
            <a:extLst>
              <a:ext uri="{FF2B5EF4-FFF2-40B4-BE49-F238E27FC236}">
                <a16:creationId xmlns:a16="http://schemas.microsoft.com/office/drawing/2014/main" id="{16673DD7-5D5D-63A4-F5A5-283F1FEC924F}"/>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fi-FI" sz="1200">
                <a:solidFill>
                  <a:srgbClr val="515E6C"/>
                </a:solidFill>
                <a:latin typeface="Aptos" panose="020B0004020202020204" pitchFamily="34" charset="0"/>
              </a:rPr>
              <a:t>Venkata Sai Makani | 0.92 min</a:t>
            </a:r>
            <a:endParaRPr lang="en-US" sz="1200">
              <a:solidFill>
                <a:srgbClr val="515E6C"/>
              </a:solidFill>
              <a:latin typeface="Aptos" panose="020B0004020202020204" pitchFamily="34" charset="0"/>
            </a:endParaRPr>
          </a:p>
        </p:txBody>
      </p:sp>
      <p:sp>
        <p:nvSpPr>
          <p:cNvPr id="5" name="TextBox 4">
            <a:extLst>
              <a:ext uri="{FF2B5EF4-FFF2-40B4-BE49-F238E27FC236}">
                <a16:creationId xmlns:a16="http://schemas.microsoft.com/office/drawing/2014/main" id="{913E1D34-17E5-E198-4DFA-9749DD975936}"/>
              </a:ext>
            </a:extLst>
          </p:cNvPr>
          <p:cNvSpPr txBox="1"/>
          <p:nvPr/>
        </p:nvSpPr>
        <p:spPr>
          <a:xfrm>
            <a:off x="698500" y="1917700"/>
            <a:ext cx="10795000" cy="4280659"/>
          </a:xfrm>
          <a:prstGeom prst="rect">
            <a:avLst/>
          </a:prstGeom>
          <a:noFill/>
        </p:spPr>
        <p:txBody>
          <a:bodyPr vert="horz" wrap="square" lIns="0" tIns="0" rIns="0" bIns="0" rtlCol="0">
            <a:spAutoFit/>
          </a:bodyPr>
          <a:lstStyle/>
          <a:p>
            <a:pPr>
              <a:spcAft>
                <a:spcPts val="1000"/>
              </a:spcAft>
            </a:pPr>
            <a:r>
              <a:rPr lang="en-US" sz="2250">
                <a:solidFill>
                  <a:srgbClr val="15283E"/>
                </a:solidFill>
                <a:latin typeface="Aptos" panose="020B0004020202020204" pitchFamily="34" charset="0"/>
              </a:rPr>
              <a:t>Measured here: correctness tests pass and the C++ build has no warnings</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No controlled benchmark establishes a runtime or memory winner</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Both read the entire CSV; mutations rewrite it and filtering scans records</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Expected tradeoffs: interpreter/dictionary overhead versus native values and copies</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Python groups with a dict then sorts; C++ updates an ordered map</a:t>
            </a:r>
          </a:p>
        </p:txBody>
      </p:sp>
      <p:sp>
        <p:nvSpPr>
          <p:cNvPr id="6" name="TextBox 5">
            <a:extLst>
              <a:ext uri="{FF2B5EF4-FFF2-40B4-BE49-F238E27FC236}">
                <a16:creationId xmlns:a16="http://schemas.microsoft.com/office/drawing/2014/main" id="{684B04D3-7F5D-72C2-8EBE-48916071EF69}"/>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7" name="TextBox 6">
            <a:extLst>
              <a:ext uri="{FF2B5EF4-FFF2-40B4-BE49-F238E27FC236}">
                <a16:creationId xmlns:a16="http://schemas.microsoft.com/office/drawing/2014/main" id="{8974D98F-54F4-61C7-81CC-E2477A011786}"/>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14 / 17</a:t>
            </a:r>
          </a:p>
        </p:txBody>
      </p:sp>
    </p:spTree>
    <p:extLst>
      <p:ext uri="{BB962C8B-B14F-4D97-AF65-F5344CB8AC3E}">
        <p14:creationId xmlns:p14="http://schemas.microsoft.com/office/powerpoint/2010/main" val="37506662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D4408CE-9F20-106C-7963-FCAF34E7FD46}"/>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58F9E05-2875-EE48-73E5-15408782722C}"/>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Verification: shared behavior and failure cases</a:t>
            </a:r>
          </a:p>
        </p:txBody>
      </p:sp>
      <p:sp>
        <p:nvSpPr>
          <p:cNvPr id="4" name="TextBox 3">
            <a:extLst>
              <a:ext uri="{FF2B5EF4-FFF2-40B4-BE49-F238E27FC236}">
                <a16:creationId xmlns:a16="http://schemas.microsoft.com/office/drawing/2014/main" id="{5D44B32E-B18F-2955-7DBE-402531124DB4}"/>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fi-FI" sz="1200">
                <a:solidFill>
                  <a:srgbClr val="515E6C"/>
                </a:solidFill>
                <a:latin typeface="Aptos" panose="020B0004020202020204" pitchFamily="34" charset="0"/>
              </a:rPr>
              <a:t>Prateek Sahay / Venkata Sai Makani | 0.92 min</a:t>
            </a:r>
            <a:endParaRPr lang="en-US" sz="1200">
              <a:solidFill>
                <a:srgbClr val="515E6C"/>
              </a:solidFill>
              <a:latin typeface="Aptos" panose="020B0004020202020204" pitchFamily="34" charset="0"/>
            </a:endParaRPr>
          </a:p>
        </p:txBody>
      </p:sp>
      <p:sp>
        <p:nvSpPr>
          <p:cNvPr id="5" name="TextBox 4">
            <a:extLst>
              <a:ext uri="{FF2B5EF4-FFF2-40B4-BE49-F238E27FC236}">
                <a16:creationId xmlns:a16="http://schemas.microsoft.com/office/drawing/2014/main" id="{8275C42A-0C27-47E5-B08C-3581038292A6}"/>
              </a:ext>
            </a:extLst>
          </p:cNvPr>
          <p:cNvSpPr txBox="1"/>
          <p:nvPr/>
        </p:nvSpPr>
        <p:spPr>
          <a:xfrm>
            <a:off x="698500" y="1917700"/>
            <a:ext cx="10795000" cy="4142160"/>
          </a:xfrm>
          <a:prstGeom prst="rect">
            <a:avLst/>
          </a:prstGeom>
          <a:noFill/>
        </p:spPr>
        <p:txBody>
          <a:bodyPr vert="horz" wrap="square" lIns="0" tIns="0" rIns="0" bIns="0" rtlCol="0">
            <a:spAutoFit/>
          </a:bodyPr>
          <a:lstStyle/>
          <a:p>
            <a:pPr>
              <a:spcAft>
                <a:spcPts val="1000"/>
              </a:spcAft>
            </a:pPr>
            <a:r>
              <a:rPr lang="en-US" sz="2250">
                <a:solidFill>
                  <a:srgbClr val="15283E"/>
                </a:solidFill>
                <a:latin typeface="Aptos" panose="020B0004020202020204" pitchFamily="34" charset="0"/>
              </a:rPr>
              <a:t>55 integration tests: 25 Python, 25 C++, and 5 interoperability tests</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7 additional Python core/storage tests</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Coverage: exact cents, leap years, limits, filters, search, deletion, and CSV quoting</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Failure checks preserve the original bytes; Python simulates replacement failure</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C++ must be built first so parity tests run instead of being skipped</a:t>
            </a:r>
          </a:p>
        </p:txBody>
      </p:sp>
      <p:sp>
        <p:nvSpPr>
          <p:cNvPr id="6" name="TextBox 5">
            <a:extLst>
              <a:ext uri="{FF2B5EF4-FFF2-40B4-BE49-F238E27FC236}">
                <a16:creationId xmlns:a16="http://schemas.microsoft.com/office/drawing/2014/main" id="{0C2F14A6-E80A-126B-9FFA-B38EBE694AEB}"/>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7" name="TextBox 6">
            <a:extLst>
              <a:ext uri="{FF2B5EF4-FFF2-40B4-BE49-F238E27FC236}">
                <a16:creationId xmlns:a16="http://schemas.microsoft.com/office/drawing/2014/main" id="{42D562DA-9DAA-F09B-6F87-CB9184C9A182}"/>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15 / 17</a:t>
            </a:r>
          </a:p>
        </p:txBody>
      </p:sp>
    </p:spTree>
    <p:extLst>
      <p:ext uri="{BB962C8B-B14F-4D97-AF65-F5344CB8AC3E}">
        <p14:creationId xmlns:p14="http://schemas.microsoft.com/office/powerpoint/2010/main" val="3811770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30EA7C5-BAAB-4FF3-A916-6257D5E354F8}"/>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C3AA7E6-57A4-C899-84DB-72AAD6C3C43E}"/>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Limitations and lessons from the comparison</a:t>
            </a:r>
          </a:p>
        </p:txBody>
      </p:sp>
      <p:sp>
        <p:nvSpPr>
          <p:cNvPr id="4" name="TextBox 3">
            <a:extLst>
              <a:ext uri="{FF2B5EF4-FFF2-40B4-BE49-F238E27FC236}">
                <a16:creationId xmlns:a16="http://schemas.microsoft.com/office/drawing/2014/main" id="{7B59AD44-0978-1998-AAE5-CF0904E60564}"/>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fi-FI" sz="1200">
                <a:solidFill>
                  <a:srgbClr val="515E6C"/>
                </a:solidFill>
                <a:latin typeface="Aptos" panose="020B0004020202020204" pitchFamily="34" charset="0"/>
              </a:rPr>
              <a:t>Prateek Sahay / Venkata Sai Makani | 0.75 min</a:t>
            </a:r>
            <a:endParaRPr lang="en-US" sz="1200">
              <a:solidFill>
                <a:srgbClr val="515E6C"/>
              </a:solidFill>
              <a:latin typeface="Aptos" panose="020B0004020202020204" pitchFamily="34" charset="0"/>
            </a:endParaRPr>
          </a:p>
        </p:txBody>
      </p:sp>
      <p:sp>
        <p:nvSpPr>
          <p:cNvPr id="5" name="TextBox 4">
            <a:extLst>
              <a:ext uri="{FF2B5EF4-FFF2-40B4-BE49-F238E27FC236}">
                <a16:creationId xmlns:a16="http://schemas.microsoft.com/office/drawing/2014/main" id="{5A3A8BF3-C3ED-EC2B-C40D-CF67CCE0B96D}"/>
              </a:ext>
            </a:extLst>
          </p:cNvPr>
          <p:cNvSpPr txBox="1"/>
          <p:nvPr/>
        </p:nvSpPr>
        <p:spPr>
          <a:xfrm>
            <a:off x="698500" y="1917700"/>
            <a:ext cx="10795000" cy="3847207"/>
          </a:xfrm>
          <a:prstGeom prst="rect">
            <a:avLst/>
          </a:prstGeom>
          <a:noFill/>
        </p:spPr>
        <p:txBody>
          <a:bodyPr vert="horz" wrap="square" lIns="0" tIns="0" rIns="0" bIns="0" rtlCol="0">
            <a:spAutoFit/>
          </a:bodyPr>
          <a:lstStyle/>
          <a:p>
            <a:pPr>
              <a:spcAft>
                <a:spcPts val="1000"/>
              </a:spcAft>
            </a:pPr>
            <a:r>
              <a:rPr lang="en-US" sz="2500">
                <a:solidFill>
                  <a:srgbClr val="15283E"/>
                </a:solidFill>
                <a:latin typeface="Aptos" panose="020B0004020202020204" pitchFamily="34" charset="0"/>
              </a:rPr>
              <a:t>Scope: single writer, USD, printable ASCII, bounded local CSV storage</a:t>
            </a:r>
          </a:p>
          <a:p>
            <a:pPr>
              <a:spcAft>
                <a:spcPts val="1000"/>
              </a:spcAft>
            </a:pPr>
            <a:endParaRPr lang="en-US" sz="2500">
              <a:solidFill>
                <a:srgbClr val="15283E"/>
              </a:solidFill>
              <a:latin typeface="Aptos" panose="020B0004020202020204" pitchFamily="34" charset="0"/>
            </a:endParaRPr>
          </a:p>
          <a:p>
            <a:pPr>
              <a:spcAft>
                <a:spcPts val="1000"/>
              </a:spcAft>
            </a:pPr>
            <a:r>
              <a:rPr lang="en-US" sz="2500">
                <a:solidFill>
                  <a:srgbClr val="15283E"/>
                </a:solidFill>
                <a:latin typeface="Aptos" panose="020B0004020202020204" pitchFamily="34" charset="0"/>
              </a:rPr>
              <a:t>No concurrent writes, GUI, database, authentication, or benchmark results</a:t>
            </a:r>
          </a:p>
          <a:p>
            <a:pPr>
              <a:spcAft>
                <a:spcPts val="1000"/>
              </a:spcAft>
            </a:pPr>
            <a:endParaRPr lang="en-US" sz="2500">
              <a:solidFill>
                <a:srgbClr val="15283E"/>
              </a:solidFill>
              <a:latin typeface="Aptos" panose="020B0004020202020204" pitchFamily="34" charset="0"/>
            </a:endParaRPr>
          </a:p>
          <a:p>
            <a:pPr>
              <a:spcAft>
                <a:spcPts val="1000"/>
              </a:spcAft>
            </a:pPr>
            <a:r>
              <a:rPr lang="en-US" sz="2500">
                <a:solidFill>
                  <a:srgbClr val="15283E"/>
                </a:solidFill>
                <a:latin typeface="Aptos" panose="020B0004020202020204" pitchFamily="34" charset="0"/>
              </a:rPr>
              <a:t>Shared validation and tests prevent subtle cross-language divergence</a:t>
            </a:r>
          </a:p>
          <a:p>
            <a:pPr>
              <a:spcAft>
                <a:spcPts val="1000"/>
              </a:spcAft>
            </a:pPr>
            <a:endParaRPr lang="en-US" sz="2500">
              <a:solidFill>
                <a:srgbClr val="15283E"/>
              </a:solidFill>
              <a:latin typeface="Aptos" panose="020B0004020202020204" pitchFamily="34" charset="0"/>
            </a:endParaRPr>
          </a:p>
          <a:p>
            <a:pPr>
              <a:spcAft>
                <a:spcPts val="1000"/>
              </a:spcAft>
            </a:pPr>
            <a:r>
              <a:rPr lang="en-US" sz="2500">
                <a:solidFill>
                  <a:srgbClr val="15283E"/>
                </a:solidFill>
                <a:latin typeface="Aptos" panose="020B0004020202020204" pitchFamily="34" charset="0"/>
              </a:rPr>
              <a:t>Language choice should follow constraints: iteration speed, ownership, and deployment</a:t>
            </a:r>
          </a:p>
        </p:txBody>
      </p:sp>
      <p:sp>
        <p:nvSpPr>
          <p:cNvPr id="6" name="TextBox 5">
            <a:extLst>
              <a:ext uri="{FF2B5EF4-FFF2-40B4-BE49-F238E27FC236}">
                <a16:creationId xmlns:a16="http://schemas.microsoft.com/office/drawing/2014/main" id="{753928C2-6110-C4CF-F67F-E38DFA2A9D38}"/>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7" name="TextBox 6">
            <a:extLst>
              <a:ext uri="{FF2B5EF4-FFF2-40B4-BE49-F238E27FC236}">
                <a16:creationId xmlns:a16="http://schemas.microsoft.com/office/drawing/2014/main" id="{6D518CB3-9631-509F-5B2C-68BE1EB096DB}"/>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16 / 17</a:t>
            </a:r>
          </a:p>
        </p:txBody>
      </p:sp>
    </p:spTree>
    <p:extLst>
      <p:ext uri="{BB962C8B-B14F-4D97-AF65-F5344CB8AC3E}">
        <p14:creationId xmlns:p14="http://schemas.microsoft.com/office/powerpoint/2010/main" val="11493360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71CD668-D00F-0CC6-AAEE-0FDD759CB4E9}"/>
              </a:ext>
            </a:extLst>
          </p:cNvPr>
          <p:cNvSpPr/>
          <p:nvPr/>
        </p:nvSpPr>
        <p:spPr>
          <a:xfrm>
            <a:off x="0" y="0"/>
            <a:ext cx="12192000" cy="127000"/>
          </a:xfrm>
          <a:prstGeom prst="rect">
            <a:avLst/>
          </a:prstGeom>
          <a:solidFill>
            <a:srgbClr val="00798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5CBEE6F5-8376-8E8B-9FDC-BB6E08FA23C1}"/>
              </a:ext>
            </a:extLst>
          </p:cNvPr>
          <p:cNvSpPr txBox="1"/>
          <p:nvPr/>
        </p:nvSpPr>
        <p:spPr>
          <a:xfrm>
            <a:off x="508000" y="355600"/>
            <a:ext cx="11176000" cy="446276"/>
          </a:xfrm>
          <a:prstGeom prst="rect">
            <a:avLst/>
          </a:prstGeom>
          <a:noFill/>
        </p:spPr>
        <p:txBody>
          <a:bodyPr vert="horz" wrap="square" lIns="0" tIns="0" rIns="0" bIns="0" rtlCol="0">
            <a:spAutoFit/>
          </a:bodyPr>
          <a:lstStyle/>
          <a:p>
            <a:pPr>
              <a:spcAft>
                <a:spcPts val="1000"/>
              </a:spcAft>
            </a:pPr>
            <a:r>
              <a:rPr lang="en-US" sz="2900" b="1">
                <a:solidFill>
                  <a:srgbClr val="15283E"/>
                </a:solidFill>
                <a:latin typeface="Aptos" panose="020B0004020202020204" pitchFamily="34" charset="0"/>
              </a:rPr>
              <a:t>Conclusion and team Q&amp;A</a:t>
            </a:r>
          </a:p>
        </p:txBody>
      </p:sp>
      <p:sp>
        <p:nvSpPr>
          <p:cNvPr id="4" name="TextBox 3">
            <a:extLst>
              <a:ext uri="{FF2B5EF4-FFF2-40B4-BE49-F238E27FC236}">
                <a16:creationId xmlns:a16="http://schemas.microsoft.com/office/drawing/2014/main" id="{CED5934E-40E9-4894-58F6-5002ED63E322}"/>
              </a:ext>
            </a:extLst>
          </p:cNvPr>
          <p:cNvSpPr txBox="1"/>
          <p:nvPr/>
        </p:nvSpPr>
        <p:spPr>
          <a:xfrm>
            <a:off x="508000" y="1155700"/>
            <a:ext cx="11176000" cy="184666"/>
          </a:xfrm>
          <a:prstGeom prst="rect">
            <a:avLst/>
          </a:prstGeom>
          <a:noFill/>
        </p:spPr>
        <p:txBody>
          <a:bodyPr vert="horz" wrap="square" lIns="0" tIns="0" rIns="0" bIns="0" rtlCol="0">
            <a:spAutoFit/>
          </a:bodyPr>
          <a:lstStyle/>
          <a:p>
            <a:pPr>
              <a:spcAft>
                <a:spcPts val="1000"/>
              </a:spcAft>
            </a:pPr>
            <a:r>
              <a:rPr lang="fi-FI" sz="1200">
                <a:solidFill>
                  <a:srgbClr val="515E6C"/>
                </a:solidFill>
                <a:latin typeface="Aptos" panose="020B0004020202020204" pitchFamily="34" charset="0"/>
              </a:rPr>
              <a:t>Prateek Sahay / Venkata Sai Makani | 0.5 min</a:t>
            </a:r>
            <a:endParaRPr lang="en-US" sz="1200">
              <a:solidFill>
                <a:srgbClr val="515E6C"/>
              </a:solidFill>
              <a:latin typeface="Aptos" panose="020B0004020202020204" pitchFamily="34" charset="0"/>
            </a:endParaRPr>
          </a:p>
        </p:txBody>
      </p:sp>
      <p:sp>
        <p:nvSpPr>
          <p:cNvPr id="5" name="TextBox 4">
            <a:extLst>
              <a:ext uri="{FF2B5EF4-FFF2-40B4-BE49-F238E27FC236}">
                <a16:creationId xmlns:a16="http://schemas.microsoft.com/office/drawing/2014/main" id="{BAABDAD3-C3F7-996D-B537-886CE7113A8D}"/>
              </a:ext>
            </a:extLst>
          </p:cNvPr>
          <p:cNvSpPr txBox="1"/>
          <p:nvPr/>
        </p:nvSpPr>
        <p:spPr>
          <a:xfrm>
            <a:off x="698500" y="1917700"/>
            <a:ext cx="10795000" cy="4280659"/>
          </a:xfrm>
          <a:prstGeom prst="rect">
            <a:avLst/>
          </a:prstGeom>
          <a:noFill/>
        </p:spPr>
        <p:txBody>
          <a:bodyPr vert="horz" wrap="square" lIns="0" tIns="0" rIns="0" bIns="0" rtlCol="0">
            <a:spAutoFit/>
          </a:bodyPr>
          <a:lstStyle/>
          <a:p>
            <a:pPr>
              <a:spcAft>
                <a:spcPts val="1000"/>
              </a:spcAft>
            </a:pPr>
            <a:r>
              <a:rPr lang="en-US" sz="2250">
                <a:solidFill>
                  <a:srgbClr val="15283E"/>
                </a:solidFill>
                <a:latin typeface="Aptos" panose="020B0004020202020204" pitchFamily="34" charset="0"/>
              </a:rPr>
              <a:t>Same core behavior, interoperable data, different language design choices</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Actual code connects types, containers, paradigms, errors, and resource ownership</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Source, README, reports, screenshots, and test instructions are in the repository</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Repository: https://github.com/psahay101/cross-language-expense-tracker</a:t>
            </a:r>
          </a:p>
          <a:p>
            <a:pPr>
              <a:spcAft>
                <a:spcPts val="1000"/>
              </a:spcAft>
            </a:pPr>
            <a:endParaRPr lang="en-US" sz="2250">
              <a:solidFill>
                <a:srgbClr val="15283E"/>
              </a:solidFill>
              <a:latin typeface="Aptos" panose="020B0004020202020204" pitchFamily="34" charset="0"/>
            </a:endParaRPr>
          </a:p>
          <a:p>
            <a:pPr>
              <a:spcAft>
                <a:spcPts val="1000"/>
              </a:spcAft>
            </a:pPr>
            <a:r>
              <a:rPr lang="en-US" sz="2250">
                <a:solidFill>
                  <a:srgbClr val="15283E"/>
                </a:solidFill>
                <a:latin typeface="Aptos" panose="020B0004020202020204" pitchFamily="34" charset="0"/>
              </a:rPr>
              <a:t>Questions: both presenters can navigate the source or repeat a demo command</a:t>
            </a:r>
          </a:p>
        </p:txBody>
      </p:sp>
      <p:sp>
        <p:nvSpPr>
          <p:cNvPr id="6" name="TextBox 5">
            <a:extLst>
              <a:ext uri="{FF2B5EF4-FFF2-40B4-BE49-F238E27FC236}">
                <a16:creationId xmlns:a16="http://schemas.microsoft.com/office/drawing/2014/main" id="{E05058AE-6F9D-35B5-19EA-DB7D00BEC9C9}"/>
              </a:ext>
            </a:extLst>
          </p:cNvPr>
          <p:cNvSpPr txBox="1"/>
          <p:nvPr/>
        </p:nvSpPr>
        <p:spPr>
          <a:xfrm>
            <a:off x="508000" y="6502400"/>
            <a:ext cx="9906000" cy="153888"/>
          </a:xfrm>
          <a:prstGeom prst="rect">
            <a:avLst/>
          </a:prstGeom>
          <a:noFill/>
        </p:spPr>
        <p:txBody>
          <a:bodyPr vert="horz" wrap="square" lIns="0" tIns="0" rIns="0" bIns="0" rtlCol="0">
            <a:spAutoFit/>
          </a:bodyPr>
          <a:lstStyle/>
          <a:p>
            <a:pPr>
              <a:spcAft>
                <a:spcPts val="1000"/>
              </a:spcAft>
            </a:pPr>
            <a:r>
              <a:rPr lang="en-US" sz="1000">
                <a:solidFill>
                  <a:srgbClr val="515E6C"/>
                </a:solidFill>
                <a:latin typeface="Aptos" panose="020B0004020202020204" pitchFamily="34" charset="0"/>
              </a:rPr>
              <a:t>Expense Tracker | Python + C++17 | MSCS632</a:t>
            </a:r>
          </a:p>
        </p:txBody>
      </p:sp>
      <p:sp>
        <p:nvSpPr>
          <p:cNvPr id="7" name="TextBox 6">
            <a:extLst>
              <a:ext uri="{FF2B5EF4-FFF2-40B4-BE49-F238E27FC236}">
                <a16:creationId xmlns:a16="http://schemas.microsoft.com/office/drawing/2014/main" id="{99EF6E9E-AD6D-05F7-74DD-6B26749DA301}"/>
              </a:ext>
            </a:extLst>
          </p:cNvPr>
          <p:cNvSpPr txBox="1"/>
          <p:nvPr/>
        </p:nvSpPr>
        <p:spPr>
          <a:xfrm>
            <a:off x="10909300" y="6451600"/>
            <a:ext cx="838200" cy="184666"/>
          </a:xfrm>
          <a:prstGeom prst="rect">
            <a:avLst/>
          </a:prstGeom>
          <a:noFill/>
        </p:spPr>
        <p:txBody>
          <a:bodyPr vert="horz" wrap="square" lIns="0" tIns="0" rIns="0" bIns="0" rtlCol="0">
            <a:spAutoFit/>
          </a:bodyPr>
          <a:lstStyle/>
          <a:p>
            <a:pPr>
              <a:spcAft>
                <a:spcPts val="1000"/>
              </a:spcAft>
            </a:pPr>
            <a:r>
              <a:rPr lang="en-US" sz="1200">
                <a:solidFill>
                  <a:srgbClr val="515E6C"/>
                </a:solidFill>
                <a:latin typeface="Aptos" panose="020B0004020202020204" pitchFamily="34" charset="0"/>
              </a:rPr>
              <a:t>17 / 17</a:t>
            </a:r>
          </a:p>
        </p:txBody>
      </p:sp>
    </p:spTree>
    <p:extLst>
      <p:ext uri="{BB962C8B-B14F-4D97-AF65-F5344CB8AC3E}">
        <p14:creationId xmlns:p14="http://schemas.microsoft.com/office/powerpoint/2010/main" val="3884088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5009</Words>
  <Application>Microsoft Office PowerPoint</Application>
  <PresentationFormat>Custom</PresentationFormat>
  <Paragraphs>253</Paragraphs>
  <Slides>17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Arial</vt:lpstr>
      <vt:lpstr>Calibri</vt:lpstr>
      <vt:lpstr>Calibri Light</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Prateek Sahay</dc:creator>
  <cp:lastModifiedBy>Prateek Sahay</cp:lastModifiedBy>
  <cp:revision>1</cp:revision>
  <dcterms:created xsi:type="dcterms:W3CDTF">2026-10-03T02:54:43Z</dcterms:created>
  <dcterms:modified xsi:type="dcterms:W3CDTF">2026-10-03T02:54:43Z</dcterms:modified>
</cp:coreProperties>
</file>
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D1244-0406-49E2-8B0B-271BE905D745}" type="datetimeFigureOut">
              <a:rPr lang="en-US" smtClean="0"/>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8E3E24-8CA0-4F21-BAB2-6284E5AC068D}" type="slidenum">
              <a:rPr lang="en-US" smtClean="0"/>
              <a:t>‹#›</a:t>
            </a:fld>
            <a:endParaRPr lang="en-US"/>
          </a:p>
        </p:txBody>
      </p:sp>
    </p:spTree>
    <p:extLst>
      <p:ext uri="{BB962C8B-B14F-4D97-AF65-F5344CB8AC3E}">
        <p14:creationId xmlns:p14="http://schemas.microsoft.com/office/powerpoint/2010/main" val="2553789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Prateek Sahay. Time: 1 minute.</a:t>
            </a:r>
          </a:p>
          <a:p>
            <a:endParaRPr lang="en-US"/>
          </a:p>
          <a:p>
            <a:r>
              <a:rPr lang="en-US"/>
              <a:t>Hi, I am Prateek Sahay, and my teammate is Venkata Sai Makani. Our project is an expense tracker written in two languages: Python and C++. The app helps someone record purchases and understand where their money goes. We kept the features the same in both versions so we could compare how the languages handle the same problem. It runs in a terminal, where the user types a command and sees a result. Today we will explain the features, show both versions, look at one small code example, and share what we learned. I will cover the first half, and Venkata will cover the second half.</a:t>
            </a:r>
          </a:p>
        </p:txBody>
      </p:sp>
      <p:sp>
        <p:nvSpPr>
          <p:cNvPr id="4" name="Slide Number Placeholder 3"/>
          <p:cNvSpPr>
            <a:spLocks noGrp="1"/>
          </p:cNvSpPr>
          <p:nvPr>
            <p:ph type="sldNum" sz="quarter" idx="5"/>
          </p:nvPr>
        </p:nvSpPr>
        <p:spPr/>
        <p:txBody>
          <a:bodyPr/>
          <a:lstStyle/>
          <a:p>
            <a:fld id="{428E3E24-8CA0-4F21-BAB2-6284E5AC068D}" type="slidenum">
              <a:rPr lang="en-US" smtClean="0"/>
              <a:t>1</a:t>
            </a:fld>
            <a:endParaRPr lang="en-US"/>
          </a:p>
        </p:txBody>
      </p:sp>
    </p:spTree>
    <p:extLst>
      <p:ext uri="{BB962C8B-B14F-4D97-AF65-F5344CB8AC3E}">
        <p14:creationId xmlns:p14="http://schemas.microsoft.com/office/powerpoint/2010/main" val="594701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Prateek Sahay. Time: 1 minute.</a:t>
            </a:r>
          </a:p>
          <a:p>
            <a:endParaRPr lang="en-US"/>
          </a:p>
          <a:p>
            <a:r>
              <a:rPr lang="en-US"/>
              <a:t>The app has four main features. First, we can add an expense with a date, an amount, a category, and a short description. Second, we can view all saved expenses or search for a word in the category or description. Third, we can narrow the list to a date range or a category, such as Food. Finally, we can calculate spending for each category and the total for all expenses. We also added a delete option so a user can remove an entry by its ID. The data is saved, so closing and reopening the app does not lose the records. Both languages support these same features.</a:t>
            </a:r>
          </a:p>
        </p:txBody>
      </p:sp>
      <p:sp>
        <p:nvSpPr>
          <p:cNvPr id="4" name="Slide Number Placeholder 3"/>
          <p:cNvSpPr>
            <a:spLocks noGrp="1"/>
          </p:cNvSpPr>
          <p:nvPr>
            <p:ph type="sldNum" sz="quarter" idx="5"/>
          </p:nvPr>
        </p:nvSpPr>
        <p:spPr/>
        <p:txBody>
          <a:bodyPr/>
          <a:lstStyle/>
          <a:p>
            <a:fld id="{428E3E24-8CA0-4F21-BAB2-6284E5AC068D}" type="slidenum">
              <a:rPr lang="en-US" smtClean="0"/>
              <a:t>2</a:t>
            </a:fld>
            <a:endParaRPr lang="en-US"/>
          </a:p>
        </p:txBody>
      </p:sp>
    </p:spTree>
    <p:extLst>
      <p:ext uri="{BB962C8B-B14F-4D97-AF65-F5344CB8AC3E}">
        <p14:creationId xmlns:p14="http://schemas.microsoft.com/office/powerpoint/2010/main" val="2524007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Prateek Sahay. Time: 1 minute.</a:t>
            </a:r>
          </a:p>
          <a:p>
            <a:endParaRPr lang="en-US"/>
          </a:p>
          <a:p>
            <a:r>
              <a:rPr lang="en-US"/>
              <a:t>Imagine buying lunch on October 2 for 12 dollars and 34 cents. We enter the date, choose Food as the category, and use Lunch, campus as the description. The app creates an ID so we can refer to that entry later. If we want to review only food spending, we filter by Food. If we want to find campus purchases, we search for campus. We can also limit the results to a date range. Then the summary adds the matching amounts. The steps are identical in Python and C++, which makes it easy to compare the results without learning two different sets of commands.</a:t>
            </a:r>
          </a:p>
        </p:txBody>
      </p:sp>
      <p:sp>
        <p:nvSpPr>
          <p:cNvPr id="4" name="Slide Number Placeholder 3"/>
          <p:cNvSpPr>
            <a:spLocks noGrp="1"/>
          </p:cNvSpPr>
          <p:nvPr>
            <p:ph type="sldNum" sz="quarter" idx="5"/>
          </p:nvPr>
        </p:nvSpPr>
        <p:spPr/>
        <p:txBody>
          <a:bodyPr/>
          <a:lstStyle/>
          <a:p>
            <a:fld id="{428E3E24-8CA0-4F21-BAB2-6284E5AC068D}" type="slidenum">
              <a:rPr lang="en-US" smtClean="0"/>
              <a:t>3</a:t>
            </a:fld>
            <a:endParaRPr lang="en-US"/>
          </a:p>
        </p:txBody>
      </p:sp>
    </p:spTree>
    <p:extLst>
      <p:ext uri="{BB962C8B-B14F-4D97-AF65-F5344CB8AC3E}">
        <p14:creationId xmlns:p14="http://schemas.microsoft.com/office/powerpoint/2010/main" val="1718845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Prateek Sahay. Time: 1 minute.</a:t>
            </a:r>
          </a:p>
          <a:p>
            <a:endParaRPr lang="en-US"/>
          </a:p>
          <a:p>
            <a:r>
              <a:rPr lang="en-US"/>
              <a:t>We save the expenses in a CSV file. CSV is a simple text format with columns separated by commas. Each row contains an ID, date, amount, category, and description. Both versions use the same columns, so Python can read a file saved by C++, and C++ can read a file saved by Python. We store money as whole cents: 12 dollars and 34 cents becomes 1,234 cents. That keeps the calculations exact instead of relying on decimal approximations. Before saving, the app checks the input. It also writes a replacement file before replacing the original, which helps protect the existing records if saving fails.</a:t>
            </a:r>
          </a:p>
        </p:txBody>
      </p:sp>
      <p:sp>
        <p:nvSpPr>
          <p:cNvPr id="4" name="Slide Number Placeholder 3"/>
          <p:cNvSpPr>
            <a:spLocks noGrp="1"/>
          </p:cNvSpPr>
          <p:nvPr>
            <p:ph type="sldNum" sz="quarter" idx="5"/>
          </p:nvPr>
        </p:nvSpPr>
        <p:spPr/>
        <p:txBody>
          <a:bodyPr/>
          <a:lstStyle/>
          <a:p>
            <a:fld id="{428E3E24-8CA0-4F21-BAB2-6284E5AC068D}" type="slidenum">
              <a:rPr lang="en-US" smtClean="0"/>
              <a:t>4</a:t>
            </a:fld>
            <a:endParaRPr lang="en-US"/>
          </a:p>
        </p:txBody>
      </p:sp>
    </p:spTree>
    <p:extLst>
      <p:ext uri="{BB962C8B-B14F-4D97-AF65-F5344CB8AC3E}">
        <p14:creationId xmlns:p14="http://schemas.microsoft.com/office/powerpoint/2010/main" val="1087576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Prateek Sahay. Time: 1 minute.</a:t>
            </a:r>
          </a:p>
          <a:p>
            <a:endParaRPr lang="en-US"/>
          </a:p>
          <a:p>
            <a:r>
              <a:rPr lang="en-US"/>
              <a:t>This is the output from the Python version using our five sample expenses. The overall total is 61 dollars and 8 cents, and Food spending is 21 dollars and 9 cents. For a short live demonstration, run the list command to show the entries, then the summary command to show these totals. Point out that the categories and amounts come from the saved file. The output on this slide is recorded program output, so it can be used if a live demonstration is unavailable. Python can run the source file through the installed Python program without a separate compile step. Venkata will now show the same sample in C++.</a:t>
            </a:r>
          </a:p>
          <a:p>
            <a:endParaRPr lang="en-US"/>
          </a:p>
          <a:p>
            <a:r>
              <a:rPr lang="en-US"/>
              <a:t>Live demo (from the project folder):</a:t>
            </a:r>
          </a:p>
          <a:p>
            <a:r>
              <a:rPr lang="en-US"/>
              <a:t>python python/main.py --data data/sample.csv list</a:t>
            </a:r>
          </a:p>
          <a:p>
            <a:r>
              <a:rPr lang="en-US"/>
              <a:t>python python/main.py --data data/sample.csv summary</a:t>
            </a:r>
          </a:p>
          <a:p>
            <a:r>
              <a:rPr lang="en-US"/>
              <a:t>On macOS/Linux use python3 and ./build/expense_tracker as needed. Use the slide output if a live demo is unavailable.</a:t>
            </a:r>
          </a:p>
        </p:txBody>
      </p:sp>
      <p:sp>
        <p:nvSpPr>
          <p:cNvPr id="4" name="Slide Number Placeholder 3"/>
          <p:cNvSpPr>
            <a:spLocks noGrp="1"/>
          </p:cNvSpPr>
          <p:nvPr>
            <p:ph type="sldNum" sz="quarter" idx="5"/>
          </p:nvPr>
        </p:nvSpPr>
        <p:spPr/>
        <p:txBody>
          <a:bodyPr/>
          <a:lstStyle/>
          <a:p>
            <a:fld id="{428E3E24-8CA0-4F21-BAB2-6284E5AC068D}" type="slidenum">
              <a:rPr lang="en-US" smtClean="0"/>
              <a:t>5</a:t>
            </a:fld>
            <a:endParaRPr lang="en-US"/>
          </a:p>
        </p:txBody>
      </p:sp>
    </p:spTree>
    <p:extLst>
      <p:ext uri="{BB962C8B-B14F-4D97-AF65-F5344CB8AC3E}">
        <p14:creationId xmlns:p14="http://schemas.microsoft.com/office/powerpoint/2010/main" val="3255271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Venkata Sai Makani. Time: 1 minute.</a:t>
            </a:r>
          </a:p>
          <a:p>
            <a:endParaRPr lang="en-US"/>
          </a:p>
          <a:p>
            <a:r>
              <a:rPr lang="en-US"/>
              <a:t>I am Venkata, and this is the C++ version. We build the C++ source into an executable first, then run it. I will use the same sample file that Prateek showed. The list contains the same expenses, and the summary gives the same category totals and the same overall amount: 61 dollars and 8 cents. These are two separate programs; the C++ app does not call the Python app. They agree because we designed the same behavior and the same saved-file format. The slide shows recorded output from the C++ program. If doing a live demo, show list and summary, then return to the slides to compare the code.</a:t>
            </a:r>
          </a:p>
          <a:p>
            <a:endParaRPr lang="en-US"/>
          </a:p>
          <a:p>
            <a:r>
              <a:rPr lang="en-US"/>
              <a:t>Live demo (from the project folder):</a:t>
            </a:r>
          </a:p>
          <a:p>
            <a:r>
              <a:rPr lang="en-US"/>
              <a:t>.\build\expense_tracker.exe --data data/sample.csv list</a:t>
            </a:r>
          </a:p>
          <a:p>
            <a:r>
              <a:rPr lang="en-US"/>
              <a:t>.\build\expense_tracker.exe --data data/sample.csv summary</a:t>
            </a:r>
          </a:p>
          <a:p>
            <a:r>
              <a:rPr lang="en-US"/>
              <a:t>On macOS/Linux use python3 and ./build/expense_tracker as needed. Use the slide output if a live demo is unavailable.</a:t>
            </a:r>
          </a:p>
        </p:txBody>
      </p:sp>
      <p:sp>
        <p:nvSpPr>
          <p:cNvPr id="4" name="Slide Number Placeholder 3"/>
          <p:cNvSpPr>
            <a:spLocks noGrp="1"/>
          </p:cNvSpPr>
          <p:nvPr>
            <p:ph type="sldNum" sz="quarter" idx="5"/>
          </p:nvPr>
        </p:nvSpPr>
        <p:spPr/>
        <p:txBody>
          <a:bodyPr/>
          <a:lstStyle/>
          <a:p>
            <a:fld id="{428E3E24-8CA0-4F21-BAB2-6284E5AC068D}" type="slidenum">
              <a:rPr lang="en-US" smtClean="0"/>
              <a:t>6</a:t>
            </a:fld>
            <a:endParaRPr lang="en-US"/>
          </a:p>
        </p:txBody>
      </p:sp>
    </p:spTree>
    <p:extLst>
      <p:ext uri="{BB962C8B-B14F-4D97-AF65-F5344CB8AC3E}">
        <p14:creationId xmlns:p14="http://schemas.microsoft.com/office/powerpoint/2010/main" val="3370591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Venkata Sai Makani. Time: 1 minute.</a:t>
            </a:r>
          </a:p>
          <a:p>
            <a:endParaRPr lang="en-US"/>
          </a:p>
          <a:p>
            <a:r>
              <a:rPr lang="en-US"/>
              <a:t>These small examples come directly from our source files. Both name the same five fields: ID, date, amount in cents, category, and description. In Python, an expense is a dictionary, which means values are stored under named labels. TypedDict describes the expected values for those labels. Those hints do not automatically check user input, so our validation functions do that work. In C++, a struct groups the fields into a record, and each field has a declared type, such as a number or text. The compiler checks the declared field types when building the program. C++ still needs input validation. Different code styles represent the same expense.</a:t>
            </a:r>
          </a:p>
        </p:txBody>
      </p:sp>
      <p:sp>
        <p:nvSpPr>
          <p:cNvPr id="4" name="Slide Number Placeholder 3"/>
          <p:cNvSpPr>
            <a:spLocks noGrp="1"/>
          </p:cNvSpPr>
          <p:nvPr>
            <p:ph type="sldNum" sz="quarter" idx="5"/>
          </p:nvPr>
        </p:nvSpPr>
        <p:spPr/>
        <p:txBody>
          <a:bodyPr/>
          <a:lstStyle/>
          <a:p>
            <a:fld id="{428E3E24-8CA0-4F21-BAB2-6284E5AC068D}" type="slidenum">
              <a:rPr lang="en-US" smtClean="0"/>
              <a:t>7</a:t>
            </a:fld>
            <a:endParaRPr lang="en-US"/>
          </a:p>
        </p:txBody>
      </p:sp>
    </p:spTree>
    <p:extLst>
      <p:ext uri="{BB962C8B-B14F-4D97-AF65-F5344CB8AC3E}">
        <p14:creationId xmlns:p14="http://schemas.microsoft.com/office/powerpoint/2010/main" val="558015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Venkata Sai Makani. Time: 1 minute.</a:t>
            </a:r>
          </a:p>
          <a:p>
            <a:endParaRPr lang="en-US"/>
          </a:p>
          <a:p>
            <a:r>
              <a:rPr lang="en-US"/>
              <a:t>For this project, Python was convenient for making quick changes and running them immediately. Its built-in date and CSV tools reduced the amount of code we needed to write. C++ needed a build step, and we wrote more code for date checks and reading CSV files. Its explicit field types made the record structure clear and helped catch type mistakes during compilation. Python uses separate functions for operations such as adding and filtering. C++ groups related operations inside a Tracker class. A class is simply a way to keep related data and operations together. Both approaches worked. These are observations about our implementations, not measurements of which language runs faster.</a:t>
            </a:r>
          </a:p>
        </p:txBody>
      </p:sp>
      <p:sp>
        <p:nvSpPr>
          <p:cNvPr id="4" name="Slide Number Placeholder 3"/>
          <p:cNvSpPr>
            <a:spLocks noGrp="1"/>
          </p:cNvSpPr>
          <p:nvPr>
            <p:ph type="sldNum" sz="quarter" idx="5"/>
          </p:nvPr>
        </p:nvSpPr>
        <p:spPr/>
        <p:txBody>
          <a:bodyPr/>
          <a:lstStyle/>
          <a:p>
            <a:fld id="{428E3E24-8CA0-4F21-BAB2-6284E5AC068D}" type="slidenum">
              <a:rPr lang="en-US" smtClean="0"/>
              <a:t>8</a:t>
            </a:fld>
            <a:endParaRPr lang="en-US"/>
          </a:p>
        </p:txBody>
      </p:sp>
    </p:spTree>
    <p:extLst>
      <p:ext uri="{BB962C8B-B14F-4D97-AF65-F5344CB8AC3E}">
        <p14:creationId xmlns:p14="http://schemas.microsoft.com/office/powerpoint/2010/main" val="3251408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Venkata Sai Makani. Time: 1 minute.</a:t>
            </a:r>
          </a:p>
          <a:p>
            <a:endParaRPr lang="en-US"/>
          </a:p>
          <a:p>
            <a:r>
              <a:rPr lang="en-US"/>
              <a:t>We used automated checks to confirm that the apps work as expected. Our recorded verification run passed 62 tests: 7 focused Python checks and 55 checks for behavior and file sharing across the two versions. We checked exact totals, date ranges, category filters, search, adding and deleting records, and reopening saved files. We also tried bad input, such as an impossible date or an amount with too many decimal places. The app should report a clear error and preserve the valid data. Finally, we checked that each program can read files written by the other. Matching a screenshot once is helpful, but checking many cases gives us more confidence.</a:t>
            </a:r>
          </a:p>
        </p:txBody>
      </p:sp>
      <p:sp>
        <p:nvSpPr>
          <p:cNvPr id="4" name="Slide Number Placeholder 3"/>
          <p:cNvSpPr>
            <a:spLocks noGrp="1"/>
          </p:cNvSpPr>
          <p:nvPr>
            <p:ph type="sldNum" sz="quarter" idx="5"/>
          </p:nvPr>
        </p:nvSpPr>
        <p:spPr/>
        <p:txBody>
          <a:bodyPr/>
          <a:lstStyle/>
          <a:p>
            <a:fld id="{428E3E24-8CA0-4F21-BAB2-6284E5AC068D}" type="slidenum">
              <a:rPr lang="en-US" smtClean="0"/>
              <a:t>9</a:t>
            </a:fld>
            <a:endParaRPr lang="en-US"/>
          </a:p>
        </p:txBody>
      </p:sp>
    </p:spTree>
    <p:extLst>
      <p:ext uri="{BB962C8B-B14F-4D97-AF65-F5344CB8AC3E}">
        <p14:creationId xmlns:p14="http://schemas.microsoft.com/office/powerpoint/2010/main" val="3122673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Venkata Sai Makani. Time: 1 minute.</a:t>
            </a:r>
          </a:p>
          <a:p>
            <a:endParaRPr lang="en-US"/>
          </a:p>
          <a:p>
            <a:r>
              <a:rPr lang="en-US"/>
              <a:t>The main lesson is that we can solve the same problem in different ways. Python helped us move quickly with built-in tools and simple functions. C++ encouraged us to define the record structure clearly and build the program before running it. In both versions, good input checks, exact money calculations, and clear organization mattered. Keeping the features and storage format the same made the comparison useful because we could focus on the code choices. The GitHub repository contains the source, sample data, tests, and instructions for running both programs. Thank you for listening. We are happy to answer questions or show one of the commands again.</a:t>
            </a:r>
          </a:p>
        </p:txBody>
      </p:sp>
      <p:sp>
        <p:nvSpPr>
          <p:cNvPr id="4" name="Slide Number Placeholder 3"/>
          <p:cNvSpPr>
            <a:spLocks noGrp="1"/>
          </p:cNvSpPr>
          <p:nvPr>
            <p:ph type="sldNum" sz="quarter" idx="5"/>
          </p:nvPr>
        </p:nvSpPr>
        <p:spPr/>
        <p:txBody>
          <a:bodyPr/>
          <a:lstStyle/>
          <a:p>
            <a:fld id="{428E3E24-8CA0-4F21-BAB2-6284E5AC068D}" type="slidenum">
              <a:rPr lang="en-US" smtClean="0"/>
              <a:t>10</a:t>
            </a:fld>
            <a:endParaRPr lang="en-US"/>
          </a:p>
        </p:txBody>
      </p:sp>
    </p:spTree>
    <p:extLst>
      <p:ext uri="{BB962C8B-B14F-4D97-AF65-F5344CB8AC3E}">
        <p14:creationId xmlns:p14="http://schemas.microsoft.com/office/powerpoint/2010/main" val="2887749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D756F-0428-B042-7F51-A45B491430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2E6D55-871B-0EE7-650F-911736A735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45CFF7-317D-4B00-3C7A-FA0695361BD5}"/>
              </a:ext>
            </a:extLst>
          </p:cNvPr>
          <p:cNvSpPr>
            <a:spLocks noGrp="1"/>
          </p:cNvSpPr>
          <p:nvPr>
            <p:ph type="dt" sz="half" idx="10"/>
          </p:nvPr>
        </p:nvSpPr>
        <p:spPr/>
        <p:txBody>
          <a:bodyPr/>
          <a:lstStyle/>
          <a:p>
            <a:fld id="{D0F3E884-D7CF-4ED6-9E2F-BEDD66AD34F3}" type="datetimeFigureOut">
              <a:rPr lang="en-US" smtClean="0"/>
              <a:t>10/4/2026</a:t>
            </a:fld>
            <a:endParaRPr lang="en-US"/>
          </a:p>
        </p:txBody>
      </p:sp>
      <p:sp>
        <p:nvSpPr>
          <p:cNvPr id="5" name="Footer Placeholder 4">
            <a:extLst>
              <a:ext uri="{FF2B5EF4-FFF2-40B4-BE49-F238E27FC236}">
                <a16:creationId xmlns:a16="http://schemas.microsoft.com/office/drawing/2014/main" id="{4191FFF2-D76D-613F-F00D-3ED2B32A5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28DAA5-6484-2D5B-0827-26CC8D6E62FE}"/>
              </a:ext>
            </a:extLst>
          </p:cNvPr>
          <p:cNvSpPr>
            <a:spLocks noGrp="1"/>
          </p:cNvSpPr>
          <p:nvPr>
            <p:ph type="sldNum" sz="quarter" idx="12"/>
          </p:nvPr>
        </p:nvSpPr>
        <p:spPr/>
        <p:txBody>
          <a:bodyPr/>
          <a:lstStyle/>
          <a:p>
            <a:fld id="{AC49372B-FDD5-4224-A67F-7B389394391F}" type="slidenum">
              <a:rPr lang="en-US" smtClean="0"/>
              <a:t>‹#›</a:t>
            </a:fld>
            <a:endParaRPr lang="en-US"/>
          </a:p>
        </p:txBody>
      </p:sp>
    </p:spTree>
    <p:extLst>
      <p:ext uri="{BB962C8B-B14F-4D97-AF65-F5344CB8AC3E}">
        <p14:creationId xmlns:p14="http://schemas.microsoft.com/office/powerpoint/2010/main" val="4087652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65A53-3482-E838-825C-C7082B6AEB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E0E6D6-9495-B7E4-83D2-DD5C40C7AB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F9699A-B064-9B65-E7B6-16E95A4AEDF7}"/>
              </a:ext>
            </a:extLst>
          </p:cNvPr>
          <p:cNvSpPr>
            <a:spLocks noGrp="1"/>
          </p:cNvSpPr>
          <p:nvPr>
            <p:ph type="dt" sz="half" idx="10"/>
          </p:nvPr>
        </p:nvSpPr>
        <p:spPr/>
        <p:txBody>
          <a:bodyPr/>
          <a:lstStyle/>
          <a:p>
            <a:fld id="{D0F3E884-D7CF-4ED6-9E2F-BEDD66AD34F3}" type="datetimeFigureOut">
              <a:rPr lang="en-US" smtClean="0"/>
              <a:t>10/4/2026</a:t>
            </a:fld>
            <a:endParaRPr lang="en-US"/>
          </a:p>
        </p:txBody>
      </p:sp>
      <p:sp>
        <p:nvSpPr>
          <p:cNvPr id="5" name="Footer Placeholder 4">
            <a:extLst>
              <a:ext uri="{FF2B5EF4-FFF2-40B4-BE49-F238E27FC236}">
                <a16:creationId xmlns:a16="http://schemas.microsoft.com/office/drawing/2014/main" id="{D82FB8D6-E2FF-506A-6791-7FBC926FE7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83BE3B-05F3-9073-5B15-254821DA4054}"/>
              </a:ext>
            </a:extLst>
          </p:cNvPr>
          <p:cNvSpPr>
            <a:spLocks noGrp="1"/>
          </p:cNvSpPr>
          <p:nvPr>
            <p:ph type="sldNum" sz="quarter" idx="12"/>
          </p:nvPr>
        </p:nvSpPr>
        <p:spPr/>
        <p:txBody>
          <a:bodyPr/>
          <a:lstStyle/>
          <a:p>
            <a:fld id="{AC49372B-FDD5-4224-A67F-7B389394391F}" type="slidenum">
              <a:rPr lang="en-US" smtClean="0"/>
              <a:t>‹#›</a:t>
            </a:fld>
            <a:endParaRPr lang="en-US"/>
          </a:p>
        </p:txBody>
      </p:sp>
    </p:spTree>
    <p:extLst>
      <p:ext uri="{BB962C8B-B14F-4D97-AF65-F5344CB8AC3E}">
        <p14:creationId xmlns:p14="http://schemas.microsoft.com/office/powerpoint/2010/main" val="3785182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D8096-06E3-2E62-B57D-B9D7CAD4CD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BDD15B-DE26-2D20-DA96-EF51102D6C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272273-8DD4-CFFE-A13E-DC0D05DB4781}"/>
              </a:ext>
            </a:extLst>
          </p:cNvPr>
          <p:cNvSpPr>
            <a:spLocks noGrp="1"/>
          </p:cNvSpPr>
          <p:nvPr>
            <p:ph type="dt" sz="half" idx="10"/>
          </p:nvPr>
        </p:nvSpPr>
        <p:spPr/>
        <p:txBody>
          <a:bodyPr/>
          <a:lstStyle/>
          <a:p>
            <a:fld id="{D0F3E884-D7CF-4ED6-9E2F-BEDD66AD34F3}" type="datetimeFigureOut">
              <a:rPr lang="en-US" smtClean="0"/>
              <a:t>10/4/2026</a:t>
            </a:fld>
            <a:endParaRPr lang="en-US"/>
          </a:p>
        </p:txBody>
      </p:sp>
      <p:sp>
        <p:nvSpPr>
          <p:cNvPr id="5" name="Footer Placeholder 4">
            <a:extLst>
              <a:ext uri="{FF2B5EF4-FFF2-40B4-BE49-F238E27FC236}">
                <a16:creationId xmlns:a16="http://schemas.microsoft.com/office/drawing/2014/main" id="{CE21B7C3-F6B1-09B1-6595-4DCE388C13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428FA2-80FA-36E7-B306-F0492CB45B74}"/>
              </a:ext>
            </a:extLst>
          </p:cNvPr>
          <p:cNvSpPr>
            <a:spLocks noGrp="1"/>
          </p:cNvSpPr>
          <p:nvPr>
            <p:ph type="sldNum" sz="quarter" idx="12"/>
          </p:nvPr>
        </p:nvSpPr>
        <p:spPr/>
        <p:txBody>
          <a:bodyPr/>
          <a:lstStyle/>
          <a:p>
            <a:fld id="{AC49372B-FDD5-4224-A67F-7B389394391F}" type="slidenum">
              <a:rPr lang="en-US" smtClean="0"/>
              <a:t>‹#›</a:t>
            </a:fld>
            <a:endParaRPr lang="en-US"/>
          </a:p>
        </p:txBody>
      </p:sp>
    </p:spTree>
    <p:extLst>
      <p:ext uri="{BB962C8B-B14F-4D97-AF65-F5344CB8AC3E}">
        <p14:creationId xmlns:p14="http://schemas.microsoft.com/office/powerpoint/2010/main" val="3728624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93727-886D-ECD0-EA6C-EF9861FC14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6B9C7E-9E7E-E7BC-665A-2F8DD3DF20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DE6E18-8C94-32D1-1065-17D5BF17BE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DC2557-E43A-0713-227B-47C26662AE86}"/>
              </a:ext>
            </a:extLst>
          </p:cNvPr>
          <p:cNvSpPr>
            <a:spLocks noGrp="1"/>
          </p:cNvSpPr>
          <p:nvPr>
            <p:ph type="dt" sz="half" idx="10"/>
          </p:nvPr>
        </p:nvSpPr>
        <p:spPr/>
        <p:txBody>
          <a:bodyPr/>
          <a:lstStyle/>
          <a:p>
            <a:fld id="{D0F3E884-D7CF-4ED6-9E2F-BEDD66AD34F3}" type="datetimeFigureOut">
              <a:rPr lang="en-US" smtClean="0"/>
              <a:t>10/4/2026</a:t>
            </a:fld>
            <a:endParaRPr lang="en-US"/>
          </a:p>
        </p:txBody>
      </p:sp>
      <p:sp>
        <p:nvSpPr>
          <p:cNvPr id="6" name="Footer Placeholder 5">
            <a:extLst>
              <a:ext uri="{FF2B5EF4-FFF2-40B4-BE49-F238E27FC236}">
                <a16:creationId xmlns:a16="http://schemas.microsoft.com/office/drawing/2014/main" id="{1D4F6E31-A7F2-EDC0-8A54-46CBF60745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307CAE-DDC2-AD0D-654B-5429797C7B74}"/>
              </a:ext>
            </a:extLst>
          </p:cNvPr>
          <p:cNvSpPr>
            <a:spLocks noGrp="1"/>
          </p:cNvSpPr>
          <p:nvPr>
            <p:ph type="sldNum" sz="quarter" idx="12"/>
          </p:nvPr>
        </p:nvSpPr>
        <p:spPr/>
        <p:txBody>
          <a:bodyPr/>
          <a:lstStyle/>
          <a:p>
            <a:fld id="{AC49372B-FDD5-4224-A67F-7B389394391F}" type="slidenum">
              <a:rPr lang="en-US" smtClean="0"/>
              <a:t>‹#›</a:t>
            </a:fld>
            <a:endParaRPr lang="en-US"/>
          </a:p>
        </p:txBody>
      </p:sp>
    </p:spTree>
    <p:extLst>
      <p:ext uri="{BB962C8B-B14F-4D97-AF65-F5344CB8AC3E}">
        <p14:creationId xmlns:p14="http://schemas.microsoft.com/office/powerpoint/2010/main" val="2889678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D0755-ED7B-78A8-2BA8-5E238C2D2EA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5D2BF8-6A33-B233-35A9-7C2C2211C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034FF5-1F7A-B849-A027-4489B9E5F8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DB067D-87F8-EA17-4555-BD9854DABA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35BCFC-6E40-DFCF-CD50-F442C71737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84A414-78A4-C361-9AA4-E6487A51BC20}"/>
              </a:ext>
            </a:extLst>
          </p:cNvPr>
          <p:cNvSpPr>
            <a:spLocks noGrp="1"/>
          </p:cNvSpPr>
          <p:nvPr>
            <p:ph type="dt" sz="half" idx="10"/>
          </p:nvPr>
        </p:nvSpPr>
        <p:spPr/>
        <p:txBody>
          <a:bodyPr/>
          <a:lstStyle/>
          <a:p>
            <a:fld id="{D0F3E884-D7CF-4ED6-9E2F-BEDD66AD34F3}" type="datetimeFigureOut">
              <a:rPr lang="en-US" smtClean="0"/>
              <a:t>10/4/2026</a:t>
            </a:fld>
            <a:endParaRPr lang="en-US"/>
          </a:p>
        </p:txBody>
      </p:sp>
      <p:sp>
        <p:nvSpPr>
          <p:cNvPr id="8" name="Footer Placeholder 7">
            <a:extLst>
              <a:ext uri="{FF2B5EF4-FFF2-40B4-BE49-F238E27FC236}">
                <a16:creationId xmlns:a16="http://schemas.microsoft.com/office/drawing/2014/main" id="{002B581E-BBDE-D38C-B8B1-03B4169A5B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09F586-A5CF-AB5B-D9D3-0C75CA4CCC16}"/>
              </a:ext>
            </a:extLst>
          </p:cNvPr>
          <p:cNvSpPr>
            <a:spLocks noGrp="1"/>
          </p:cNvSpPr>
          <p:nvPr>
            <p:ph type="sldNum" sz="quarter" idx="12"/>
          </p:nvPr>
        </p:nvSpPr>
        <p:spPr/>
        <p:txBody>
          <a:bodyPr/>
          <a:lstStyle/>
          <a:p>
            <a:fld id="{AC49372B-FDD5-4224-A67F-7B389394391F}" type="slidenum">
              <a:rPr lang="en-US" smtClean="0"/>
              <a:t>‹#›</a:t>
            </a:fld>
            <a:endParaRPr lang="en-US"/>
          </a:p>
        </p:txBody>
      </p:sp>
    </p:spTree>
    <p:extLst>
      <p:ext uri="{BB962C8B-B14F-4D97-AF65-F5344CB8AC3E}">
        <p14:creationId xmlns:p14="http://schemas.microsoft.com/office/powerpoint/2010/main" val="264617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18980-01C0-35D7-6C9A-568EEBAE91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B5DEA0-6BC0-77C4-EF50-0A1CFAFA4D3F}"/>
              </a:ext>
            </a:extLst>
          </p:cNvPr>
          <p:cNvSpPr>
            <a:spLocks noGrp="1"/>
          </p:cNvSpPr>
          <p:nvPr>
            <p:ph type="dt" sz="half" idx="10"/>
          </p:nvPr>
        </p:nvSpPr>
        <p:spPr/>
        <p:txBody>
          <a:bodyPr/>
          <a:lstStyle/>
          <a:p>
            <a:fld id="{D0F3E884-D7CF-4ED6-9E2F-BEDD66AD34F3}" type="datetimeFigureOut">
              <a:rPr lang="en-US" smtClean="0"/>
              <a:t>10/4/2026</a:t>
            </a:fld>
            <a:endParaRPr lang="en-US"/>
          </a:p>
        </p:txBody>
      </p:sp>
      <p:sp>
        <p:nvSpPr>
          <p:cNvPr id="4" name="Footer Placeholder 3">
            <a:extLst>
              <a:ext uri="{FF2B5EF4-FFF2-40B4-BE49-F238E27FC236}">
                <a16:creationId xmlns:a16="http://schemas.microsoft.com/office/drawing/2014/main" id="{90890F19-C60F-836A-A5F8-355A9BBD16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F17A04-FD11-DF9C-E628-0E24A5E4440E}"/>
              </a:ext>
            </a:extLst>
          </p:cNvPr>
          <p:cNvSpPr>
            <a:spLocks noGrp="1"/>
          </p:cNvSpPr>
          <p:nvPr>
            <p:ph type="sldNum" sz="quarter" idx="12"/>
          </p:nvPr>
        </p:nvSpPr>
        <p:spPr/>
        <p:txBody>
          <a:bodyPr/>
          <a:lstStyle/>
          <a:p>
            <a:fld id="{AC49372B-FDD5-4224-A67F-7B389394391F}" type="slidenum">
              <a:rPr lang="en-US" smtClean="0"/>
              <a:t>‹#›</a:t>
            </a:fld>
            <a:endParaRPr lang="en-US"/>
          </a:p>
        </p:txBody>
      </p:sp>
    </p:spTree>
    <p:extLst>
      <p:ext uri="{BB962C8B-B14F-4D97-AF65-F5344CB8AC3E}">
        <p14:creationId xmlns:p14="http://schemas.microsoft.com/office/powerpoint/2010/main" val="2140423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7B205F-C435-0DA3-EC1B-757757DDA3E2}"/>
              </a:ext>
            </a:extLst>
          </p:cNvPr>
          <p:cNvSpPr>
            <a:spLocks noGrp="1"/>
          </p:cNvSpPr>
          <p:nvPr>
            <p:ph type="dt" sz="half" idx="10"/>
          </p:nvPr>
        </p:nvSpPr>
        <p:spPr/>
        <p:txBody>
          <a:bodyPr/>
          <a:lstStyle/>
          <a:p>
            <a:fld id="{D0F3E884-D7CF-4ED6-9E2F-BEDD66AD34F3}" type="datetimeFigureOut">
              <a:rPr lang="en-US" smtClean="0"/>
              <a:t>10/4/2026</a:t>
            </a:fld>
            <a:endParaRPr lang="en-US"/>
          </a:p>
        </p:txBody>
      </p:sp>
      <p:sp>
        <p:nvSpPr>
          <p:cNvPr id="3" name="Footer Placeholder 2">
            <a:extLst>
              <a:ext uri="{FF2B5EF4-FFF2-40B4-BE49-F238E27FC236}">
                <a16:creationId xmlns:a16="http://schemas.microsoft.com/office/drawing/2014/main" id="{125EAEB5-BAA2-C794-E935-3DC482FC59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582791-645D-125F-56B1-C6F445994B2A}"/>
              </a:ext>
            </a:extLst>
          </p:cNvPr>
          <p:cNvSpPr>
            <a:spLocks noGrp="1"/>
          </p:cNvSpPr>
          <p:nvPr>
            <p:ph type="sldNum" sz="quarter" idx="12"/>
          </p:nvPr>
        </p:nvSpPr>
        <p:spPr/>
        <p:txBody>
          <a:bodyPr/>
          <a:lstStyle/>
          <a:p>
            <a:fld id="{AC49372B-FDD5-4224-A67F-7B389394391F}" type="slidenum">
              <a:rPr lang="en-US" smtClean="0"/>
              <a:t>‹#›</a:t>
            </a:fld>
            <a:endParaRPr lang="en-US"/>
          </a:p>
        </p:txBody>
      </p:sp>
    </p:spTree>
    <p:extLst>
      <p:ext uri="{BB962C8B-B14F-4D97-AF65-F5344CB8AC3E}">
        <p14:creationId xmlns:p14="http://schemas.microsoft.com/office/powerpoint/2010/main" val="2084483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975A-22C1-FA0C-D0C5-9D48E9F0E1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377A93-BDD5-4E0D-37C0-FBB6AE1C2C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6DA073-62F8-C252-C541-B8798D0D51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929DF6-5D15-F8FE-650B-E16A7343321B}"/>
              </a:ext>
            </a:extLst>
          </p:cNvPr>
          <p:cNvSpPr>
            <a:spLocks noGrp="1"/>
          </p:cNvSpPr>
          <p:nvPr>
            <p:ph type="dt" sz="half" idx="10"/>
          </p:nvPr>
        </p:nvSpPr>
        <p:spPr/>
        <p:txBody>
          <a:bodyPr/>
          <a:lstStyle/>
          <a:p>
            <a:fld id="{D0F3E884-D7CF-4ED6-9E2F-BEDD66AD34F3}" type="datetimeFigureOut">
              <a:rPr lang="en-US" smtClean="0"/>
              <a:t>10/4/2026</a:t>
            </a:fld>
            <a:endParaRPr lang="en-US"/>
          </a:p>
        </p:txBody>
      </p:sp>
      <p:sp>
        <p:nvSpPr>
          <p:cNvPr id="6" name="Footer Placeholder 5">
            <a:extLst>
              <a:ext uri="{FF2B5EF4-FFF2-40B4-BE49-F238E27FC236}">
                <a16:creationId xmlns:a16="http://schemas.microsoft.com/office/drawing/2014/main" id="{8BF12F42-1618-ECCD-1886-16A94AEB60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6EF08D-22A1-54B5-17B8-190427E6D061}"/>
              </a:ext>
            </a:extLst>
          </p:cNvPr>
          <p:cNvSpPr>
            <a:spLocks noGrp="1"/>
          </p:cNvSpPr>
          <p:nvPr>
            <p:ph type="sldNum" sz="quarter" idx="12"/>
          </p:nvPr>
        </p:nvSpPr>
        <p:spPr/>
        <p:txBody>
          <a:bodyPr/>
          <a:lstStyle/>
          <a:p>
            <a:fld id="{AC49372B-FDD5-4224-A67F-7B389394391F}" type="slidenum">
              <a:rPr lang="en-US" smtClean="0"/>
              <a:t>‹#›</a:t>
            </a:fld>
            <a:endParaRPr lang="en-US"/>
          </a:p>
        </p:txBody>
      </p:sp>
    </p:spTree>
    <p:extLst>
      <p:ext uri="{BB962C8B-B14F-4D97-AF65-F5344CB8AC3E}">
        <p14:creationId xmlns:p14="http://schemas.microsoft.com/office/powerpoint/2010/main" val="2902168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F2AE7-4CE2-2376-6701-6E6B5B0568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55E95D-5343-C585-0071-34DCC925E26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CB1C-2EF7-71A8-22A8-95242BC82B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AB35C0-F76F-EC36-4C9A-AA65E00A47F1}"/>
              </a:ext>
            </a:extLst>
          </p:cNvPr>
          <p:cNvSpPr>
            <a:spLocks noGrp="1"/>
          </p:cNvSpPr>
          <p:nvPr>
            <p:ph type="dt" sz="half" idx="10"/>
          </p:nvPr>
        </p:nvSpPr>
        <p:spPr/>
        <p:txBody>
          <a:bodyPr/>
          <a:lstStyle/>
          <a:p>
            <a:fld id="{D0F3E884-D7CF-4ED6-9E2F-BEDD66AD34F3}" type="datetimeFigureOut">
              <a:rPr lang="en-US" smtClean="0"/>
              <a:t>10/4/2026</a:t>
            </a:fld>
            <a:endParaRPr lang="en-US"/>
          </a:p>
        </p:txBody>
      </p:sp>
      <p:sp>
        <p:nvSpPr>
          <p:cNvPr id="6" name="Footer Placeholder 5">
            <a:extLst>
              <a:ext uri="{FF2B5EF4-FFF2-40B4-BE49-F238E27FC236}">
                <a16:creationId xmlns:a16="http://schemas.microsoft.com/office/drawing/2014/main" id="{439E07DC-E854-B83E-C76B-B3435E5984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9DE493-E3E8-D000-9E69-640852D9A46E}"/>
              </a:ext>
            </a:extLst>
          </p:cNvPr>
          <p:cNvSpPr>
            <a:spLocks noGrp="1"/>
          </p:cNvSpPr>
          <p:nvPr>
            <p:ph type="sldNum" sz="quarter" idx="12"/>
          </p:nvPr>
        </p:nvSpPr>
        <p:spPr/>
        <p:txBody>
          <a:bodyPr/>
          <a:lstStyle/>
          <a:p>
            <a:fld id="{AC49372B-FDD5-4224-A67F-7B389394391F}" type="slidenum">
              <a:rPr lang="en-US" smtClean="0"/>
              <a:t>‹#›</a:t>
            </a:fld>
            <a:endParaRPr lang="en-US"/>
          </a:p>
        </p:txBody>
      </p:sp>
    </p:spTree>
    <p:extLst>
      <p:ext uri="{BB962C8B-B14F-4D97-AF65-F5344CB8AC3E}">
        <p14:creationId xmlns:p14="http://schemas.microsoft.com/office/powerpoint/2010/main" val="3050716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A208D-C497-098A-4C2B-D7B16E6DC0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71750D-AE9F-97A0-56B3-CBE83344F8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07D4A0-C79C-8728-C22E-BECEBE11AB41}"/>
              </a:ext>
            </a:extLst>
          </p:cNvPr>
          <p:cNvSpPr>
            <a:spLocks noGrp="1"/>
          </p:cNvSpPr>
          <p:nvPr>
            <p:ph type="dt" sz="half" idx="10"/>
          </p:nvPr>
        </p:nvSpPr>
        <p:spPr/>
        <p:txBody>
          <a:bodyPr/>
          <a:lstStyle/>
          <a:p>
            <a:fld id="{D0F3E884-D7CF-4ED6-9E2F-BEDD66AD34F3}" type="datetimeFigureOut">
              <a:rPr lang="en-US" smtClean="0"/>
              <a:t>10/4/2026</a:t>
            </a:fld>
            <a:endParaRPr lang="en-US"/>
          </a:p>
        </p:txBody>
      </p:sp>
      <p:sp>
        <p:nvSpPr>
          <p:cNvPr id="5" name="Footer Placeholder 4">
            <a:extLst>
              <a:ext uri="{FF2B5EF4-FFF2-40B4-BE49-F238E27FC236}">
                <a16:creationId xmlns:a16="http://schemas.microsoft.com/office/drawing/2014/main" id="{96A9575C-A950-0CD5-6677-FE5C455A9F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4E954D-C16B-D820-B111-FC7803B83407}"/>
              </a:ext>
            </a:extLst>
          </p:cNvPr>
          <p:cNvSpPr>
            <a:spLocks noGrp="1"/>
          </p:cNvSpPr>
          <p:nvPr>
            <p:ph type="sldNum" sz="quarter" idx="12"/>
          </p:nvPr>
        </p:nvSpPr>
        <p:spPr/>
        <p:txBody>
          <a:bodyPr/>
          <a:lstStyle/>
          <a:p>
            <a:fld id="{AC49372B-FDD5-4224-A67F-7B389394391F}" type="slidenum">
              <a:rPr lang="en-US" smtClean="0"/>
              <a:t>‹#›</a:t>
            </a:fld>
            <a:endParaRPr lang="en-US"/>
          </a:p>
        </p:txBody>
      </p:sp>
    </p:spTree>
    <p:extLst>
      <p:ext uri="{BB962C8B-B14F-4D97-AF65-F5344CB8AC3E}">
        <p14:creationId xmlns:p14="http://schemas.microsoft.com/office/powerpoint/2010/main" val="1325578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371F88-0F19-B41A-DE4C-B13F761B80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CEEEB1-7CF1-8AF7-ACDD-831F88E6FB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B464FD-EA3A-DD7A-BAB1-035B2905D098}"/>
              </a:ext>
            </a:extLst>
          </p:cNvPr>
          <p:cNvSpPr>
            <a:spLocks noGrp="1"/>
          </p:cNvSpPr>
          <p:nvPr>
            <p:ph type="dt" sz="half" idx="10"/>
          </p:nvPr>
        </p:nvSpPr>
        <p:spPr/>
        <p:txBody>
          <a:bodyPr/>
          <a:lstStyle/>
          <a:p>
            <a:fld id="{D0F3E884-D7CF-4ED6-9E2F-BEDD66AD34F3}" type="datetimeFigureOut">
              <a:rPr lang="en-US" smtClean="0"/>
              <a:t>10/4/2026</a:t>
            </a:fld>
            <a:endParaRPr lang="en-US"/>
          </a:p>
        </p:txBody>
      </p:sp>
      <p:sp>
        <p:nvSpPr>
          <p:cNvPr id="5" name="Footer Placeholder 4">
            <a:extLst>
              <a:ext uri="{FF2B5EF4-FFF2-40B4-BE49-F238E27FC236}">
                <a16:creationId xmlns:a16="http://schemas.microsoft.com/office/drawing/2014/main" id="{F04A66A6-7A4E-101A-154F-2E3BDB7B7A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36DA2C-A2A7-2362-51F3-6D21B56CBD28}"/>
              </a:ext>
            </a:extLst>
          </p:cNvPr>
          <p:cNvSpPr>
            <a:spLocks noGrp="1"/>
          </p:cNvSpPr>
          <p:nvPr>
            <p:ph type="sldNum" sz="quarter" idx="12"/>
          </p:nvPr>
        </p:nvSpPr>
        <p:spPr/>
        <p:txBody>
          <a:bodyPr/>
          <a:lstStyle/>
          <a:p>
            <a:fld id="{AC49372B-FDD5-4224-A67F-7B389394391F}" type="slidenum">
              <a:rPr lang="en-US" smtClean="0"/>
              <a:t>‹#›</a:t>
            </a:fld>
            <a:endParaRPr lang="en-US"/>
          </a:p>
        </p:txBody>
      </p:sp>
    </p:spTree>
    <p:extLst>
      <p:ext uri="{BB962C8B-B14F-4D97-AF65-F5344CB8AC3E}">
        <p14:creationId xmlns:p14="http://schemas.microsoft.com/office/powerpoint/2010/main" val="734479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001C3A-4F2E-E5DD-3480-3C606A0576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AA1921-2C31-2C15-47BE-0DB3791486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AEC928-44CF-F69E-7939-67EA27A33E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F3E884-D7CF-4ED6-9E2F-BEDD66AD34F3}" type="datetimeFigureOut">
              <a:rPr lang="en-US" smtClean="0"/>
              <a:t>10/4/2026</a:t>
            </a:fld>
            <a:endParaRPr lang="en-US"/>
          </a:p>
        </p:txBody>
      </p:sp>
      <p:sp>
        <p:nvSpPr>
          <p:cNvPr id="5" name="Footer Placeholder 4">
            <a:extLst>
              <a:ext uri="{FF2B5EF4-FFF2-40B4-BE49-F238E27FC236}">
                <a16:creationId xmlns:a16="http://schemas.microsoft.com/office/drawing/2014/main" id="{513C873D-1956-A7A2-3CED-861D54E034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07D3224-6247-AFD3-FBA7-0E8E1C97C2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49372B-FDD5-4224-A67F-7B389394391F}" type="slidenum">
              <a:rPr lang="en-US" smtClean="0"/>
              <a:t>‹#›</a:t>
            </a:fld>
            <a:endParaRPr lang="en-US"/>
          </a:p>
        </p:txBody>
      </p:sp>
    </p:spTree>
    <p:extLst>
      <p:ext uri="{BB962C8B-B14F-4D97-AF65-F5344CB8AC3E}">
        <p14:creationId xmlns:p14="http://schemas.microsoft.com/office/powerpoint/2010/main" val="2150817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psahay101/cross-language-expense-tracker"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B3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DCE9AD-E362-9F32-13EB-F60CA9070813}"/>
              </a:ext>
            </a:extLst>
          </p:cNvPr>
          <p:cNvSpPr/>
          <p:nvPr/>
        </p:nvSpPr>
        <p:spPr>
          <a:xfrm>
            <a:off x="660400" y="825500"/>
            <a:ext cx="812800" cy="88900"/>
          </a:xfrm>
          <a:prstGeom prst="rect">
            <a:avLst/>
          </a:prstGeom>
          <a:solidFill>
            <a:srgbClr val="BBEE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5751631-9013-FE2C-E4AE-A5FB5E877D53}"/>
              </a:ext>
            </a:extLst>
          </p:cNvPr>
          <p:cNvSpPr txBox="1"/>
          <p:nvPr/>
        </p:nvSpPr>
        <p:spPr>
          <a:xfrm>
            <a:off x="660400" y="1320800"/>
            <a:ext cx="10795000" cy="908518"/>
          </a:xfrm>
          <a:prstGeom prst="rect">
            <a:avLst/>
          </a:prstGeom>
          <a:noFill/>
        </p:spPr>
        <p:txBody>
          <a:bodyPr vert="horz" wrap="square" lIns="0" tIns="0" rIns="0" bIns="0" rtlCol="0">
            <a:spAutoFit/>
          </a:bodyPr>
          <a:lstStyle/>
          <a:p>
            <a:pPr>
              <a:lnSpc>
                <a:spcPct val="115000"/>
              </a:lnSpc>
            </a:pPr>
            <a:r>
              <a:rPr lang="en-US" sz="5400" b="1">
                <a:solidFill>
                  <a:srgbClr val="FFFFFF"/>
                </a:solidFill>
                <a:latin typeface="Aptos" panose="020B0004020202020204" pitchFamily="34" charset="0"/>
              </a:rPr>
              <a:t>Expense Tracker</a:t>
            </a:r>
          </a:p>
        </p:txBody>
      </p:sp>
      <p:sp>
        <p:nvSpPr>
          <p:cNvPr id="4" name="TextBox 3">
            <a:extLst>
              <a:ext uri="{FF2B5EF4-FFF2-40B4-BE49-F238E27FC236}">
                <a16:creationId xmlns:a16="http://schemas.microsoft.com/office/drawing/2014/main" id="{05BB0497-15F1-9A7D-430A-0EDCC8AE0868}"/>
              </a:ext>
            </a:extLst>
          </p:cNvPr>
          <p:cNvSpPr txBox="1"/>
          <p:nvPr/>
        </p:nvSpPr>
        <p:spPr>
          <a:xfrm>
            <a:off x="698500" y="2578100"/>
            <a:ext cx="10795000" cy="504690"/>
          </a:xfrm>
          <a:prstGeom prst="rect">
            <a:avLst/>
          </a:prstGeom>
          <a:noFill/>
        </p:spPr>
        <p:txBody>
          <a:bodyPr vert="horz" wrap="square" lIns="0" tIns="0" rIns="0" bIns="0" rtlCol="0">
            <a:spAutoFit/>
          </a:bodyPr>
          <a:lstStyle/>
          <a:p>
            <a:pPr>
              <a:lnSpc>
                <a:spcPct val="115000"/>
              </a:lnSpc>
            </a:pPr>
            <a:r>
              <a:rPr lang="en-US" sz="3000">
                <a:solidFill>
                  <a:srgbClr val="BBEEDC"/>
                </a:solidFill>
                <a:latin typeface="Aptos" panose="020B0004020202020204" pitchFamily="34" charset="0"/>
              </a:rPr>
              <a:t>The same app, built in Python and C++</a:t>
            </a:r>
          </a:p>
        </p:txBody>
      </p:sp>
      <p:sp>
        <p:nvSpPr>
          <p:cNvPr id="5" name="TextBox 4">
            <a:extLst>
              <a:ext uri="{FF2B5EF4-FFF2-40B4-BE49-F238E27FC236}">
                <a16:creationId xmlns:a16="http://schemas.microsoft.com/office/drawing/2014/main" id="{24D17226-D0B9-C220-B14E-D9C30020BF2D}"/>
              </a:ext>
            </a:extLst>
          </p:cNvPr>
          <p:cNvSpPr txBox="1"/>
          <p:nvPr/>
        </p:nvSpPr>
        <p:spPr>
          <a:xfrm>
            <a:off x="698500" y="3810000"/>
            <a:ext cx="10795000" cy="420628"/>
          </a:xfrm>
          <a:prstGeom prst="rect">
            <a:avLst/>
          </a:prstGeom>
          <a:noFill/>
        </p:spPr>
        <p:txBody>
          <a:bodyPr vert="horz" wrap="square" lIns="0" tIns="0" rIns="0" bIns="0" rtlCol="0">
            <a:spAutoFit/>
          </a:bodyPr>
          <a:lstStyle/>
          <a:p>
            <a:pPr>
              <a:lnSpc>
                <a:spcPct val="115000"/>
              </a:lnSpc>
            </a:pPr>
            <a:r>
              <a:rPr lang="fi-FI" sz="2500">
                <a:solidFill>
                  <a:srgbClr val="FFFFFF"/>
                </a:solidFill>
                <a:latin typeface="Aptos" panose="020B0004020202020204" pitchFamily="34" charset="0"/>
              </a:rPr>
              <a:t>Prateek Sahay and Venkata Sai Makani</a:t>
            </a:r>
            <a:endParaRPr lang="en-US" sz="2500">
              <a:solidFill>
                <a:srgbClr val="FFFFFF"/>
              </a:solidFill>
              <a:latin typeface="Aptos" panose="020B0004020202020204" pitchFamily="34" charset="0"/>
            </a:endParaRPr>
          </a:p>
        </p:txBody>
      </p:sp>
      <p:sp>
        <p:nvSpPr>
          <p:cNvPr id="6" name="TextBox 5">
            <a:extLst>
              <a:ext uri="{FF2B5EF4-FFF2-40B4-BE49-F238E27FC236}">
                <a16:creationId xmlns:a16="http://schemas.microsoft.com/office/drawing/2014/main" id="{ED0F7E12-33DE-281B-F3A0-9B89EB5EA337}"/>
              </a:ext>
            </a:extLst>
          </p:cNvPr>
          <p:cNvSpPr txBox="1"/>
          <p:nvPr/>
        </p:nvSpPr>
        <p:spPr>
          <a:xfrm>
            <a:off x="698500" y="4457700"/>
            <a:ext cx="10795000" cy="336502"/>
          </a:xfrm>
          <a:prstGeom prst="rect">
            <a:avLst/>
          </a:prstGeom>
          <a:noFill/>
        </p:spPr>
        <p:txBody>
          <a:bodyPr vert="horz" wrap="square" lIns="0" tIns="0" rIns="0" bIns="0" rtlCol="0">
            <a:spAutoFit/>
          </a:bodyPr>
          <a:lstStyle/>
          <a:p>
            <a:pPr>
              <a:lnSpc>
                <a:spcPct val="115000"/>
              </a:lnSpc>
            </a:pPr>
            <a:r>
              <a:rPr lang="en-US" sz="2000">
                <a:solidFill>
                  <a:srgbClr val="FFFFFF"/>
                </a:solidFill>
                <a:latin typeface="Aptos" panose="020B0004020202020204" pitchFamily="34" charset="0"/>
              </a:rPr>
              <a:t>MSCS632 | Advanced Programming Languages</a:t>
            </a:r>
          </a:p>
        </p:txBody>
      </p:sp>
      <p:sp>
        <p:nvSpPr>
          <p:cNvPr id="7" name="Rectangle 6">
            <a:extLst>
              <a:ext uri="{FF2B5EF4-FFF2-40B4-BE49-F238E27FC236}">
                <a16:creationId xmlns:a16="http://schemas.microsoft.com/office/drawing/2014/main" id="{0D5DB088-2CCC-686F-D230-4A61A2000A90}"/>
              </a:ext>
            </a:extLst>
          </p:cNvPr>
          <p:cNvSpPr/>
          <p:nvPr/>
        </p:nvSpPr>
        <p:spPr>
          <a:xfrm>
            <a:off x="698500" y="5372100"/>
            <a:ext cx="2108200" cy="6604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88C2274-750F-FEB1-DFF8-B050FAEEABC7}"/>
              </a:ext>
            </a:extLst>
          </p:cNvPr>
          <p:cNvSpPr txBox="1"/>
          <p:nvPr/>
        </p:nvSpPr>
        <p:spPr>
          <a:xfrm>
            <a:off x="889000" y="5524500"/>
            <a:ext cx="1727200" cy="386965"/>
          </a:xfrm>
          <a:prstGeom prst="rect">
            <a:avLst/>
          </a:prstGeom>
          <a:noFill/>
        </p:spPr>
        <p:txBody>
          <a:bodyPr vert="horz" wrap="square" lIns="0" tIns="0" rIns="0" bIns="0" rtlCol="0">
            <a:spAutoFit/>
          </a:bodyPr>
          <a:lstStyle/>
          <a:p>
            <a:pPr algn="ctr">
              <a:lnSpc>
                <a:spcPct val="115000"/>
              </a:lnSpc>
            </a:pPr>
            <a:r>
              <a:rPr lang="en-US" sz="2300" b="1">
                <a:solidFill>
                  <a:srgbClr val="FFFFFF"/>
                </a:solidFill>
                <a:latin typeface="Aptos" panose="020B0004020202020204" pitchFamily="34" charset="0"/>
              </a:rPr>
              <a:t>Python</a:t>
            </a:r>
          </a:p>
        </p:txBody>
      </p:sp>
      <p:sp>
        <p:nvSpPr>
          <p:cNvPr id="9" name="Rectangle 8">
            <a:extLst>
              <a:ext uri="{FF2B5EF4-FFF2-40B4-BE49-F238E27FC236}">
                <a16:creationId xmlns:a16="http://schemas.microsoft.com/office/drawing/2014/main" id="{FF4144FB-A739-6530-DA1B-22830F448C9A}"/>
              </a:ext>
            </a:extLst>
          </p:cNvPr>
          <p:cNvSpPr/>
          <p:nvPr/>
        </p:nvSpPr>
        <p:spPr>
          <a:xfrm>
            <a:off x="3073400" y="5372100"/>
            <a:ext cx="2108200" cy="6604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0DB5BF5-4D52-8975-A67D-1DDFF9418F83}"/>
              </a:ext>
            </a:extLst>
          </p:cNvPr>
          <p:cNvSpPr txBox="1"/>
          <p:nvPr/>
        </p:nvSpPr>
        <p:spPr>
          <a:xfrm>
            <a:off x="3263900" y="5524500"/>
            <a:ext cx="1727200" cy="386965"/>
          </a:xfrm>
          <a:prstGeom prst="rect">
            <a:avLst/>
          </a:prstGeom>
          <a:noFill/>
        </p:spPr>
        <p:txBody>
          <a:bodyPr vert="horz" wrap="square" lIns="0" tIns="0" rIns="0" bIns="0" rtlCol="0">
            <a:spAutoFit/>
          </a:bodyPr>
          <a:lstStyle/>
          <a:p>
            <a:pPr algn="ctr">
              <a:lnSpc>
                <a:spcPct val="115000"/>
              </a:lnSpc>
            </a:pPr>
            <a:r>
              <a:rPr lang="en-US" sz="2300" b="1">
                <a:solidFill>
                  <a:srgbClr val="FFFFFF"/>
                </a:solidFill>
                <a:latin typeface="Aptos" panose="020B0004020202020204" pitchFamily="34" charset="0"/>
              </a:rPr>
              <a:t>C++</a:t>
            </a:r>
          </a:p>
        </p:txBody>
      </p:sp>
      <p:sp>
        <p:nvSpPr>
          <p:cNvPr id="11" name="TextBox 10">
            <a:extLst>
              <a:ext uri="{FF2B5EF4-FFF2-40B4-BE49-F238E27FC236}">
                <a16:creationId xmlns:a16="http://schemas.microsoft.com/office/drawing/2014/main" id="{8A2E0522-BBCE-CAF7-175C-97ACED28BF43}"/>
              </a:ext>
            </a:extLst>
          </p:cNvPr>
          <p:cNvSpPr txBox="1"/>
          <p:nvPr/>
        </p:nvSpPr>
        <p:spPr>
          <a:xfrm>
            <a:off x="635000" y="6527800"/>
            <a:ext cx="8255000" cy="168251"/>
          </a:xfrm>
          <a:prstGeom prst="rect">
            <a:avLst/>
          </a:prstGeom>
          <a:noFill/>
        </p:spPr>
        <p:txBody>
          <a:bodyPr vert="horz" wrap="square" lIns="0" tIns="0" rIns="0" bIns="0" rtlCol="0">
            <a:spAutoFit/>
          </a:bodyPr>
          <a:lstStyle/>
          <a:p>
            <a:pPr>
              <a:lnSpc>
                <a:spcPct val="115000"/>
              </a:lnSpc>
            </a:pPr>
            <a:r>
              <a:rPr lang="en-US" sz="1000">
                <a:solidFill>
                  <a:srgbClr val="FFFFFF"/>
                </a:solidFill>
                <a:latin typeface="Aptos" panose="020B0004020202020204" pitchFamily="34" charset="0"/>
              </a:rPr>
              <a:t>Expense Tracker | Python and C++</a:t>
            </a:r>
          </a:p>
        </p:txBody>
      </p:sp>
      <p:sp>
        <p:nvSpPr>
          <p:cNvPr id="12" name="TextBox 11">
            <a:extLst>
              <a:ext uri="{FF2B5EF4-FFF2-40B4-BE49-F238E27FC236}">
                <a16:creationId xmlns:a16="http://schemas.microsoft.com/office/drawing/2014/main" id="{2E968FC5-A681-B9E1-CC49-0D039A788962}"/>
              </a:ext>
            </a:extLst>
          </p:cNvPr>
          <p:cNvSpPr txBox="1"/>
          <p:nvPr/>
        </p:nvSpPr>
        <p:spPr>
          <a:xfrm>
            <a:off x="10477500" y="6451600"/>
            <a:ext cx="1016000" cy="218778"/>
          </a:xfrm>
          <a:prstGeom prst="rect">
            <a:avLst/>
          </a:prstGeom>
          <a:noFill/>
        </p:spPr>
        <p:txBody>
          <a:bodyPr vert="horz" wrap="square" lIns="0" tIns="0" rIns="0" bIns="0" rtlCol="0">
            <a:spAutoFit/>
          </a:bodyPr>
          <a:lstStyle/>
          <a:p>
            <a:pPr algn="r">
              <a:lnSpc>
                <a:spcPct val="115000"/>
              </a:lnSpc>
            </a:pPr>
            <a:r>
              <a:rPr lang="en-US" sz="1300">
                <a:solidFill>
                  <a:srgbClr val="FFFFFF"/>
                </a:solidFill>
                <a:latin typeface="Aptos" panose="020B0004020202020204" pitchFamily="34" charset="0"/>
              </a:rPr>
              <a:t>1 / 10</a:t>
            </a:r>
          </a:p>
        </p:txBody>
      </p:sp>
    </p:spTree>
    <p:extLst>
      <p:ext uri="{BB962C8B-B14F-4D97-AF65-F5344CB8AC3E}">
        <p14:creationId xmlns:p14="http://schemas.microsoft.com/office/powerpoint/2010/main" val="2690451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BEE0B4-7FD1-5D48-DC21-09D25E45A814}"/>
              </a:ext>
            </a:extLst>
          </p:cNvPr>
          <p:cNvSpPr/>
          <p:nvPr/>
        </p:nvSpPr>
        <p:spPr>
          <a:xfrm>
            <a:off x="0" y="0"/>
            <a:ext cx="12192000" cy="1016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110CEFD-979E-A256-E774-5898A39FB373}"/>
              </a:ext>
            </a:extLst>
          </p:cNvPr>
          <p:cNvSpPr txBox="1"/>
          <p:nvPr/>
        </p:nvSpPr>
        <p:spPr>
          <a:xfrm>
            <a:off x="609600" y="469900"/>
            <a:ext cx="10985500" cy="572016"/>
          </a:xfrm>
          <a:prstGeom prst="rect">
            <a:avLst/>
          </a:prstGeom>
          <a:noFill/>
        </p:spPr>
        <p:txBody>
          <a:bodyPr vert="horz" wrap="square" lIns="0" tIns="0" rIns="0" bIns="0" rtlCol="0">
            <a:spAutoFit/>
          </a:bodyPr>
          <a:lstStyle/>
          <a:p>
            <a:pPr>
              <a:lnSpc>
                <a:spcPct val="115000"/>
              </a:lnSpc>
            </a:pPr>
            <a:r>
              <a:rPr lang="en-US" sz="3400" b="1">
                <a:solidFill>
                  <a:srgbClr val="172B3D"/>
                </a:solidFill>
                <a:latin typeface="Aptos" panose="020B0004020202020204" pitchFamily="34" charset="0"/>
              </a:rPr>
              <a:t>What can the app do?</a:t>
            </a:r>
          </a:p>
        </p:txBody>
      </p:sp>
      <p:sp>
        <p:nvSpPr>
          <p:cNvPr id="4" name="TextBox 3">
            <a:extLst>
              <a:ext uri="{FF2B5EF4-FFF2-40B4-BE49-F238E27FC236}">
                <a16:creationId xmlns:a16="http://schemas.microsoft.com/office/drawing/2014/main" id="{84D494E6-EA02-CA56-1A5C-ED5F0E389B9B}"/>
              </a:ext>
            </a:extLst>
          </p:cNvPr>
          <p:cNvSpPr txBox="1"/>
          <p:nvPr/>
        </p:nvSpPr>
        <p:spPr>
          <a:xfrm>
            <a:off x="635000" y="1282700"/>
            <a:ext cx="10922000" cy="353302"/>
          </a:xfrm>
          <a:prstGeom prst="rect">
            <a:avLst/>
          </a:prstGeom>
          <a:noFill/>
        </p:spPr>
        <p:txBody>
          <a:bodyPr vert="horz" wrap="square" lIns="0" tIns="0" rIns="0" bIns="0" rtlCol="0">
            <a:spAutoFit/>
          </a:bodyPr>
          <a:lstStyle/>
          <a:p>
            <a:pPr>
              <a:lnSpc>
                <a:spcPct val="115000"/>
              </a:lnSpc>
            </a:pPr>
            <a:r>
              <a:rPr lang="en-US" sz="2100">
                <a:solidFill>
                  <a:srgbClr val="546775"/>
                </a:solidFill>
                <a:latin typeface="Aptos" panose="020B0004020202020204" pitchFamily="34" charset="0"/>
              </a:rPr>
              <a:t>A simple way to record and review everyday spending</a:t>
            </a:r>
          </a:p>
        </p:txBody>
      </p:sp>
      <p:sp>
        <p:nvSpPr>
          <p:cNvPr id="5" name="Rectangle 4">
            <a:extLst>
              <a:ext uri="{FF2B5EF4-FFF2-40B4-BE49-F238E27FC236}">
                <a16:creationId xmlns:a16="http://schemas.microsoft.com/office/drawing/2014/main" id="{6AE8FBD7-89DE-40EA-ED46-101F16371294}"/>
              </a:ext>
            </a:extLst>
          </p:cNvPr>
          <p:cNvSpPr/>
          <p:nvPr/>
        </p:nvSpPr>
        <p:spPr>
          <a:xfrm>
            <a:off x="635000" y="2171700"/>
            <a:ext cx="5245100" cy="1689100"/>
          </a:xfrm>
          <a:prstGeom prst="rect">
            <a:avLst/>
          </a:prstGeom>
          <a:solidFill>
            <a:srgbClr val="F2F6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79EBD34-7E6E-29AE-A296-1CEBAC5ADF67}"/>
              </a:ext>
            </a:extLst>
          </p:cNvPr>
          <p:cNvSpPr txBox="1"/>
          <p:nvPr/>
        </p:nvSpPr>
        <p:spPr>
          <a:xfrm>
            <a:off x="863600" y="2387600"/>
            <a:ext cx="660400" cy="370166"/>
          </a:xfrm>
          <a:prstGeom prst="rect">
            <a:avLst/>
          </a:prstGeom>
          <a:noFill/>
        </p:spPr>
        <p:txBody>
          <a:bodyPr vert="horz" wrap="square" lIns="0" tIns="0" rIns="0" bIns="0" rtlCol="0">
            <a:spAutoFit/>
          </a:bodyPr>
          <a:lstStyle/>
          <a:p>
            <a:pPr>
              <a:lnSpc>
                <a:spcPct val="115000"/>
              </a:lnSpc>
            </a:pPr>
            <a:r>
              <a:rPr lang="en-US" sz="2200" b="1">
                <a:solidFill>
                  <a:srgbClr val="007877"/>
                </a:solidFill>
                <a:latin typeface="Aptos" panose="020B0004020202020204" pitchFamily="34" charset="0"/>
              </a:rPr>
              <a:t>01</a:t>
            </a:r>
          </a:p>
        </p:txBody>
      </p:sp>
      <p:sp>
        <p:nvSpPr>
          <p:cNvPr id="7" name="TextBox 6">
            <a:extLst>
              <a:ext uri="{FF2B5EF4-FFF2-40B4-BE49-F238E27FC236}">
                <a16:creationId xmlns:a16="http://schemas.microsoft.com/office/drawing/2014/main" id="{D023306B-43A7-4223-8533-D2444C5261A7}"/>
              </a:ext>
            </a:extLst>
          </p:cNvPr>
          <p:cNvSpPr txBox="1"/>
          <p:nvPr/>
        </p:nvSpPr>
        <p:spPr>
          <a:xfrm>
            <a:off x="1612900" y="2374900"/>
            <a:ext cx="3937000" cy="420628"/>
          </a:xfrm>
          <a:prstGeom prst="rect">
            <a:avLst/>
          </a:prstGeom>
          <a:noFill/>
        </p:spPr>
        <p:txBody>
          <a:bodyPr vert="horz" wrap="square" lIns="0" tIns="0" rIns="0" bIns="0" rtlCol="0">
            <a:spAutoFit/>
          </a:bodyPr>
          <a:lstStyle/>
          <a:p>
            <a:pPr>
              <a:lnSpc>
                <a:spcPct val="115000"/>
              </a:lnSpc>
            </a:pPr>
            <a:r>
              <a:rPr lang="en-US" sz="2500" b="1">
                <a:solidFill>
                  <a:srgbClr val="172B3D"/>
                </a:solidFill>
                <a:latin typeface="Aptos" panose="020B0004020202020204" pitchFamily="34" charset="0"/>
              </a:rPr>
              <a:t>Add an expense</a:t>
            </a:r>
          </a:p>
        </p:txBody>
      </p:sp>
      <p:sp>
        <p:nvSpPr>
          <p:cNvPr id="8" name="TextBox 7">
            <a:extLst>
              <a:ext uri="{FF2B5EF4-FFF2-40B4-BE49-F238E27FC236}">
                <a16:creationId xmlns:a16="http://schemas.microsoft.com/office/drawing/2014/main" id="{D26A608F-67BB-6247-81D6-1F474FD3EF7C}"/>
              </a:ext>
            </a:extLst>
          </p:cNvPr>
          <p:cNvSpPr txBox="1"/>
          <p:nvPr/>
        </p:nvSpPr>
        <p:spPr>
          <a:xfrm>
            <a:off x="1612900" y="2971800"/>
            <a:ext cx="3937000" cy="690445"/>
          </a:xfrm>
          <a:prstGeom prst="rect">
            <a:avLst/>
          </a:prstGeom>
          <a:noFill/>
        </p:spPr>
        <p:txBody>
          <a:bodyPr vert="horz" wrap="square" lIns="0" tIns="0" rIns="0" bIns="0" rtlCol="0">
            <a:spAutoFit/>
          </a:bodyPr>
          <a:lstStyle/>
          <a:p>
            <a:pPr>
              <a:lnSpc>
                <a:spcPct val="115000"/>
              </a:lnSpc>
            </a:pPr>
            <a:r>
              <a:rPr lang="en-US" sz="2000">
                <a:solidFill>
                  <a:srgbClr val="546775"/>
                </a:solidFill>
                <a:latin typeface="Aptos" panose="020B0004020202020204" pitchFamily="34" charset="0"/>
              </a:rPr>
              <a:t>Date, amount, category, and description</a:t>
            </a:r>
          </a:p>
        </p:txBody>
      </p:sp>
      <p:sp>
        <p:nvSpPr>
          <p:cNvPr id="9" name="Rectangle 8">
            <a:extLst>
              <a:ext uri="{FF2B5EF4-FFF2-40B4-BE49-F238E27FC236}">
                <a16:creationId xmlns:a16="http://schemas.microsoft.com/office/drawing/2014/main" id="{B0A82F33-EC02-79ED-7F70-65F65FAE63F2}"/>
              </a:ext>
            </a:extLst>
          </p:cNvPr>
          <p:cNvSpPr/>
          <p:nvPr/>
        </p:nvSpPr>
        <p:spPr>
          <a:xfrm>
            <a:off x="6299200" y="2171700"/>
            <a:ext cx="5245100" cy="1689100"/>
          </a:xfrm>
          <a:prstGeom prst="rect">
            <a:avLst/>
          </a:prstGeom>
          <a:solidFill>
            <a:srgbClr val="F2F6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FA6D6C1-66FC-FCE6-8C7C-ABCBB6BA7F1B}"/>
              </a:ext>
            </a:extLst>
          </p:cNvPr>
          <p:cNvSpPr txBox="1"/>
          <p:nvPr/>
        </p:nvSpPr>
        <p:spPr>
          <a:xfrm>
            <a:off x="6527800" y="2387600"/>
            <a:ext cx="660400" cy="370166"/>
          </a:xfrm>
          <a:prstGeom prst="rect">
            <a:avLst/>
          </a:prstGeom>
          <a:noFill/>
        </p:spPr>
        <p:txBody>
          <a:bodyPr vert="horz" wrap="square" lIns="0" tIns="0" rIns="0" bIns="0" rtlCol="0">
            <a:spAutoFit/>
          </a:bodyPr>
          <a:lstStyle/>
          <a:p>
            <a:pPr>
              <a:lnSpc>
                <a:spcPct val="115000"/>
              </a:lnSpc>
            </a:pPr>
            <a:r>
              <a:rPr lang="en-US" sz="2200" b="1">
                <a:solidFill>
                  <a:srgbClr val="007877"/>
                </a:solidFill>
                <a:latin typeface="Aptos" panose="020B0004020202020204" pitchFamily="34" charset="0"/>
              </a:rPr>
              <a:t>02</a:t>
            </a:r>
          </a:p>
        </p:txBody>
      </p:sp>
      <p:sp>
        <p:nvSpPr>
          <p:cNvPr id="11" name="TextBox 10">
            <a:extLst>
              <a:ext uri="{FF2B5EF4-FFF2-40B4-BE49-F238E27FC236}">
                <a16:creationId xmlns:a16="http://schemas.microsoft.com/office/drawing/2014/main" id="{9E7CFFCB-46A1-334F-C58C-E88B17975AF5}"/>
              </a:ext>
            </a:extLst>
          </p:cNvPr>
          <p:cNvSpPr txBox="1"/>
          <p:nvPr/>
        </p:nvSpPr>
        <p:spPr>
          <a:xfrm>
            <a:off x="7277100" y="2374900"/>
            <a:ext cx="3937000" cy="420628"/>
          </a:xfrm>
          <a:prstGeom prst="rect">
            <a:avLst/>
          </a:prstGeom>
          <a:noFill/>
        </p:spPr>
        <p:txBody>
          <a:bodyPr vert="horz" wrap="square" lIns="0" tIns="0" rIns="0" bIns="0" rtlCol="0">
            <a:spAutoFit/>
          </a:bodyPr>
          <a:lstStyle/>
          <a:p>
            <a:pPr>
              <a:lnSpc>
                <a:spcPct val="115000"/>
              </a:lnSpc>
            </a:pPr>
            <a:r>
              <a:rPr lang="en-US" sz="2500" b="1">
                <a:solidFill>
                  <a:srgbClr val="172B3D"/>
                </a:solidFill>
                <a:latin typeface="Aptos" panose="020B0004020202020204" pitchFamily="34" charset="0"/>
              </a:rPr>
              <a:t>Find an expense</a:t>
            </a:r>
          </a:p>
        </p:txBody>
      </p:sp>
      <p:sp>
        <p:nvSpPr>
          <p:cNvPr id="12" name="TextBox 11">
            <a:extLst>
              <a:ext uri="{FF2B5EF4-FFF2-40B4-BE49-F238E27FC236}">
                <a16:creationId xmlns:a16="http://schemas.microsoft.com/office/drawing/2014/main" id="{F551EEC8-83EE-5CD5-D43C-D0DA3261B8DF}"/>
              </a:ext>
            </a:extLst>
          </p:cNvPr>
          <p:cNvSpPr txBox="1"/>
          <p:nvPr/>
        </p:nvSpPr>
        <p:spPr>
          <a:xfrm>
            <a:off x="7277100" y="2971800"/>
            <a:ext cx="3937000" cy="336502"/>
          </a:xfrm>
          <a:prstGeom prst="rect">
            <a:avLst/>
          </a:prstGeom>
          <a:noFill/>
        </p:spPr>
        <p:txBody>
          <a:bodyPr vert="horz" wrap="square" lIns="0" tIns="0" rIns="0" bIns="0" rtlCol="0">
            <a:spAutoFit/>
          </a:bodyPr>
          <a:lstStyle/>
          <a:p>
            <a:pPr>
              <a:lnSpc>
                <a:spcPct val="115000"/>
              </a:lnSpc>
            </a:pPr>
            <a:r>
              <a:rPr lang="en-US" sz="2000">
                <a:solidFill>
                  <a:srgbClr val="546775"/>
                </a:solidFill>
                <a:latin typeface="Aptos" panose="020B0004020202020204" pitchFamily="34" charset="0"/>
              </a:rPr>
              <a:t>View the list or search by a word</a:t>
            </a:r>
          </a:p>
        </p:txBody>
      </p:sp>
      <p:sp>
        <p:nvSpPr>
          <p:cNvPr id="13" name="Rectangle 12">
            <a:extLst>
              <a:ext uri="{FF2B5EF4-FFF2-40B4-BE49-F238E27FC236}">
                <a16:creationId xmlns:a16="http://schemas.microsoft.com/office/drawing/2014/main" id="{B55D9BA9-7EE8-B4AF-72EF-DF85C2505521}"/>
              </a:ext>
            </a:extLst>
          </p:cNvPr>
          <p:cNvSpPr/>
          <p:nvPr/>
        </p:nvSpPr>
        <p:spPr>
          <a:xfrm>
            <a:off x="635000" y="4178300"/>
            <a:ext cx="5245100" cy="1689100"/>
          </a:xfrm>
          <a:prstGeom prst="rect">
            <a:avLst/>
          </a:prstGeom>
          <a:solidFill>
            <a:srgbClr val="F2F6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1EE9107-D5EC-D39C-9835-E36A6DD7A9DF}"/>
              </a:ext>
            </a:extLst>
          </p:cNvPr>
          <p:cNvSpPr txBox="1"/>
          <p:nvPr/>
        </p:nvSpPr>
        <p:spPr>
          <a:xfrm>
            <a:off x="863600" y="4394200"/>
            <a:ext cx="660400" cy="370166"/>
          </a:xfrm>
          <a:prstGeom prst="rect">
            <a:avLst/>
          </a:prstGeom>
          <a:noFill/>
        </p:spPr>
        <p:txBody>
          <a:bodyPr vert="horz" wrap="square" lIns="0" tIns="0" rIns="0" bIns="0" rtlCol="0">
            <a:spAutoFit/>
          </a:bodyPr>
          <a:lstStyle/>
          <a:p>
            <a:pPr>
              <a:lnSpc>
                <a:spcPct val="115000"/>
              </a:lnSpc>
            </a:pPr>
            <a:r>
              <a:rPr lang="en-US" sz="2200" b="1">
                <a:solidFill>
                  <a:srgbClr val="007877"/>
                </a:solidFill>
                <a:latin typeface="Aptos" panose="020B0004020202020204" pitchFamily="34" charset="0"/>
              </a:rPr>
              <a:t>03</a:t>
            </a:r>
          </a:p>
        </p:txBody>
      </p:sp>
      <p:sp>
        <p:nvSpPr>
          <p:cNvPr id="15" name="TextBox 14">
            <a:extLst>
              <a:ext uri="{FF2B5EF4-FFF2-40B4-BE49-F238E27FC236}">
                <a16:creationId xmlns:a16="http://schemas.microsoft.com/office/drawing/2014/main" id="{3784F800-8500-F3C4-0186-4FDB05630752}"/>
              </a:ext>
            </a:extLst>
          </p:cNvPr>
          <p:cNvSpPr txBox="1"/>
          <p:nvPr/>
        </p:nvSpPr>
        <p:spPr>
          <a:xfrm>
            <a:off x="1612900" y="4381500"/>
            <a:ext cx="3937000" cy="420628"/>
          </a:xfrm>
          <a:prstGeom prst="rect">
            <a:avLst/>
          </a:prstGeom>
          <a:noFill/>
        </p:spPr>
        <p:txBody>
          <a:bodyPr vert="horz" wrap="square" lIns="0" tIns="0" rIns="0" bIns="0" rtlCol="0">
            <a:spAutoFit/>
          </a:bodyPr>
          <a:lstStyle/>
          <a:p>
            <a:pPr>
              <a:lnSpc>
                <a:spcPct val="115000"/>
              </a:lnSpc>
            </a:pPr>
            <a:r>
              <a:rPr lang="en-US" sz="2500" b="1">
                <a:solidFill>
                  <a:srgbClr val="172B3D"/>
                </a:solidFill>
                <a:latin typeface="Aptos" panose="020B0004020202020204" pitchFamily="34" charset="0"/>
              </a:rPr>
              <a:t>Filter the list</a:t>
            </a:r>
          </a:p>
        </p:txBody>
      </p:sp>
      <p:sp>
        <p:nvSpPr>
          <p:cNvPr id="16" name="TextBox 15">
            <a:extLst>
              <a:ext uri="{FF2B5EF4-FFF2-40B4-BE49-F238E27FC236}">
                <a16:creationId xmlns:a16="http://schemas.microsoft.com/office/drawing/2014/main" id="{4C10FD16-90A8-DA2C-B430-AC182AB11897}"/>
              </a:ext>
            </a:extLst>
          </p:cNvPr>
          <p:cNvSpPr txBox="1"/>
          <p:nvPr/>
        </p:nvSpPr>
        <p:spPr>
          <a:xfrm>
            <a:off x="1612900" y="4978400"/>
            <a:ext cx="3937000" cy="336502"/>
          </a:xfrm>
          <a:prstGeom prst="rect">
            <a:avLst/>
          </a:prstGeom>
          <a:noFill/>
        </p:spPr>
        <p:txBody>
          <a:bodyPr vert="horz" wrap="square" lIns="0" tIns="0" rIns="0" bIns="0" rtlCol="0">
            <a:spAutoFit/>
          </a:bodyPr>
          <a:lstStyle/>
          <a:p>
            <a:pPr>
              <a:lnSpc>
                <a:spcPct val="115000"/>
              </a:lnSpc>
            </a:pPr>
            <a:r>
              <a:rPr lang="en-US" sz="2000">
                <a:solidFill>
                  <a:srgbClr val="546775"/>
                </a:solidFill>
                <a:latin typeface="Aptos" panose="020B0004020202020204" pitchFamily="34" charset="0"/>
              </a:rPr>
              <a:t>Choose a date range or a category</a:t>
            </a:r>
          </a:p>
        </p:txBody>
      </p:sp>
      <p:sp>
        <p:nvSpPr>
          <p:cNvPr id="17" name="Rectangle 16">
            <a:extLst>
              <a:ext uri="{FF2B5EF4-FFF2-40B4-BE49-F238E27FC236}">
                <a16:creationId xmlns:a16="http://schemas.microsoft.com/office/drawing/2014/main" id="{8BDA8F69-BD29-34BD-52A1-824BC4CB7F51}"/>
              </a:ext>
            </a:extLst>
          </p:cNvPr>
          <p:cNvSpPr/>
          <p:nvPr/>
        </p:nvSpPr>
        <p:spPr>
          <a:xfrm>
            <a:off x="6299200" y="4178300"/>
            <a:ext cx="5245100" cy="1689100"/>
          </a:xfrm>
          <a:prstGeom prst="rect">
            <a:avLst/>
          </a:prstGeom>
          <a:solidFill>
            <a:srgbClr val="F2F6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4E2A686-BD56-CE03-DCD7-34510B1C060E}"/>
              </a:ext>
            </a:extLst>
          </p:cNvPr>
          <p:cNvSpPr txBox="1"/>
          <p:nvPr/>
        </p:nvSpPr>
        <p:spPr>
          <a:xfrm>
            <a:off x="6527800" y="4394200"/>
            <a:ext cx="660400" cy="370166"/>
          </a:xfrm>
          <a:prstGeom prst="rect">
            <a:avLst/>
          </a:prstGeom>
          <a:noFill/>
        </p:spPr>
        <p:txBody>
          <a:bodyPr vert="horz" wrap="square" lIns="0" tIns="0" rIns="0" bIns="0" rtlCol="0">
            <a:spAutoFit/>
          </a:bodyPr>
          <a:lstStyle/>
          <a:p>
            <a:pPr>
              <a:lnSpc>
                <a:spcPct val="115000"/>
              </a:lnSpc>
            </a:pPr>
            <a:r>
              <a:rPr lang="en-US" sz="2200" b="1">
                <a:solidFill>
                  <a:srgbClr val="007877"/>
                </a:solidFill>
                <a:latin typeface="Aptos" panose="020B0004020202020204" pitchFamily="34" charset="0"/>
              </a:rPr>
              <a:t>04</a:t>
            </a:r>
          </a:p>
        </p:txBody>
      </p:sp>
      <p:sp>
        <p:nvSpPr>
          <p:cNvPr id="19" name="TextBox 18">
            <a:extLst>
              <a:ext uri="{FF2B5EF4-FFF2-40B4-BE49-F238E27FC236}">
                <a16:creationId xmlns:a16="http://schemas.microsoft.com/office/drawing/2014/main" id="{40A35BF6-1B05-88A8-5D8A-EE9B6D18A337}"/>
              </a:ext>
            </a:extLst>
          </p:cNvPr>
          <p:cNvSpPr txBox="1"/>
          <p:nvPr/>
        </p:nvSpPr>
        <p:spPr>
          <a:xfrm>
            <a:off x="7277100" y="4381500"/>
            <a:ext cx="3937000" cy="420628"/>
          </a:xfrm>
          <a:prstGeom prst="rect">
            <a:avLst/>
          </a:prstGeom>
          <a:noFill/>
        </p:spPr>
        <p:txBody>
          <a:bodyPr vert="horz" wrap="square" lIns="0" tIns="0" rIns="0" bIns="0" rtlCol="0">
            <a:spAutoFit/>
          </a:bodyPr>
          <a:lstStyle/>
          <a:p>
            <a:pPr>
              <a:lnSpc>
                <a:spcPct val="115000"/>
              </a:lnSpc>
            </a:pPr>
            <a:r>
              <a:rPr lang="en-US" sz="2500" b="1">
                <a:solidFill>
                  <a:srgbClr val="172B3D"/>
                </a:solidFill>
                <a:latin typeface="Aptos" panose="020B0004020202020204" pitchFamily="34" charset="0"/>
              </a:rPr>
              <a:t>See totals</a:t>
            </a:r>
          </a:p>
        </p:txBody>
      </p:sp>
      <p:sp>
        <p:nvSpPr>
          <p:cNvPr id="20" name="TextBox 19">
            <a:extLst>
              <a:ext uri="{FF2B5EF4-FFF2-40B4-BE49-F238E27FC236}">
                <a16:creationId xmlns:a16="http://schemas.microsoft.com/office/drawing/2014/main" id="{8C8866ED-908A-F2A1-0E8C-7D8A15DC0A4C}"/>
              </a:ext>
            </a:extLst>
          </p:cNvPr>
          <p:cNvSpPr txBox="1"/>
          <p:nvPr/>
        </p:nvSpPr>
        <p:spPr>
          <a:xfrm>
            <a:off x="7277100" y="4978400"/>
            <a:ext cx="3937000" cy="336502"/>
          </a:xfrm>
          <a:prstGeom prst="rect">
            <a:avLst/>
          </a:prstGeom>
          <a:noFill/>
        </p:spPr>
        <p:txBody>
          <a:bodyPr vert="horz" wrap="square" lIns="0" tIns="0" rIns="0" bIns="0" rtlCol="0">
            <a:spAutoFit/>
          </a:bodyPr>
          <a:lstStyle/>
          <a:p>
            <a:pPr>
              <a:lnSpc>
                <a:spcPct val="115000"/>
              </a:lnSpc>
            </a:pPr>
            <a:r>
              <a:rPr lang="en-US" sz="2000">
                <a:solidFill>
                  <a:srgbClr val="546775"/>
                </a:solidFill>
                <a:latin typeface="Aptos" panose="020B0004020202020204" pitchFamily="34" charset="0"/>
              </a:rPr>
              <a:t>Spending by category and overall</a:t>
            </a:r>
          </a:p>
        </p:txBody>
      </p:sp>
      <p:sp>
        <p:nvSpPr>
          <p:cNvPr id="21" name="TextBox 20">
            <a:extLst>
              <a:ext uri="{FF2B5EF4-FFF2-40B4-BE49-F238E27FC236}">
                <a16:creationId xmlns:a16="http://schemas.microsoft.com/office/drawing/2014/main" id="{9527C887-BC4F-E2ED-7048-78DBC826E30C}"/>
              </a:ext>
            </a:extLst>
          </p:cNvPr>
          <p:cNvSpPr txBox="1"/>
          <p:nvPr/>
        </p:nvSpPr>
        <p:spPr>
          <a:xfrm>
            <a:off x="635000" y="6527800"/>
            <a:ext cx="8255000" cy="168251"/>
          </a:xfrm>
          <a:prstGeom prst="rect">
            <a:avLst/>
          </a:prstGeom>
          <a:noFill/>
        </p:spPr>
        <p:txBody>
          <a:bodyPr vert="horz" wrap="square" lIns="0" tIns="0" rIns="0" bIns="0" rtlCol="0">
            <a:spAutoFit/>
          </a:bodyPr>
          <a:lstStyle/>
          <a:p>
            <a:pPr>
              <a:lnSpc>
                <a:spcPct val="115000"/>
              </a:lnSpc>
            </a:pPr>
            <a:r>
              <a:rPr lang="en-US" sz="1000">
                <a:solidFill>
                  <a:srgbClr val="546775"/>
                </a:solidFill>
                <a:latin typeface="Aptos" panose="020B0004020202020204" pitchFamily="34" charset="0"/>
              </a:rPr>
              <a:t>Expense Tracker | Python and C++</a:t>
            </a:r>
          </a:p>
        </p:txBody>
      </p:sp>
      <p:sp>
        <p:nvSpPr>
          <p:cNvPr id="22" name="TextBox 21">
            <a:extLst>
              <a:ext uri="{FF2B5EF4-FFF2-40B4-BE49-F238E27FC236}">
                <a16:creationId xmlns:a16="http://schemas.microsoft.com/office/drawing/2014/main" id="{7E4965D6-A68F-A895-5D10-60241DF20AAA}"/>
              </a:ext>
            </a:extLst>
          </p:cNvPr>
          <p:cNvSpPr txBox="1"/>
          <p:nvPr/>
        </p:nvSpPr>
        <p:spPr>
          <a:xfrm>
            <a:off x="10477500" y="6451600"/>
            <a:ext cx="1016000" cy="218778"/>
          </a:xfrm>
          <a:prstGeom prst="rect">
            <a:avLst/>
          </a:prstGeom>
          <a:noFill/>
        </p:spPr>
        <p:txBody>
          <a:bodyPr vert="horz" wrap="square" lIns="0" tIns="0" rIns="0" bIns="0" rtlCol="0">
            <a:spAutoFit/>
          </a:bodyPr>
          <a:lstStyle/>
          <a:p>
            <a:pPr algn="r">
              <a:lnSpc>
                <a:spcPct val="115000"/>
              </a:lnSpc>
            </a:pPr>
            <a:r>
              <a:rPr lang="en-US" sz="1300">
                <a:solidFill>
                  <a:srgbClr val="546775"/>
                </a:solidFill>
                <a:latin typeface="Aptos" panose="020B0004020202020204" pitchFamily="34" charset="0"/>
              </a:rPr>
              <a:t>2 / 10</a:t>
            </a:r>
          </a:p>
        </p:txBody>
      </p:sp>
    </p:spTree>
    <p:extLst>
      <p:ext uri="{BB962C8B-B14F-4D97-AF65-F5344CB8AC3E}">
        <p14:creationId xmlns:p14="http://schemas.microsoft.com/office/powerpoint/2010/main" val="311820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1C8B36-DE80-AA15-F027-F01214E062D7}"/>
              </a:ext>
            </a:extLst>
          </p:cNvPr>
          <p:cNvSpPr/>
          <p:nvPr/>
        </p:nvSpPr>
        <p:spPr>
          <a:xfrm>
            <a:off x="0" y="0"/>
            <a:ext cx="12192000" cy="1016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D979B80-8D1D-CEB6-2943-858086EEF241}"/>
              </a:ext>
            </a:extLst>
          </p:cNvPr>
          <p:cNvSpPr txBox="1"/>
          <p:nvPr/>
        </p:nvSpPr>
        <p:spPr>
          <a:xfrm>
            <a:off x="609600" y="469900"/>
            <a:ext cx="10985500" cy="572016"/>
          </a:xfrm>
          <a:prstGeom prst="rect">
            <a:avLst/>
          </a:prstGeom>
          <a:noFill/>
        </p:spPr>
        <p:txBody>
          <a:bodyPr vert="horz" wrap="square" lIns="0" tIns="0" rIns="0" bIns="0" rtlCol="0">
            <a:spAutoFit/>
          </a:bodyPr>
          <a:lstStyle/>
          <a:p>
            <a:pPr>
              <a:lnSpc>
                <a:spcPct val="115000"/>
              </a:lnSpc>
            </a:pPr>
            <a:r>
              <a:rPr lang="en-US" sz="3400" b="1">
                <a:solidFill>
                  <a:srgbClr val="172B3D"/>
                </a:solidFill>
                <a:latin typeface="Aptos" panose="020B0004020202020204" pitchFamily="34" charset="0"/>
              </a:rPr>
              <a:t>A simple example</a:t>
            </a:r>
          </a:p>
        </p:txBody>
      </p:sp>
      <p:sp>
        <p:nvSpPr>
          <p:cNvPr id="4" name="TextBox 3">
            <a:extLst>
              <a:ext uri="{FF2B5EF4-FFF2-40B4-BE49-F238E27FC236}">
                <a16:creationId xmlns:a16="http://schemas.microsoft.com/office/drawing/2014/main" id="{D5402248-5714-EE37-9BDA-41B55BF6294F}"/>
              </a:ext>
            </a:extLst>
          </p:cNvPr>
          <p:cNvSpPr txBox="1"/>
          <p:nvPr/>
        </p:nvSpPr>
        <p:spPr>
          <a:xfrm>
            <a:off x="635000" y="1282700"/>
            <a:ext cx="10922000" cy="353302"/>
          </a:xfrm>
          <a:prstGeom prst="rect">
            <a:avLst/>
          </a:prstGeom>
          <a:noFill/>
        </p:spPr>
        <p:txBody>
          <a:bodyPr vert="horz" wrap="square" lIns="0" tIns="0" rIns="0" bIns="0" rtlCol="0">
            <a:spAutoFit/>
          </a:bodyPr>
          <a:lstStyle/>
          <a:p>
            <a:pPr>
              <a:lnSpc>
                <a:spcPct val="115000"/>
              </a:lnSpc>
            </a:pPr>
            <a:r>
              <a:rPr lang="en-US" sz="2100">
                <a:solidFill>
                  <a:srgbClr val="546775"/>
                </a:solidFill>
                <a:latin typeface="Aptos" panose="020B0004020202020204" pitchFamily="34" charset="0"/>
              </a:rPr>
              <a:t>Start with one everyday purchase</a:t>
            </a:r>
          </a:p>
        </p:txBody>
      </p:sp>
      <p:sp>
        <p:nvSpPr>
          <p:cNvPr id="5" name="Rectangle 4">
            <a:extLst>
              <a:ext uri="{FF2B5EF4-FFF2-40B4-BE49-F238E27FC236}">
                <a16:creationId xmlns:a16="http://schemas.microsoft.com/office/drawing/2014/main" id="{9D430817-C22A-34E9-D564-0FA1873C8504}"/>
              </a:ext>
            </a:extLst>
          </p:cNvPr>
          <p:cNvSpPr/>
          <p:nvPr/>
        </p:nvSpPr>
        <p:spPr>
          <a:xfrm>
            <a:off x="635000" y="2184400"/>
            <a:ext cx="4495800" cy="3530600"/>
          </a:xfrm>
          <a:prstGeom prst="rect">
            <a:avLst/>
          </a:prstGeom>
          <a:solidFill>
            <a:srgbClr val="F2F6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78B4957-79A3-70B3-8F48-705D0D371F35}"/>
              </a:ext>
            </a:extLst>
          </p:cNvPr>
          <p:cNvSpPr txBox="1"/>
          <p:nvPr/>
        </p:nvSpPr>
        <p:spPr>
          <a:xfrm>
            <a:off x="952500" y="2514600"/>
            <a:ext cx="3810000" cy="454227"/>
          </a:xfrm>
          <a:prstGeom prst="rect">
            <a:avLst/>
          </a:prstGeom>
          <a:noFill/>
        </p:spPr>
        <p:txBody>
          <a:bodyPr vert="horz" wrap="square" lIns="0" tIns="0" rIns="0" bIns="0" rtlCol="0">
            <a:spAutoFit/>
          </a:bodyPr>
          <a:lstStyle/>
          <a:p>
            <a:pPr>
              <a:lnSpc>
                <a:spcPct val="115000"/>
              </a:lnSpc>
            </a:pPr>
            <a:r>
              <a:rPr lang="en-US" sz="2700" b="1">
                <a:solidFill>
                  <a:srgbClr val="172B3D"/>
                </a:solidFill>
                <a:latin typeface="Aptos" panose="020B0004020202020204" pitchFamily="34" charset="0"/>
              </a:rPr>
              <a:t>Lunch, campus</a:t>
            </a:r>
          </a:p>
        </p:txBody>
      </p:sp>
      <p:sp>
        <p:nvSpPr>
          <p:cNvPr id="7" name="TextBox 6">
            <a:extLst>
              <a:ext uri="{FF2B5EF4-FFF2-40B4-BE49-F238E27FC236}">
                <a16:creationId xmlns:a16="http://schemas.microsoft.com/office/drawing/2014/main" id="{2CFCFEC8-4D17-A9E4-4D47-609DDBE038C8}"/>
              </a:ext>
            </a:extLst>
          </p:cNvPr>
          <p:cNvSpPr txBox="1"/>
          <p:nvPr/>
        </p:nvSpPr>
        <p:spPr>
          <a:xfrm>
            <a:off x="952500" y="3251200"/>
            <a:ext cx="3810000" cy="824393"/>
          </a:xfrm>
          <a:prstGeom prst="rect">
            <a:avLst/>
          </a:prstGeom>
          <a:noFill/>
        </p:spPr>
        <p:txBody>
          <a:bodyPr vert="horz" wrap="square" lIns="0" tIns="0" rIns="0" bIns="0" rtlCol="0">
            <a:spAutoFit/>
          </a:bodyPr>
          <a:lstStyle/>
          <a:p>
            <a:pPr>
              <a:lnSpc>
                <a:spcPct val="115000"/>
              </a:lnSpc>
            </a:pPr>
            <a:r>
              <a:rPr lang="en-US" sz="4900" b="1">
                <a:solidFill>
                  <a:srgbClr val="007877"/>
                </a:solidFill>
                <a:latin typeface="Aptos" panose="020B0004020202020204" pitchFamily="34" charset="0"/>
              </a:rPr>
              <a:t>$12.34</a:t>
            </a:r>
          </a:p>
        </p:txBody>
      </p:sp>
      <p:sp>
        <p:nvSpPr>
          <p:cNvPr id="8" name="TextBox 7">
            <a:extLst>
              <a:ext uri="{FF2B5EF4-FFF2-40B4-BE49-F238E27FC236}">
                <a16:creationId xmlns:a16="http://schemas.microsoft.com/office/drawing/2014/main" id="{75F2F5AA-6351-619E-BF44-B67A49CE8A77}"/>
              </a:ext>
            </a:extLst>
          </p:cNvPr>
          <p:cNvSpPr txBox="1"/>
          <p:nvPr/>
        </p:nvSpPr>
        <p:spPr>
          <a:xfrm>
            <a:off x="952500" y="4508500"/>
            <a:ext cx="3810000" cy="794000"/>
          </a:xfrm>
          <a:prstGeom prst="rect">
            <a:avLst/>
          </a:prstGeom>
          <a:noFill/>
        </p:spPr>
        <p:txBody>
          <a:bodyPr vert="horz" wrap="square" lIns="0" tIns="0" rIns="0" bIns="0" rtlCol="0">
            <a:spAutoFit/>
          </a:bodyPr>
          <a:lstStyle/>
          <a:p>
            <a:pPr>
              <a:lnSpc>
                <a:spcPct val="115000"/>
              </a:lnSpc>
            </a:pPr>
            <a:r>
              <a:rPr lang="en-US" sz="2300">
                <a:solidFill>
                  <a:srgbClr val="546775"/>
                </a:solidFill>
                <a:latin typeface="Aptos" panose="020B0004020202020204" pitchFamily="34" charset="0"/>
              </a:rPr>
              <a:t>Food
October 2, 2026</a:t>
            </a:r>
          </a:p>
        </p:txBody>
      </p:sp>
      <p:sp>
        <p:nvSpPr>
          <p:cNvPr id="9" name="TextBox 8">
            <a:extLst>
              <a:ext uri="{FF2B5EF4-FFF2-40B4-BE49-F238E27FC236}">
                <a16:creationId xmlns:a16="http://schemas.microsoft.com/office/drawing/2014/main" id="{44A6DC94-3266-C470-0726-82D380CD870D}"/>
              </a:ext>
            </a:extLst>
          </p:cNvPr>
          <p:cNvSpPr txBox="1"/>
          <p:nvPr/>
        </p:nvSpPr>
        <p:spPr>
          <a:xfrm>
            <a:off x="5816600" y="2603500"/>
            <a:ext cx="533400" cy="471091"/>
          </a:xfrm>
          <a:prstGeom prst="rect">
            <a:avLst/>
          </a:prstGeom>
          <a:noFill/>
        </p:spPr>
        <p:txBody>
          <a:bodyPr vert="horz" wrap="square" lIns="0" tIns="0" rIns="0" bIns="0" rtlCol="0">
            <a:spAutoFit/>
          </a:bodyPr>
          <a:lstStyle/>
          <a:p>
            <a:pPr>
              <a:lnSpc>
                <a:spcPct val="115000"/>
              </a:lnSpc>
            </a:pPr>
            <a:r>
              <a:rPr lang="en-US" sz="2800" b="1">
                <a:solidFill>
                  <a:srgbClr val="007877"/>
                </a:solidFill>
                <a:latin typeface="Aptos" panose="020B0004020202020204" pitchFamily="34" charset="0"/>
              </a:rPr>
              <a:t>1</a:t>
            </a:r>
          </a:p>
        </p:txBody>
      </p:sp>
      <p:sp>
        <p:nvSpPr>
          <p:cNvPr id="10" name="TextBox 9">
            <a:extLst>
              <a:ext uri="{FF2B5EF4-FFF2-40B4-BE49-F238E27FC236}">
                <a16:creationId xmlns:a16="http://schemas.microsoft.com/office/drawing/2014/main" id="{848DB8F3-7D53-23B1-315B-605705541E5C}"/>
              </a:ext>
            </a:extLst>
          </p:cNvPr>
          <p:cNvSpPr txBox="1"/>
          <p:nvPr/>
        </p:nvSpPr>
        <p:spPr>
          <a:xfrm>
            <a:off x="6477000" y="2603500"/>
            <a:ext cx="4991100" cy="420628"/>
          </a:xfrm>
          <a:prstGeom prst="rect">
            <a:avLst/>
          </a:prstGeom>
          <a:noFill/>
        </p:spPr>
        <p:txBody>
          <a:bodyPr vert="horz" wrap="square" lIns="0" tIns="0" rIns="0" bIns="0" rtlCol="0">
            <a:spAutoFit/>
          </a:bodyPr>
          <a:lstStyle/>
          <a:p>
            <a:pPr>
              <a:lnSpc>
                <a:spcPct val="115000"/>
              </a:lnSpc>
            </a:pPr>
            <a:r>
              <a:rPr lang="en-US" sz="2500">
                <a:solidFill>
                  <a:srgbClr val="172B3D"/>
                </a:solidFill>
                <a:latin typeface="Aptos" panose="020B0004020202020204" pitchFamily="34" charset="0"/>
              </a:rPr>
              <a:t>Record a lunch purchase</a:t>
            </a:r>
          </a:p>
        </p:txBody>
      </p:sp>
      <p:sp>
        <p:nvSpPr>
          <p:cNvPr id="11" name="TextBox 10">
            <a:extLst>
              <a:ext uri="{FF2B5EF4-FFF2-40B4-BE49-F238E27FC236}">
                <a16:creationId xmlns:a16="http://schemas.microsoft.com/office/drawing/2014/main" id="{331CF656-A7AC-A2F3-7EBC-44B77592874B}"/>
              </a:ext>
            </a:extLst>
          </p:cNvPr>
          <p:cNvSpPr txBox="1"/>
          <p:nvPr/>
        </p:nvSpPr>
        <p:spPr>
          <a:xfrm>
            <a:off x="5816600" y="3708400"/>
            <a:ext cx="533400" cy="471091"/>
          </a:xfrm>
          <a:prstGeom prst="rect">
            <a:avLst/>
          </a:prstGeom>
          <a:noFill/>
        </p:spPr>
        <p:txBody>
          <a:bodyPr vert="horz" wrap="square" lIns="0" tIns="0" rIns="0" bIns="0" rtlCol="0">
            <a:spAutoFit/>
          </a:bodyPr>
          <a:lstStyle/>
          <a:p>
            <a:pPr>
              <a:lnSpc>
                <a:spcPct val="115000"/>
              </a:lnSpc>
            </a:pPr>
            <a:r>
              <a:rPr lang="en-US" sz="2800" b="1">
                <a:solidFill>
                  <a:srgbClr val="007877"/>
                </a:solidFill>
                <a:latin typeface="Aptos" panose="020B0004020202020204" pitchFamily="34" charset="0"/>
              </a:rPr>
              <a:t>2</a:t>
            </a:r>
          </a:p>
        </p:txBody>
      </p:sp>
      <p:sp>
        <p:nvSpPr>
          <p:cNvPr id="12" name="TextBox 11">
            <a:extLst>
              <a:ext uri="{FF2B5EF4-FFF2-40B4-BE49-F238E27FC236}">
                <a16:creationId xmlns:a16="http://schemas.microsoft.com/office/drawing/2014/main" id="{2CF9D6AB-BB03-9166-12D2-6F03F4269C79}"/>
              </a:ext>
            </a:extLst>
          </p:cNvPr>
          <p:cNvSpPr txBox="1"/>
          <p:nvPr/>
        </p:nvSpPr>
        <p:spPr>
          <a:xfrm>
            <a:off x="6477000" y="3708400"/>
            <a:ext cx="4991100" cy="420628"/>
          </a:xfrm>
          <a:prstGeom prst="rect">
            <a:avLst/>
          </a:prstGeom>
          <a:noFill/>
        </p:spPr>
        <p:txBody>
          <a:bodyPr vert="horz" wrap="square" lIns="0" tIns="0" rIns="0" bIns="0" rtlCol="0">
            <a:spAutoFit/>
          </a:bodyPr>
          <a:lstStyle/>
          <a:p>
            <a:pPr>
              <a:lnSpc>
                <a:spcPct val="115000"/>
              </a:lnSpc>
            </a:pPr>
            <a:r>
              <a:rPr lang="en-US" sz="2500">
                <a:solidFill>
                  <a:srgbClr val="172B3D"/>
                </a:solidFill>
                <a:latin typeface="Aptos" panose="020B0004020202020204" pitchFamily="34" charset="0"/>
              </a:rPr>
              <a:t>Find expenses in Food</a:t>
            </a:r>
          </a:p>
        </p:txBody>
      </p:sp>
      <p:sp>
        <p:nvSpPr>
          <p:cNvPr id="13" name="TextBox 12">
            <a:extLst>
              <a:ext uri="{FF2B5EF4-FFF2-40B4-BE49-F238E27FC236}">
                <a16:creationId xmlns:a16="http://schemas.microsoft.com/office/drawing/2014/main" id="{95E73CEF-16A2-2E7E-E6D1-6FFBF6DB21D0}"/>
              </a:ext>
            </a:extLst>
          </p:cNvPr>
          <p:cNvSpPr txBox="1"/>
          <p:nvPr/>
        </p:nvSpPr>
        <p:spPr>
          <a:xfrm>
            <a:off x="5816600" y="4813300"/>
            <a:ext cx="533400" cy="471091"/>
          </a:xfrm>
          <a:prstGeom prst="rect">
            <a:avLst/>
          </a:prstGeom>
          <a:noFill/>
        </p:spPr>
        <p:txBody>
          <a:bodyPr vert="horz" wrap="square" lIns="0" tIns="0" rIns="0" bIns="0" rtlCol="0">
            <a:spAutoFit/>
          </a:bodyPr>
          <a:lstStyle/>
          <a:p>
            <a:pPr>
              <a:lnSpc>
                <a:spcPct val="115000"/>
              </a:lnSpc>
            </a:pPr>
            <a:r>
              <a:rPr lang="en-US" sz="2800" b="1">
                <a:solidFill>
                  <a:srgbClr val="007877"/>
                </a:solidFill>
                <a:latin typeface="Aptos" panose="020B0004020202020204" pitchFamily="34" charset="0"/>
              </a:rPr>
              <a:t>3</a:t>
            </a:r>
          </a:p>
        </p:txBody>
      </p:sp>
      <p:sp>
        <p:nvSpPr>
          <p:cNvPr id="14" name="TextBox 13">
            <a:extLst>
              <a:ext uri="{FF2B5EF4-FFF2-40B4-BE49-F238E27FC236}">
                <a16:creationId xmlns:a16="http://schemas.microsoft.com/office/drawing/2014/main" id="{A4444F15-F7C5-52B2-60E2-27D9CFD4F615}"/>
              </a:ext>
            </a:extLst>
          </p:cNvPr>
          <p:cNvSpPr txBox="1"/>
          <p:nvPr/>
        </p:nvSpPr>
        <p:spPr>
          <a:xfrm>
            <a:off x="6477000" y="4813300"/>
            <a:ext cx="4991100" cy="420628"/>
          </a:xfrm>
          <a:prstGeom prst="rect">
            <a:avLst/>
          </a:prstGeom>
          <a:noFill/>
        </p:spPr>
        <p:txBody>
          <a:bodyPr vert="horz" wrap="square" lIns="0" tIns="0" rIns="0" bIns="0" rtlCol="0">
            <a:spAutoFit/>
          </a:bodyPr>
          <a:lstStyle/>
          <a:p>
            <a:pPr>
              <a:lnSpc>
                <a:spcPct val="115000"/>
              </a:lnSpc>
            </a:pPr>
            <a:r>
              <a:rPr lang="en-US" sz="2500">
                <a:solidFill>
                  <a:srgbClr val="172B3D"/>
                </a:solidFill>
                <a:latin typeface="Aptos" panose="020B0004020202020204" pitchFamily="34" charset="0"/>
              </a:rPr>
              <a:t>See how much was spent</a:t>
            </a:r>
          </a:p>
        </p:txBody>
      </p:sp>
      <p:sp>
        <p:nvSpPr>
          <p:cNvPr id="15" name="TextBox 14">
            <a:extLst>
              <a:ext uri="{FF2B5EF4-FFF2-40B4-BE49-F238E27FC236}">
                <a16:creationId xmlns:a16="http://schemas.microsoft.com/office/drawing/2014/main" id="{46868B4D-4997-32FF-413A-D140C82D0D57}"/>
              </a:ext>
            </a:extLst>
          </p:cNvPr>
          <p:cNvSpPr txBox="1"/>
          <p:nvPr/>
        </p:nvSpPr>
        <p:spPr>
          <a:xfrm>
            <a:off x="635000" y="6527800"/>
            <a:ext cx="8255000" cy="168251"/>
          </a:xfrm>
          <a:prstGeom prst="rect">
            <a:avLst/>
          </a:prstGeom>
          <a:noFill/>
        </p:spPr>
        <p:txBody>
          <a:bodyPr vert="horz" wrap="square" lIns="0" tIns="0" rIns="0" bIns="0" rtlCol="0">
            <a:spAutoFit/>
          </a:bodyPr>
          <a:lstStyle/>
          <a:p>
            <a:pPr>
              <a:lnSpc>
                <a:spcPct val="115000"/>
              </a:lnSpc>
            </a:pPr>
            <a:r>
              <a:rPr lang="en-US" sz="1000">
                <a:solidFill>
                  <a:srgbClr val="546775"/>
                </a:solidFill>
                <a:latin typeface="Aptos" panose="020B0004020202020204" pitchFamily="34" charset="0"/>
              </a:rPr>
              <a:t>Expense Tracker | Python and C++</a:t>
            </a:r>
          </a:p>
        </p:txBody>
      </p:sp>
      <p:sp>
        <p:nvSpPr>
          <p:cNvPr id="16" name="TextBox 15">
            <a:extLst>
              <a:ext uri="{FF2B5EF4-FFF2-40B4-BE49-F238E27FC236}">
                <a16:creationId xmlns:a16="http://schemas.microsoft.com/office/drawing/2014/main" id="{798AF231-A4F6-989B-B84D-CC65BFD8228A}"/>
              </a:ext>
            </a:extLst>
          </p:cNvPr>
          <p:cNvSpPr txBox="1"/>
          <p:nvPr/>
        </p:nvSpPr>
        <p:spPr>
          <a:xfrm>
            <a:off x="10477500" y="6451600"/>
            <a:ext cx="1016000" cy="218778"/>
          </a:xfrm>
          <a:prstGeom prst="rect">
            <a:avLst/>
          </a:prstGeom>
          <a:noFill/>
        </p:spPr>
        <p:txBody>
          <a:bodyPr vert="horz" wrap="square" lIns="0" tIns="0" rIns="0" bIns="0" rtlCol="0">
            <a:spAutoFit/>
          </a:bodyPr>
          <a:lstStyle/>
          <a:p>
            <a:pPr algn="r">
              <a:lnSpc>
                <a:spcPct val="115000"/>
              </a:lnSpc>
            </a:pPr>
            <a:r>
              <a:rPr lang="en-US" sz="1300">
                <a:solidFill>
                  <a:srgbClr val="546775"/>
                </a:solidFill>
                <a:latin typeface="Aptos" panose="020B0004020202020204" pitchFamily="34" charset="0"/>
              </a:rPr>
              <a:t>3 / 10</a:t>
            </a:r>
          </a:p>
        </p:txBody>
      </p:sp>
    </p:spTree>
    <p:extLst>
      <p:ext uri="{BB962C8B-B14F-4D97-AF65-F5344CB8AC3E}">
        <p14:creationId xmlns:p14="http://schemas.microsoft.com/office/powerpoint/2010/main" val="3601800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FC799C-D479-AB28-6C8E-2D91B40E41E5}"/>
              </a:ext>
            </a:extLst>
          </p:cNvPr>
          <p:cNvSpPr/>
          <p:nvPr/>
        </p:nvSpPr>
        <p:spPr>
          <a:xfrm>
            <a:off x="0" y="0"/>
            <a:ext cx="12192000" cy="1016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141C9EA-E8E9-67C2-2012-9765D420AF03}"/>
              </a:ext>
            </a:extLst>
          </p:cNvPr>
          <p:cNvSpPr txBox="1"/>
          <p:nvPr/>
        </p:nvSpPr>
        <p:spPr>
          <a:xfrm>
            <a:off x="609600" y="469900"/>
            <a:ext cx="10985500" cy="572016"/>
          </a:xfrm>
          <a:prstGeom prst="rect">
            <a:avLst/>
          </a:prstGeom>
          <a:noFill/>
        </p:spPr>
        <p:txBody>
          <a:bodyPr vert="horz" wrap="square" lIns="0" tIns="0" rIns="0" bIns="0" rtlCol="0">
            <a:spAutoFit/>
          </a:bodyPr>
          <a:lstStyle/>
          <a:p>
            <a:pPr>
              <a:lnSpc>
                <a:spcPct val="115000"/>
              </a:lnSpc>
            </a:pPr>
            <a:r>
              <a:rPr lang="en-US" sz="3400" b="1">
                <a:solidFill>
                  <a:srgbClr val="172B3D"/>
                </a:solidFill>
                <a:latin typeface="Aptos" panose="020B0004020202020204" pitchFamily="34" charset="0"/>
              </a:rPr>
              <a:t>How are expenses saved?</a:t>
            </a:r>
          </a:p>
        </p:txBody>
      </p:sp>
      <p:sp>
        <p:nvSpPr>
          <p:cNvPr id="4" name="TextBox 3">
            <a:extLst>
              <a:ext uri="{FF2B5EF4-FFF2-40B4-BE49-F238E27FC236}">
                <a16:creationId xmlns:a16="http://schemas.microsoft.com/office/drawing/2014/main" id="{274DB8F7-4AAC-EEF2-6215-A52A37E3F44F}"/>
              </a:ext>
            </a:extLst>
          </p:cNvPr>
          <p:cNvSpPr txBox="1"/>
          <p:nvPr/>
        </p:nvSpPr>
        <p:spPr>
          <a:xfrm>
            <a:off x="635000" y="1282700"/>
            <a:ext cx="10922000" cy="353302"/>
          </a:xfrm>
          <a:prstGeom prst="rect">
            <a:avLst/>
          </a:prstGeom>
          <a:noFill/>
        </p:spPr>
        <p:txBody>
          <a:bodyPr vert="horz" wrap="square" lIns="0" tIns="0" rIns="0" bIns="0" rtlCol="0">
            <a:spAutoFit/>
          </a:bodyPr>
          <a:lstStyle/>
          <a:p>
            <a:pPr>
              <a:lnSpc>
                <a:spcPct val="115000"/>
              </a:lnSpc>
            </a:pPr>
            <a:r>
              <a:rPr lang="en-US" sz="2100">
                <a:solidFill>
                  <a:srgbClr val="546775"/>
                </a:solidFill>
                <a:latin typeface="Aptos" panose="020B0004020202020204" pitchFamily="34" charset="0"/>
              </a:rPr>
              <a:t>Both versions use the same file format</a:t>
            </a:r>
          </a:p>
        </p:txBody>
      </p:sp>
      <p:sp>
        <p:nvSpPr>
          <p:cNvPr id="5" name="Rectangle 4">
            <a:extLst>
              <a:ext uri="{FF2B5EF4-FFF2-40B4-BE49-F238E27FC236}">
                <a16:creationId xmlns:a16="http://schemas.microsoft.com/office/drawing/2014/main" id="{AB94A616-2BA8-9C11-462C-E9C7D39BE35D}"/>
              </a:ext>
            </a:extLst>
          </p:cNvPr>
          <p:cNvSpPr/>
          <p:nvPr/>
        </p:nvSpPr>
        <p:spPr>
          <a:xfrm>
            <a:off x="635000" y="2247900"/>
            <a:ext cx="3416300" cy="2197100"/>
          </a:xfrm>
          <a:prstGeom prst="rect">
            <a:avLst/>
          </a:prstGeom>
          <a:solidFill>
            <a:srgbClr val="F2F6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75390C3-E222-F178-0ABC-10DBC134DFD7}"/>
              </a:ext>
            </a:extLst>
          </p:cNvPr>
          <p:cNvSpPr txBox="1"/>
          <p:nvPr/>
        </p:nvSpPr>
        <p:spPr>
          <a:xfrm>
            <a:off x="850900" y="2565400"/>
            <a:ext cx="2984500" cy="420628"/>
          </a:xfrm>
          <a:prstGeom prst="rect">
            <a:avLst/>
          </a:prstGeom>
          <a:noFill/>
        </p:spPr>
        <p:txBody>
          <a:bodyPr vert="horz" wrap="square" lIns="0" tIns="0" rIns="0" bIns="0" rtlCol="0">
            <a:spAutoFit/>
          </a:bodyPr>
          <a:lstStyle/>
          <a:p>
            <a:pPr>
              <a:lnSpc>
                <a:spcPct val="115000"/>
              </a:lnSpc>
            </a:pPr>
            <a:r>
              <a:rPr lang="en-US" sz="2500" b="1">
                <a:solidFill>
                  <a:srgbClr val="172B3D"/>
                </a:solidFill>
                <a:latin typeface="Aptos" panose="020B0004020202020204" pitchFamily="34" charset="0"/>
              </a:rPr>
              <a:t>Enter an expense</a:t>
            </a:r>
          </a:p>
        </p:txBody>
      </p:sp>
      <p:sp>
        <p:nvSpPr>
          <p:cNvPr id="7" name="TextBox 6">
            <a:extLst>
              <a:ext uri="{FF2B5EF4-FFF2-40B4-BE49-F238E27FC236}">
                <a16:creationId xmlns:a16="http://schemas.microsoft.com/office/drawing/2014/main" id="{D206CFA5-09D3-FD2E-9883-F05AFF4767D5}"/>
              </a:ext>
            </a:extLst>
          </p:cNvPr>
          <p:cNvSpPr txBox="1"/>
          <p:nvPr/>
        </p:nvSpPr>
        <p:spPr>
          <a:xfrm>
            <a:off x="850900" y="3467100"/>
            <a:ext cx="2984500" cy="690445"/>
          </a:xfrm>
          <a:prstGeom prst="rect">
            <a:avLst/>
          </a:prstGeom>
          <a:noFill/>
        </p:spPr>
        <p:txBody>
          <a:bodyPr vert="horz" wrap="square" lIns="0" tIns="0" rIns="0" bIns="0" rtlCol="0">
            <a:spAutoFit/>
          </a:bodyPr>
          <a:lstStyle/>
          <a:p>
            <a:pPr>
              <a:lnSpc>
                <a:spcPct val="115000"/>
              </a:lnSpc>
            </a:pPr>
            <a:r>
              <a:rPr lang="en-US" sz="2000">
                <a:solidFill>
                  <a:srgbClr val="546775"/>
                </a:solidFill>
                <a:latin typeface="Aptos" panose="020B0004020202020204" pitchFamily="34" charset="0"/>
              </a:rPr>
              <a:t>The app checks the date, amount, and text.</a:t>
            </a:r>
          </a:p>
        </p:txBody>
      </p:sp>
      <p:sp>
        <p:nvSpPr>
          <p:cNvPr id="8" name="Rectangle 7">
            <a:extLst>
              <a:ext uri="{FF2B5EF4-FFF2-40B4-BE49-F238E27FC236}">
                <a16:creationId xmlns:a16="http://schemas.microsoft.com/office/drawing/2014/main" id="{208DE96D-AAC6-734E-2694-9E26BDB01932}"/>
              </a:ext>
            </a:extLst>
          </p:cNvPr>
          <p:cNvSpPr/>
          <p:nvPr/>
        </p:nvSpPr>
        <p:spPr>
          <a:xfrm>
            <a:off x="4381500" y="2247900"/>
            <a:ext cx="3416300" cy="2197100"/>
          </a:xfrm>
          <a:prstGeom prst="rect">
            <a:avLst/>
          </a:prstGeom>
          <a:solidFill>
            <a:srgbClr val="F2F6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CA4D950-EF1A-0891-DD2A-F539A7305C35}"/>
              </a:ext>
            </a:extLst>
          </p:cNvPr>
          <p:cNvSpPr txBox="1"/>
          <p:nvPr/>
        </p:nvSpPr>
        <p:spPr>
          <a:xfrm>
            <a:off x="4597400" y="2565400"/>
            <a:ext cx="2984500" cy="420628"/>
          </a:xfrm>
          <a:prstGeom prst="rect">
            <a:avLst/>
          </a:prstGeom>
          <a:noFill/>
        </p:spPr>
        <p:txBody>
          <a:bodyPr vert="horz" wrap="square" lIns="0" tIns="0" rIns="0" bIns="0" rtlCol="0">
            <a:spAutoFit/>
          </a:bodyPr>
          <a:lstStyle/>
          <a:p>
            <a:pPr>
              <a:lnSpc>
                <a:spcPct val="115000"/>
              </a:lnSpc>
            </a:pPr>
            <a:r>
              <a:rPr lang="en-US" sz="2500" b="1">
                <a:solidFill>
                  <a:srgbClr val="172B3D"/>
                </a:solidFill>
                <a:latin typeface="Aptos" panose="020B0004020202020204" pitchFamily="34" charset="0"/>
              </a:rPr>
              <a:t>Save a CSV file</a:t>
            </a:r>
          </a:p>
        </p:txBody>
      </p:sp>
      <p:sp>
        <p:nvSpPr>
          <p:cNvPr id="10" name="TextBox 9">
            <a:extLst>
              <a:ext uri="{FF2B5EF4-FFF2-40B4-BE49-F238E27FC236}">
                <a16:creationId xmlns:a16="http://schemas.microsoft.com/office/drawing/2014/main" id="{4207F3E9-A2DD-440B-2F94-A393897B7EF9}"/>
              </a:ext>
            </a:extLst>
          </p:cNvPr>
          <p:cNvSpPr txBox="1"/>
          <p:nvPr/>
        </p:nvSpPr>
        <p:spPr>
          <a:xfrm>
            <a:off x="4597400" y="3467100"/>
            <a:ext cx="2984500" cy="690445"/>
          </a:xfrm>
          <a:prstGeom prst="rect">
            <a:avLst/>
          </a:prstGeom>
          <a:noFill/>
        </p:spPr>
        <p:txBody>
          <a:bodyPr vert="horz" wrap="square" lIns="0" tIns="0" rIns="0" bIns="0" rtlCol="0">
            <a:spAutoFit/>
          </a:bodyPr>
          <a:lstStyle/>
          <a:p>
            <a:pPr>
              <a:lnSpc>
                <a:spcPct val="115000"/>
              </a:lnSpc>
            </a:pPr>
            <a:r>
              <a:rPr lang="en-US" sz="2000">
                <a:solidFill>
                  <a:srgbClr val="546775"/>
                </a:solidFill>
                <a:latin typeface="Aptos" panose="020B0004020202020204" pitchFamily="34" charset="0"/>
              </a:rPr>
              <a:t>A plain text file with rows and columns.</a:t>
            </a:r>
          </a:p>
        </p:txBody>
      </p:sp>
      <p:sp>
        <p:nvSpPr>
          <p:cNvPr id="11" name="Rectangle 10">
            <a:extLst>
              <a:ext uri="{FF2B5EF4-FFF2-40B4-BE49-F238E27FC236}">
                <a16:creationId xmlns:a16="http://schemas.microsoft.com/office/drawing/2014/main" id="{3685E0AB-46BD-FC16-0C6E-5D9B32D4B4CB}"/>
              </a:ext>
            </a:extLst>
          </p:cNvPr>
          <p:cNvSpPr/>
          <p:nvPr/>
        </p:nvSpPr>
        <p:spPr>
          <a:xfrm>
            <a:off x="8128000" y="2247900"/>
            <a:ext cx="3416300" cy="2197100"/>
          </a:xfrm>
          <a:prstGeom prst="rect">
            <a:avLst/>
          </a:prstGeom>
          <a:solidFill>
            <a:srgbClr val="F2F6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B63288F-F89C-3DB3-F547-029D23CDC0F4}"/>
              </a:ext>
            </a:extLst>
          </p:cNvPr>
          <p:cNvSpPr txBox="1"/>
          <p:nvPr/>
        </p:nvSpPr>
        <p:spPr>
          <a:xfrm>
            <a:off x="8343900" y="2565400"/>
            <a:ext cx="2984500" cy="420628"/>
          </a:xfrm>
          <a:prstGeom prst="rect">
            <a:avLst/>
          </a:prstGeom>
          <a:noFill/>
        </p:spPr>
        <p:txBody>
          <a:bodyPr vert="horz" wrap="square" lIns="0" tIns="0" rIns="0" bIns="0" rtlCol="0">
            <a:spAutoFit/>
          </a:bodyPr>
          <a:lstStyle/>
          <a:p>
            <a:pPr>
              <a:lnSpc>
                <a:spcPct val="115000"/>
              </a:lnSpc>
            </a:pPr>
            <a:r>
              <a:rPr lang="en-US" sz="2500" b="1">
                <a:solidFill>
                  <a:srgbClr val="172B3D"/>
                </a:solidFill>
                <a:latin typeface="Aptos" panose="020B0004020202020204" pitchFamily="34" charset="0"/>
              </a:rPr>
              <a:t>Open it later</a:t>
            </a:r>
          </a:p>
        </p:txBody>
      </p:sp>
      <p:sp>
        <p:nvSpPr>
          <p:cNvPr id="13" name="TextBox 12">
            <a:extLst>
              <a:ext uri="{FF2B5EF4-FFF2-40B4-BE49-F238E27FC236}">
                <a16:creationId xmlns:a16="http://schemas.microsoft.com/office/drawing/2014/main" id="{C79E8352-46F5-77DD-2AB9-DE09BAB71EAC}"/>
              </a:ext>
            </a:extLst>
          </p:cNvPr>
          <p:cNvSpPr txBox="1"/>
          <p:nvPr/>
        </p:nvSpPr>
        <p:spPr>
          <a:xfrm>
            <a:off x="8343900" y="3467100"/>
            <a:ext cx="2984500" cy="690445"/>
          </a:xfrm>
          <a:prstGeom prst="rect">
            <a:avLst/>
          </a:prstGeom>
          <a:noFill/>
        </p:spPr>
        <p:txBody>
          <a:bodyPr vert="horz" wrap="square" lIns="0" tIns="0" rIns="0" bIns="0" rtlCol="0">
            <a:spAutoFit/>
          </a:bodyPr>
          <a:lstStyle/>
          <a:p>
            <a:pPr>
              <a:lnSpc>
                <a:spcPct val="115000"/>
              </a:lnSpc>
            </a:pPr>
            <a:r>
              <a:rPr lang="en-US" sz="2000">
                <a:solidFill>
                  <a:srgbClr val="546775"/>
                </a:solidFill>
                <a:latin typeface="Aptos" panose="020B0004020202020204" pitchFamily="34" charset="0"/>
              </a:rPr>
              <a:t>Either version can read the saved expenses.</a:t>
            </a:r>
          </a:p>
        </p:txBody>
      </p:sp>
      <p:sp>
        <p:nvSpPr>
          <p:cNvPr id="14" name="Rectangle 13">
            <a:extLst>
              <a:ext uri="{FF2B5EF4-FFF2-40B4-BE49-F238E27FC236}">
                <a16:creationId xmlns:a16="http://schemas.microsoft.com/office/drawing/2014/main" id="{D2DBD9B3-9E26-2A5C-90E4-20B4E802BEC0}"/>
              </a:ext>
            </a:extLst>
          </p:cNvPr>
          <p:cNvSpPr/>
          <p:nvPr/>
        </p:nvSpPr>
        <p:spPr>
          <a:xfrm>
            <a:off x="635000" y="4800600"/>
            <a:ext cx="10909300" cy="10795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2F2ADE7-00D6-4C20-A24A-805FCBB5204B}"/>
              </a:ext>
            </a:extLst>
          </p:cNvPr>
          <p:cNvSpPr txBox="1"/>
          <p:nvPr/>
        </p:nvSpPr>
        <p:spPr>
          <a:xfrm>
            <a:off x="927100" y="5092700"/>
            <a:ext cx="10325100" cy="437427"/>
          </a:xfrm>
          <a:prstGeom prst="rect">
            <a:avLst/>
          </a:prstGeom>
          <a:noFill/>
        </p:spPr>
        <p:txBody>
          <a:bodyPr vert="horz" wrap="square" lIns="0" tIns="0" rIns="0" bIns="0" rtlCol="0">
            <a:spAutoFit/>
          </a:bodyPr>
          <a:lstStyle/>
          <a:p>
            <a:pPr algn="ctr">
              <a:lnSpc>
                <a:spcPct val="115000"/>
              </a:lnSpc>
            </a:pPr>
            <a:r>
              <a:rPr lang="en-US" sz="2600" b="1">
                <a:solidFill>
                  <a:srgbClr val="FFFFFF"/>
                </a:solidFill>
                <a:latin typeface="Aptos" panose="020B0004020202020204" pitchFamily="34" charset="0"/>
              </a:rPr>
              <a:t>Store $12.34 as 1,234 cents to keep totals exact.</a:t>
            </a:r>
          </a:p>
        </p:txBody>
      </p:sp>
      <p:sp>
        <p:nvSpPr>
          <p:cNvPr id="16" name="TextBox 15">
            <a:extLst>
              <a:ext uri="{FF2B5EF4-FFF2-40B4-BE49-F238E27FC236}">
                <a16:creationId xmlns:a16="http://schemas.microsoft.com/office/drawing/2014/main" id="{3E91BC2A-0735-B56A-3216-4D250F0DD806}"/>
              </a:ext>
            </a:extLst>
          </p:cNvPr>
          <p:cNvSpPr txBox="1"/>
          <p:nvPr/>
        </p:nvSpPr>
        <p:spPr>
          <a:xfrm>
            <a:off x="635000" y="6527800"/>
            <a:ext cx="8255000" cy="168251"/>
          </a:xfrm>
          <a:prstGeom prst="rect">
            <a:avLst/>
          </a:prstGeom>
          <a:noFill/>
        </p:spPr>
        <p:txBody>
          <a:bodyPr vert="horz" wrap="square" lIns="0" tIns="0" rIns="0" bIns="0" rtlCol="0">
            <a:spAutoFit/>
          </a:bodyPr>
          <a:lstStyle/>
          <a:p>
            <a:pPr>
              <a:lnSpc>
                <a:spcPct val="115000"/>
              </a:lnSpc>
            </a:pPr>
            <a:r>
              <a:rPr lang="en-US" sz="1000">
                <a:solidFill>
                  <a:srgbClr val="546775"/>
                </a:solidFill>
                <a:latin typeface="Aptos" panose="020B0004020202020204" pitchFamily="34" charset="0"/>
              </a:rPr>
              <a:t>Expense Tracker | Python and C++</a:t>
            </a:r>
          </a:p>
        </p:txBody>
      </p:sp>
      <p:sp>
        <p:nvSpPr>
          <p:cNvPr id="17" name="TextBox 16">
            <a:extLst>
              <a:ext uri="{FF2B5EF4-FFF2-40B4-BE49-F238E27FC236}">
                <a16:creationId xmlns:a16="http://schemas.microsoft.com/office/drawing/2014/main" id="{3AAEF98B-6BA1-E1D6-D72A-990E8A423B7D}"/>
              </a:ext>
            </a:extLst>
          </p:cNvPr>
          <p:cNvSpPr txBox="1"/>
          <p:nvPr/>
        </p:nvSpPr>
        <p:spPr>
          <a:xfrm>
            <a:off x="10477500" y="6451600"/>
            <a:ext cx="1016000" cy="218778"/>
          </a:xfrm>
          <a:prstGeom prst="rect">
            <a:avLst/>
          </a:prstGeom>
          <a:noFill/>
        </p:spPr>
        <p:txBody>
          <a:bodyPr vert="horz" wrap="square" lIns="0" tIns="0" rIns="0" bIns="0" rtlCol="0">
            <a:spAutoFit/>
          </a:bodyPr>
          <a:lstStyle/>
          <a:p>
            <a:pPr algn="r">
              <a:lnSpc>
                <a:spcPct val="115000"/>
              </a:lnSpc>
            </a:pPr>
            <a:r>
              <a:rPr lang="en-US" sz="1300">
                <a:solidFill>
                  <a:srgbClr val="546775"/>
                </a:solidFill>
                <a:latin typeface="Aptos" panose="020B0004020202020204" pitchFamily="34" charset="0"/>
              </a:rPr>
              <a:t>4 / 10</a:t>
            </a:r>
          </a:p>
        </p:txBody>
      </p:sp>
    </p:spTree>
    <p:extLst>
      <p:ext uri="{BB962C8B-B14F-4D97-AF65-F5344CB8AC3E}">
        <p14:creationId xmlns:p14="http://schemas.microsoft.com/office/powerpoint/2010/main" val="3855636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54BCAA-2D2C-49C0-9E49-1A1A924B52D1}"/>
              </a:ext>
            </a:extLst>
          </p:cNvPr>
          <p:cNvSpPr/>
          <p:nvPr/>
        </p:nvSpPr>
        <p:spPr>
          <a:xfrm>
            <a:off x="0" y="0"/>
            <a:ext cx="12192000" cy="1016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4AF7BE0-E1E7-C954-501C-DFDDF9757515}"/>
              </a:ext>
            </a:extLst>
          </p:cNvPr>
          <p:cNvSpPr txBox="1"/>
          <p:nvPr/>
        </p:nvSpPr>
        <p:spPr>
          <a:xfrm>
            <a:off x="609600" y="469900"/>
            <a:ext cx="10985500" cy="572016"/>
          </a:xfrm>
          <a:prstGeom prst="rect">
            <a:avLst/>
          </a:prstGeom>
          <a:noFill/>
        </p:spPr>
        <p:txBody>
          <a:bodyPr vert="horz" wrap="square" lIns="0" tIns="0" rIns="0" bIns="0" rtlCol="0">
            <a:spAutoFit/>
          </a:bodyPr>
          <a:lstStyle/>
          <a:p>
            <a:pPr>
              <a:lnSpc>
                <a:spcPct val="115000"/>
              </a:lnSpc>
            </a:pPr>
            <a:r>
              <a:rPr lang="en-US" sz="3400" b="1">
                <a:solidFill>
                  <a:srgbClr val="172B3D"/>
                </a:solidFill>
                <a:latin typeface="Aptos" panose="020B0004020202020204" pitchFamily="34" charset="0"/>
              </a:rPr>
              <a:t>Python: see it working</a:t>
            </a:r>
          </a:p>
        </p:txBody>
      </p:sp>
      <p:sp>
        <p:nvSpPr>
          <p:cNvPr id="4" name="TextBox 3">
            <a:extLst>
              <a:ext uri="{FF2B5EF4-FFF2-40B4-BE49-F238E27FC236}">
                <a16:creationId xmlns:a16="http://schemas.microsoft.com/office/drawing/2014/main" id="{1AA2C055-0FD5-8DDB-8075-E9327EFB74CC}"/>
              </a:ext>
            </a:extLst>
          </p:cNvPr>
          <p:cNvSpPr txBox="1"/>
          <p:nvPr/>
        </p:nvSpPr>
        <p:spPr>
          <a:xfrm>
            <a:off x="635000" y="1282700"/>
            <a:ext cx="10922000" cy="353302"/>
          </a:xfrm>
          <a:prstGeom prst="rect">
            <a:avLst/>
          </a:prstGeom>
          <a:noFill/>
        </p:spPr>
        <p:txBody>
          <a:bodyPr vert="horz" wrap="square" lIns="0" tIns="0" rIns="0" bIns="0" rtlCol="0">
            <a:spAutoFit/>
          </a:bodyPr>
          <a:lstStyle/>
          <a:p>
            <a:pPr>
              <a:lnSpc>
                <a:spcPct val="115000"/>
              </a:lnSpc>
            </a:pPr>
            <a:r>
              <a:rPr lang="en-US" sz="2100">
                <a:solidFill>
                  <a:srgbClr val="546775"/>
                </a:solidFill>
                <a:latin typeface="Aptos" panose="020B0004020202020204" pitchFamily="34" charset="0"/>
              </a:rPr>
              <a:t>View the saved expenses and calculate totals</a:t>
            </a:r>
          </a:p>
        </p:txBody>
      </p:sp>
      <p:sp>
        <p:nvSpPr>
          <p:cNvPr id="5" name="Rectangle 4">
            <a:extLst>
              <a:ext uri="{FF2B5EF4-FFF2-40B4-BE49-F238E27FC236}">
                <a16:creationId xmlns:a16="http://schemas.microsoft.com/office/drawing/2014/main" id="{86C14815-0995-933E-8A8C-8BE120DC1AFA}"/>
              </a:ext>
            </a:extLst>
          </p:cNvPr>
          <p:cNvSpPr/>
          <p:nvPr/>
        </p:nvSpPr>
        <p:spPr>
          <a:xfrm>
            <a:off x="635000" y="2133600"/>
            <a:ext cx="6731000" cy="3708400"/>
          </a:xfrm>
          <a:prstGeom prst="rect">
            <a:avLst/>
          </a:prstGeom>
          <a:solidFill>
            <a:srgbClr val="1923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5332A77-6EC6-9408-9BC5-3DFF7BC0C713}"/>
              </a:ext>
            </a:extLst>
          </p:cNvPr>
          <p:cNvSpPr txBox="1"/>
          <p:nvPr/>
        </p:nvSpPr>
        <p:spPr>
          <a:xfrm>
            <a:off x="927100" y="2374900"/>
            <a:ext cx="6134100" cy="286040"/>
          </a:xfrm>
          <a:prstGeom prst="rect">
            <a:avLst/>
          </a:prstGeom>
          <a:noFill/>
        </p:spPr>
        <p:txBody>
          <a:bodyPr vert="horz" wrap="square" lIns="0" tIns="0" rIns="0" bIns="0" rtlCol="0">
            <a:spAutoFit/>
          </a:bodyPr>
          <a:lstStyle/>
          <a:p>
            <a:pPr>
              <a:lnSpc>
                <a:spcPct val="115000"/>
              </a:lnSpc>
            </a:pPr>
            <a:r>
              <a:rPr lang="en-US" sz="1700" b="1">
                <a:solidFill>
                  <a:srgbClr val="BBEEDC"/>
                </a:solidFill>
                <a:latin typeface="Aptos" panose="020B0004020202020204" pitchFamily="34" charset="0"/>
              </a:rPr>
              <a:t>Python output | sample data</a:t>
            </a:r>
          </a:p>
        </p:txBody>
      </p:sp>
      <p:sp>
        <p:nvSpPr>
          <p:cNvPr id="7" name="TextBox 6">
            <a:extLst>
              <a:ext uri="{FF2B5EF4-FFF2-40B4-BE49-F238E27FC236}">
                <a16:creationId xmlns:a16="http://schemas.microsoft.com/office/drawing/2014/main" id="{2AEC6CD4-E3D1-746F-331E-BB96B16005CE}"/>
              </a:ext>
            </a:extLst>
          </p:cNvPr>
          <p:cNvSpPr txBox="1"/>
          <p:nvPr/>
        </p:nvSpPr>
        <p:spPr>
          <a:xfrm>
            <a:off x="927100" y="3035300"/>
            <a:ext cx="6134100" cy="2096664"/>
          </a:xfrm>
          <a:prstGeom prst="rect">
            <a:avLst/>
          </a:prstGeom>
          <a:noFill/>
        </p:spPr>
        <p:txBody>
          <a:bodyPr vert="horz" wrap="square" lIns="0" tIns="0" rIns="0" bIns="0" rtlCol="0">
            <a:spAutoFit/>
          </a:bodyPr>
          <a:lstStyle/>
          <a:p>
            <a:pPr>
              <a:lnSpc>
                <a:spcPct val="115000"/>
              </a:lnSpc>
            </a:pPr>
            <a:r>
              <a:rPr lang="en-US" sz="2400">
                <a:solidFill>
                  <a:srgbClr val="FFFFFF"/>
                </a:solidFill>
                <a:latin typeface="Consolas" panose="020B0609020204030204" pitchFamily="49" charset="0"/>
              </a:rPr>
              <a:t>Category | Total (USD)
Food | $21.09
Supplies | $19.99
Transport | $20.00
Overall | $61.08</a:t>
            </a:r>
          </a:p>
        </p:txBody>
      </p:sp>
      <p:sp>
        <p:nvSpPr>
          <p:cNvPr id="8" name="Rectangle 7">
            <a:extLst>
              <a:ext uri="{FF2B5EF4-FFF2-40B4-BE49-F238E27FC236}">
                <a16:creationId xmlns:a16="http://schemas.microsoft.com/office/drawing/2014/main" id="{B21627C7-C850-080D-2D24-DA6390FD7B7F}"/>
              </a:ext>
            </a:extLst>
          </p:cNvPr>
          <p:cNvSpPr/>
          <p:nvPr/>
        </p:nvSpPr>
        <p:spPr>
          <a:xfrm>
            <a:off x="7848600" y="2794000"/>
            <a:ext cx="76200" cy="3048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027DA84-32EF-2495-617E-508E6E46F0EB}"/>
              </a:ext>
            </a:extLst>
          </p:cNvPr>
          <p:cNvSpPr txBox="1"/>
          <p:nvPr/>
        </p:nvSpPr>
        <p:spPr>
          <a:xfrm>
            <a:off x="8153400" y="2667000"/>
            <a:ext cx="3327400" cy="403765"/>
          </a:xfrm>
          <a:prstGeom prst="rect">
            <a:avLst/>
          </a:prstGeom>
          <a:noFill/>
        </p:spPr>
        <p:txBody>
          <a:bodyPr vert="horz" wrap="square" lIns="0" tIns="0" rIns="0" bIns="0" rtlCol="0">
            <a:spAutoFit/>
          </a:bodyPr>
          <a:lstStyle/>
          <a:p>
            <a:pPr>
              <a:lnSpc>
                <a:spcPct val="115000"/>
              </a:lnSpc>
            </a:pPr>
            <a:r>
              <a:rPr lang="en-US" sz="2400">
                <a:solidFill>
                  <a:srgbClr val="172B3D"/>
                </a:solidFill>
                <a:latin typeface="Aptos" panose="020B0004020202020204" pitchFamily="34" charset="0"/>
              </a:rPr>
              <a:t>5 sample expenses</a:t>
            </a:r>
          </a:p>
        </p:txBody>
      </p:sp>
      <p:sp>
        <p:nvSpPr>
          <p:cNvPr id="10" name="Rectangle 9">
            <a:extLst>
              <a:ext uri="{FF2B5EF4-FFF2-40B4-BE49-F238E27FC236}">
                <a16:creationId xmlns:a16="http://schemas.microsoft.com/office/drawing/2014/main" id="{E9911748-2154-3D34-A7B1-0608D240D3A4}"/>
              </a:ext>
            </a:extLst>
          </p:cNvPr>
          <p:cNvSpPr/>
          <p:nvPr/>
        </p:nvSpPr>
        <p:spPr>
          <a:xfrm>
            <a:off x="7848600" y="3771900"/>
            <a:ext cx="76200" cy="3048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64E380A-5209-FCC2-B80F-E5F327E45639}"/>
              </a:ext>
            </a:extLst>
          </p:cNvPr>
          <p:cNvSpPr txBox="1"/>
          <p:nvPr/>
        </p:nvSpPr>
        <p:spPr>
          <a:xfrm>
            <a:off x="8153400" y="3644900"/>
            <a:ext cx="3327400" cy="403765"/>
          </a:xfrm>
          <a:prstGeom prst="rect">
            <a:avLst/>
          </a:prstGeom>
          <a:noFill/>
        </p:spPr>
        <p:txBody>
          <a:bodyPr vert="horz" wrap="square" lIns="0" tIns="0" rIns="0" bIns="0" rtlCol="0">
            <a:spAutoFit/>
          </a:bodyPr>
          <a:lstStyle/>
          <a:p>
            <a:pPr>
              <a:lnSpc>
                <a:spcPct val="115000"/>
              </a:lnSpc>
            </a:pPr>
            <a:r>
              <a:rPr lang="en-US" sz="2400">
                <a:solidFill>
                  <a:srgbClr val="172B3D"/>
                </a:solidFill>
                <a:latin typeface="Aptos" panose="020B0004020202020204" pitchFamily="34" charset="0"/>
              </a:rPr>
              <a:t>Food total: $21.09</a:t>
            </a:r>
          </a:p>
        </p:txBody>
      </p:sp>
      <p:sp>
        <p:nvSpPr>
          <p:cNvPr id="12" name="Rectangle 11">
            <a:extLst>
              <a:ext uri="{FF2B5EF4-FFF2-40B4-BE49-F238E27FC236}">
                <a16:creationId xmlns:a16="http://schemas.microsoft.com/office/drawing/2014/main" id="{A1E8F2C6-8CCD-9714-387F-8493CF027AAF}"/>
              </a:ext>
            </a:extLst>
          </p:cNvPr>
          <p:cNvSpPr/>
          <p:nvPr/>
        </p:nvSpPr>
        <p:spPr>
          <a:xfrm>
            <a:off x="7848600" y="4749800"/>
            <a:ext cx="76200" cy="3048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6D79D3E-3EF8-13B9-6DFC-481CA2048A1D}"/>
              </a:ext>
            </a:extLst>
          </p:cNvPr>
          <p:cNvSpPr txBox="1"/>
          <p:nvPr/>
        </p:nvSpPr>
        <p:spPr>
          <a:xfrm>
            <a:off x="8153400" y="4622800"/>
            <a:ext cx="3327400" cy="403765"/>
          </a:xfrm>
          <a:prstGeom prst="rect">
            <a:avLst/>
          </a:prstGeom>
          <a:noFill/>
        </p:spPr>
        <p:txBody>
          <a:bodyPr vert="horz" wrap="square" lIns="0" tIns="0" rIns="0" bIns="0" rtlCol="0">
            <a:spAutoFit/>
          </a:bodyPr>
          <a:lstStyle/>
          <a:p>
            <a:pPr>
              <a:lnSpc>
                <a:spcPct val="115000"/>
              </a:lnSpc>
            </a:pPr>
            <a:r>
              <a:rPr lang="en-US" sz="2400">
                <a:solidFill>
                  <a:srgbClr val="172B3D"/>
                </a:solidFill>
                <a:latin typeface="Aptos" panose="020B0004020202020204" pitchFamily="34" charset="0"/>
              </a:rPr>
              <a:t>Overall total: $61.08</a:t>
            </a:r>
          </a:p>
        </p:txBody>
      </p:sp>
      <p:sp>
        <p:nvSpPr>
          <p:cNvPr id="14" name="TextBox 13">
            <a:extLst>
              <a:ext uri="{FF2B5EF4-FFF2-40B4-BE49-F238E27FC236}">
                <a16:creationId xmlns:a16="http://schemas.microsoft.com/office/drawing/2014/main" id="{81D07990-2E8B-7953-42FA-CEC6C582B0A3}"/>
              </a:ext>
            </a:extLst>
          </p:cNvPr>
          <p:cNvSpPr txBox="1"/>
          <p:nvPr/>
        </p:nvSpPr>
        <p:spPr>
          <a:xfrm>
            <a:off x="660400" y="6007100"/>
            <a:ext cx="10731500" cy="218778"/>
          </a:xfrm>
          <a:prstGeom prst="rect">
            <a:avLst/>
          </a:prstGeom>
          <a:noFill/>
        </p:spPr>
        <p:txBody>
          <a:bodyPr vert="horz" wrap="square" lIns="0" tIns="0" rIns="0" bIns="0" rtlCol="0">
            <a:spAutoFit/>
          </a:bodyPr>
          <a:lstStyle/>
          <a:p>
            <a:pPr>
              <a:lnSpc>
                <a:spcPct val="115000"/>
              </a:lnSpc>
            </a:pPr>
            <a:r>
              <a:rPr lang="en-US" sz="1300">
                <a:solidFill>
                  <a:srgbClr val="546775"/>
                </a:solidFill>
                <a:latin typeface="Aptos" panose="020B0004020202020204" pitchFamily="34" charset="0"/>
              </a:rPr>
              <a:t>Recorded program output. Live demo commands are in the speaker notes.</a:t>
            </a:r>
          </a:p>
        </p:txBody>
      </p:sp>
      <p:sp>
        <p:nvSpPr>
          <p:cNvPr id="15" name="TextBox 14">
            <a:extLst>
              <a:ext uri="{FF2B5EF4-FFF2-40B4-BE49-F238E27FC236}">
                <a16:creationId xmlns:a16="http://schemas.microsoft.com/office/drawing/2014/main" id="{90D0916B-BF7D-544B-6190-35F2FB603405}"/>
              </a:ext>
            </a:extLst>
          </p:cNvPr>
          <p:cNvSpPr txBox="1"/>
          <p:nvPr/>
        </p:nvSpPr>
        <p:spPr>
          <a:xfrm>
            <a:off x="635000" y="6527800"/>
            <a:ext cx="8255000" cy="168251"/>
          </a:xfrm>
          <a:prstGeom prst="rect">
            <a:avLst/>
          </a:prstGeom>
          <a:noFill/>
        </p:spPr>
        <p:txBody>
          <a:bodyPr vert="horz" wrap="square" lIns="0" tIns="0" rIns="0" bIns="0" rtlCol="0">
            <a:spAutoFit/>
          </a:bodyPr>
          <a:lstStyle/>
          <a:p>
            <a:pPr>
              <a:lnSpc>
                <a:spcPct val="115000"/>
              </a:lnSpc>
            </a:pPr>
            <a:r>
              <a:rPr lang="en-US" sz="1000">
                <a:solidFill>
                  <a:srgbClr val="546775"/>
                </a:solidFill>
                <a:latin typeface="Aptos" panose="020B0004020202020204" pitchFamily="34" charset="0"/>
              </a:rPr>
              <a:t>Expense Tracker | Python and C++</a:t>
            </a:r>
          </a:p>
        </p:txBody>
      </p:sp>
      <p:sp>
        <p:nvSpPr>
          <p:cNvPr id="16" name="TextBox 15">
            <a:extLst>
              <a:ext uri="{FF2B5EF4-FFF2-40B4-BE49-F238E27FC236}">
                <a16:creationId xmlns:a16="http://schemas.microsoft.com/office/drawing/2014/main" id="{2F51B54C-F463-6F1D-F768-8B84967180D5}"/>
              </a:ext>
            </a:extLst>
          </p:cNvPr>
          <p:cNvSpPr txBox="1"/>
          <p:nvPr/>
        </p:nvSpPr>
        <p:spPr>
          <a:xfrm>
            <a:off x="10477500" y="6451600"/>
            <a:ext cx="1016000" cy="218778"/>
          </a:xfrm>
          <a:prstGeom prst="rect">
            <a:avLst/>
          </a:prstGeom>
          <a:noFill/>
        </p:spPr>
        <p:txBody>
          <a:bodyPr vert="horz" wrap="square" lIns="0" tIns="0" rIns="0" bIns="0" rtlCol="0">
            <a:spAutoFit/>
          </a:bodyPr>
          <a:lstStyle/>
          <a:p>
            <a:pPr algn="r">
              <a:lnSpc>
                <a:spcPct val="115000"/>
              </a:lnSpc>
            </a:pPr>
            <a:r>
              <a:rPr lang="en-US" sz="1300">
                <a:solidFill>
                  <a:srgbClr val="546775"/>
                </a:solidFill>
                <a:latin typeface="Aptos" panose="020B0004020202020204" pitchFamily="34" charset="0"/>
              </a:rPr>
              <a:t>5 / 10</a:t>
            </a:r>
          </a:p>
        </p:txBody>
      </p:sp>
    </p:spTree>
    <p:extLst>
      <p:ext uri="{BB962C8B-B14F-4D97-AF65-F5344CB8AC3E}">
        <p14:creationId xmlns:p14="http://schemas.microsoft.com/office/powerpoint/2010/main" val="2056676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4BFD73-6796-EAF9-0D16-92583FE433FC}"/>
              </a:ext>
            </a:extLst>
          </p:cNvPr>
          <p:cNvSpPr/>
          <p:nvPr/>
        </p:nvSpPr>
        <p:spPr>
          <a:xfrm>
            <a:off x="0" y="0"/>
            <a:ext cx="12192000" cy="1016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4019DF-A253-AAFB-7105-F6DB0A074D3C}"/>
              </a:ext>
            </a:extLst>
          </p:cNvPr>
          <p:cNvSpPr txBox="1"/>
          <p:nvPr/>
        </p:nvSpPr>
        <p:spPr>
          <a:xfrm>
            <a:off x="609600" y="469900"/>
            <a:ext cx="10985500" cy="572016"/>
          </a:xfrm>
          <a:prstGeom prst="rect">
            <a:avLst/>
          </a:prstGeom>
          <a:noFill/>
        </p:spPr>
        <p:txBody>
          <a:bodyPr vert="horz" wrap="square" lIns="0" tIns="0" rIns="0" bIns="0" rtlCol="0">
            <a:spAutoFit/>
          </a:bodyPr>
          <a:lstStyle/>
          <a:p>
            <a:pPr>
              <a:lnSpc>
                <a:spcPct val="115000"/>
              </a:lnSpc>
            </a:pPr>
            <a:r>
              <a:rPr lang="en-US" sz="3400" b="1">
                <a:solidFill>
                  <a:srgbClr val="172B3D"/>
                </a:solidFill>
                <a:latin typeface="Aptos" panose="020B0004020202020204" pitchFamily="34" charset="0"/>
              </a:rPr>
              <a:t>C++: the same results</a:t>
            </a:r>
          </a:p>
        </p:txBody>
      </p:sp>
      <p:sp>
        <p:nvSpPr>
          <p:cNvPr id="4" name="TextBox 3">
            <a:extLst>
              <a:ext uri="{FF2B5EF4-FFF2-40B4-BE49-F238E27FC236}">
                <a16:creationId xmlns:a16="http://schemas.microsoft.com/office/drawing/2014/main" id="{2DA2648E-EC79-17A6-8F50-4FC9418F1F6B}"/>
              </a:ext>
            </a:extLst>
          </p:cNvPr>
          <p:cNvSpPr txBox="1"/>
          <p:nvPr/>
        </p:nvSpPr>
        <p:spPr>
          <a:xfrm>
            <a:off x="635000" y="1282700"/>
            <a:ext cx="10922000" cy="353302"/>
          </a:xfrm>
          <a:prstGeom prst="rect">
            <a:avLst/>
          </a:prstGeom>
          <a:noFill/>
        </p:spPr>
        <p:txBody>
          <a:bodyPr vert="horz" wrap="square" lIns="0" tIns="0" rIns="0" bIns="0" rtlCol="0">
            <a:spAutoFit/>
          </a:bodyPr>
          <a:lstStyle/>
          <a:p>
            <a:pPr>
              <a:lnSpc>
                <a:spcPct val="115000"/>
              </a:lnSpc>
            </a:pPr>
            <a:r>
              <a:rPr lang="en-US" sz="2100">
                <a:solidFill>
                  <a:srgbClr val="546775"/>
                </a:solidFill>
                <a:latin typeface="Aptos" panose="020B0004020202020204" pitchFamily="34" charset="0"/>
              </a:rPr>
              <a:t>A separate program reads the same sample file</a:t>
            </a:r>
          </a:p>
        </p:txBody>
      </p:sp>
      <p:sp>
        <p:nvSpPr>
          <p:cNvPr id="5" name="Rectangle 4">
            <a:extLst>
              <a:ext uri="{FF2B5EF4-FFF2-40B4-BE49-F238E27FC236}">
                <a16:creationId xmlns:a16="http://schemas.microsoft.com/office/drawing/2014/main" id="{47AB6869-DB51-1BC0-F201-01324D6A1CE7}"/>
              </a:ext>
            </a:extLst>
          </p:cNvPr>
          <p:cNvSpPr/>
          <p:nvPr/>
        </p:nvSpPr>
        <p:spPr>
          <a:xfrm>
            <a:off x="635000" y="2133600"/>
            <a:ext cx="6731000" cy="3708400"/>
          </a:xfrm>
          <a:prstGeom prst="rect">
            <a:avLst/>
          </a:prstGeom>
          <a:solidFill>
            <a:srgbClr val="1923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AB5CA9C-D776-640B-36A4-92F0B76FF054}"/>
              </a:ext>
            </a:extLst>
          </p:cNvPr>
          <p:cNvSpPr txBox="1"/>
          <p:nvPr/>
        </p:nvSpPr>
        <p:spPr>
          <a:xfrm>
            <a:off x="927100" y="2374900"/>
            <a:ext cx="6134100" cy="286040"/>
          </a:xfrm>
          <a:prstGeom prst="rect">
            <a:avLst/>
          </a:prstGeom>
          <a:noFill/>
        </p:spPr>
        <p:txBody>
          <a:bodyPr vert="horz" wrap="square" lIns="0" tIns="0" rIns="0" bIns="0" rtlCol="0">
            <a:spAutoFit/>
          </a:bodyPr>
          <a:lstStyle/>
          <a:p>
            <a:pPr>
              <a:lnSpc>
                <a:spcPct val="115000"/>
              </a:lnSpc>
            </a:pPr>
            <a:r>
              <a:rPr lang="en-US" sz="1700" b="1">
                <a:solidFill>
                  <a:srgbClr val="BBEEDC"/>
                </a:solidFill>
                <a:latin typeface="Aptos" panose="020B0004020202020204" pitchFamily="34" charset="0"/>
              </a:rPr>
              <a:t>C++ output | sample data</a:t>
            </a:r>
          </a:p>
        </p:txBody>
      </p:sp>
      <p:sp>
        <p:nvSpPr>
          <p:cNvPr id="7" name="TextBox 6">
            <a:extLst>
              <a:ext uri="{FF2B5EF4-FFF2-40B4-BE49-F238E27FC236}">
                <a16:creationId xmlns:a16="http://schemas.microsoft.com/office/drawing/2014/main" id="{1D214E5C-796F-5DAA-D496-9DFFF5A6FCDE}"/>
              </a:ext>
            </a:extLst>
          </p:cNvPr>
          <p:cNvSpPr txBox="1"/>
          <p:nvPr/>
        </p:nvSpPr>
        <p:spPr>
          <a:xfrm>
            <a:off x="927100" y="3035300"/>
            <a:ext cx="6134100" cy="2096664"/>
          </a:xfrm>
          <a:prstGeom prst="rect">
            <a:avLst/>
          </a:prstGeom>
          <a:noFill/>
        </p:spPr>
        <p:txBody>
          <a:bodyPr vert="horz" wrap="square" lIns="0" tIns="0" rIns="0" bIns="0" rtlCol="0">
            <a:spAutoFit/>
          </a:bodyPr>
          <a:lstStyle/>
          <a:p>
            <a:pPr>
              <a:lnSpc>
                <a:spcPct val="115000"/>
              </a:lnSpc>
            </a:pPr>
            <a:r>
              <a:rPr lang="en-US" sz="2400">
                <a:solidFill>
                  <a:srgbClr val="FFFFFF"/>
                </a:solidFill>
                <a:latin typeface="Consolas" panose="020B0609020204030204" pitchFamily="49" charset="0"/>
              </a:rPr>
              <a:t>Category | Total (USD)
Food | $21.09
Supplies | $19.99
Transport | $20.00
Overall | $61.08</a:t>
            </a:r>
          </a:p>
        </p:txBody>
      </p:sp>
      <p:sp>
        <p:nvSpPr>
          <p:cNvPr id="8" name="Rectangle 7">
            <a:extLst>
              <a:ext uri="{FF2B5EF4-FFF2-40B4-BE49-F238E27FC236}">
                <a16:creationId xmlns:a16="http://schemas.microsoft.com/office/drawing/2014/main" id="{BC360CB8-FDE8-C32E-33B9-50C0B0D1D9E0}"/>
              </a:ext>
            </a:extLst>
          </p:cNvPr>
          <p:cNvSpPr/>
          <p:nvPr/>
        </p:nvSpPr>
        <p:spPr>
          <a:xfrm>
            <a:off x="7848600" y="2794000"/>
            <a:ext cx="76200" cy="3048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5E85C32-97C4-904D-01A6-37562BC432BA}"/>
              </a:ext>
            </a:extLst>
          </p:cNvPr>
          <p:cNvSpPr txBox="1"/>
          <p:nvPr/>
        </p:nvSpPr>
        <p:spPr>
          <a:xfrm>
            <a:off x="8153400" y="2667000"/>
            <a:ext cx="3327400" cy="403765"/>
          </a:xfrm>
          <a:prstGeom prst="rect">
            <a:avLst/>
          </a:prstGeom>
          <a:noFill/>
        </p:spPr>
        <p:txBody>
          <a:bodyPr vert="horz" wrap="square" lIns="0" tIns="0" rIns="0" bIns="0" rtlCol="0">
            <a:spAutoFit/>
          </a:bodyPr>
          <a:lstStyle/>
          <a:p>
            <a:pPr>
              <a:lnSpc>
                <a:spcPct val="115000"/>
              </a:lnSpc>
            </a:pPr>
            <a:r>
              <a:rPr lang="en-US" sz="2400">
                <a:solidFill>
                  <a:srgbClr val="172B3D"/>
                </a:solidFill>
                <a:latin typeface="Aptos" panose="020B0004020202020204" pitchFamily="34" charset="0"/>
              </a:rPr>
              <a:t>Same saved expenses</a:t>
            </a:r>
          </a:p>
        </p:txBody>
      </p:sp>
      <p:sp>
        <p:nvSpPr>
          <p:cNvPr id="10" name="Rectangle 9">
            <a:extLst>
              <a:ext uri="{FF2B5EF4-FFF2-40B4-BE49-F238E27FC236}">
                <a16:creationId xmlns:a16="http://schemas.microsoft.com/office/drawing/2014/main" id="{5A573134-7487-2161-F127-0943659BA0D3}"/>
              </a:ext>
            </a:extLst>
          </p:cNvPr>
          <p:cNvSpPr/>
          <p:nvPr/>
        </p:nvSpPr>
        <p:spPr>
          <a:xfrm>
            <a:off x="7848600" y="3771900"/>
            <a:ext cx="76200" cy="3048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A884ADA-817C-B3AD-4D73-FB3166C6A8FE}"/>
              </a:ext>
            </a:extLst>
          </p:cNvPr>
          <p:cNvSpPr txBox="1"/>
          <p:nvPr/>
        </p:nvSpPr>
        <p:spPr>
          <a:xfrm>
            <a:off x="8153400" y="3644900"/>
            <a:ext cx="3327400" cy="403765"/>
          </a:xfrm>
          <a:prstGeom prst="rect">
            <a:avLst/>
          </a:prstGeom>
          <a:noFill/>
        </p:spPr>
        <p:txBody>
          <a:bodyPr vert="horz" wrap="square" lIns="0" tIns="0" rIns="0" bIns="0" rtlCol="0">
            <a:spAutoFit/>
          </a:bodyPr>
          <a:lstStyle/>
          <a:p>
            <a:pPr>
              <a:lnSpc>
                <a:spcPct val="115000"/>
              </a:lnSpc>
            </a:pPr>
            <a:r>
              <a:rPr lang="en-US" sz="2400">
                <a:solidFill>
                  <a:srgbClr val="172B3D"/>
                </a:solidFill>
                <a:latin typeface="Aptos" panose="020B0004020202020204" pitchFamily="34" charset="0"/>
              </a:rPr>
              <a:t>Same category totals</a:t>
            </a:r>
          </a:p>
        </p:txBody>
      </p:sp>
      <p:sp>
        <p:nvSpPr>
          <p:cNvPr id="12" name="Rectangle 11">
            <a:extLst>
              <a:ext uri="{FF2B5EF4-FFF2-40B4-BE49-F238E27FC236}">
                <a16:creationId xmlns:a16="http://schemas.microsoft.com/office/drawing/2014/main" id="{97DB7B88-B206-85CC-212B-0BED55A7D484}"/>
              </a:ext>
            </a:extLst>
          </p:cNvPr>
          <p:cNvSpPr/>
          <p:nvPr/>
        </p:nvSpPr>
        <p:spPr>
          <a:xfrm>
            <a:off x="7848600" y="4749800"/>
            <a:ext cx="76200" cy="3048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BF1A6EB-1D6E-5596-41E5-ED00615887E8}"/>
              </a:ext>
            </a:extLst>
          </p:cNvPr>
          <p:cNvSpPr txBox="1"/>
          <p:nvPr/>
        </p:nvSpPr>
        <p:spPr>
          <a:xfrm>
            <a:off x="8153400" y="4622800"/>
            <a:ext cx="3327400" cy="403765"/>
          </a:xfrm>
          <a:prstGeom prst="rect">
            <a:avLst/>
          </a:prstGeom>
          <a:noFill/>
        </p:spPr>
        <p:txBody>
          <a:bodyPr vert="horz" wrap="square" lIns="0" tIns="0" rIns="0" bIns="0" rtlCol="0">
            <a:spAutoFit/>
          </a:bodyPr>
          <a:lstStyle/>
          <a:p>
            <a:pPr>
              <a:lnSpc>
                <a:spcPct val="115000"/>
              </a:lnSpc>
            </a:pPr>
            <a:r>
              <a:rPr lang="en-US" sz="2400">
                <a:solidFill>
                  <a:srgbClr val="172B3D"/>
                </a:solidFill>
                <a:latin typeface="Aptos" panose="020B0004020202020204" pitchFamily="34" charset="0"/>
              </a:rPr>
              <a:t>Same overall $61.08</a:t>
            </a:r>
          </a:p>
        </p:txBody>
      </p:sp>
      <p:sp>
        <p:nvSpPr>
          <p:cNvPr id="14" name="TextBox 13">
            <a:extLst>
              <a:ext uri="{FF2B5EF4-FFF2-40B4-BE49-F238E27FC236}">
                <a16:creationId xmlns:a16="http://schemas.microsoft.com/office/drawing/2014/main" id="{4D96EE77-E64E-8D7E-0E26-23959ADE60DE}"/>
              </a:ext>
            </a:extLst>
          </p:cNvPr>
          <p:cNvSpPr txBox="1"/>
          <p:nvPr/>
        </p:nvSpPr>
        <p:spPr>
          <a:xfrm>
            <a:off x="660400" y="6007100"/>
            <a:ext cx="10731500" cy="218778"/>
          </a:xfrm>
          <a:prstGeom prst="rect">
            <a:avLst/>
          </a:prstGeom>
          <a:noFill/>
        </p:spPr>
        <p:txBody>
          <a:bodyPr vert="horz" wrap="square" lIns="0" tIns="0" rIns="0" bIns="0" rtlCol="0">
            <a:spAutoFit/>
          </a:bodyPr>
          <a:lstStyle/>
          <a:p>
            <a:pPr>
              <a:lnSpc>
                <a:spcPct val="115000"/>
              </a:lnSpc>
            </a:pPr>
            <a:r>
              <a:rPr lang="en-US" sz="1300">
                <a:solidFill>
                  <a:srgbClr val="546775"/>
                </a:solidFill>
                <a:latin typeface="Aptos" panose="020B0004020202020204" pitchFamily="34" charset="0"/>
              </a:rPr>
              <a:t>Recorded program output. Live demo commands are in the speaker notes.</a:t>
            </a:r>
          </a:p>
        </p:txBody>
      </p:sp>
      <p:sp>
        <p:nvSpPr>
          <p:cNvPr id="15" name="TextBox 14">
            <a:extLst>
              <a:ext uri="{FF2B5EF4-FFF2-40B4-BE49-F238E27FC236}">
                <a16:creationId xmlns:a16="http://schemas.microsoft.com/office/drawing/2014/main" id="{29A8A457-3B6C-7B3C-12BF-385F61FD9927}"/>
              </a:ext>
            </a:extLst>
          </p:cNvPr>
          <p:cNvSpPr txBox="1"/>
          <p:nvPr/>
        </p:nvSpPr>
        <p:spPr>
          <a:xfrm>
            <a:off x="635000" y="6527800"/>
            <a:ext cx="8255000" cy="168251"/>
          </a:xfrm>
          <a:prstGeom prst="rect">
            <a:avLst/>
          </a:prstGeom>
          <a:noFill/>
        </p:spPr>
        <p:txBody>
          <a:bodyPr vert="horz" wrap="square" lIns="0" tIns="0" rIns="0" bIns="0" rtlCol="0">
            <a:spAutoFit/>
          </a:bodyPr>
          <a:lstStyle/>
          <a:p>
            <a:pPr>
              <a:lnSpc>
                <a:spcPct val="115000"/>
              </a:lnSpc>
            </a:pPr>
            <a:r>
              <a:rPr lang="en-US" sz="1000">
                <a:solidFill>
                  <a:srgbClr val="546775"/>
                </a:solidFill>
                <a:latin typeface="Aptos" panose="020B0004020202020204" pitchFamily="34" charset="0"/>
              </a:rPr>
              <a:t>Expense Tracker | Python and C++</a:t>
            </a:r>
          </a:p>
        </p:txBody>
      </p:sp>
      <p:sp>
        <p:nvSpPr>
          <p:cNvPr id="16" name="TextBox 15">
            <a:extLst>
              <a:ext uri="{FF2B5EF4-FFF2-40B4-BE49-F238E27FC236}">
                <a16:creationId xmlns:a16="http://schemas.microsoft.com/office/drawing/2014/main" id="{E131F6C2-0534-311D-76E0-916D3B8619F5}"/>
              </a:ext>
            </a:extLst>
          </p:cNvPr>
          <p:cNvSpPr txBox="1"/>
          <p:nvPr/>
        </p:nvSpPr>
        <p:spPr>
          <a:xfrm>
            <a:off x="10477500" y="6451600"/>
            <a:ext cx="1016000" cy="218778"/>
          </a:xfrm>
          <a:prstGeom prst="rect">
            <a:avLst/>
          </a:prstGeom>
          <a:noFill/>
        </p:spPr>
        <p:txBody>
          <a:bodyPr vert="horz" wrap="square" lIns="0" tIns="0" rIns="0" bIns="0" rtlCol="0">
            <a:spAutoFit/>
          </a:bodyPr>
          <a:lstStyle/>
          <a:p>
            <a:pPr algn="r">
              <a:lnSpc>
                <a:spcPct val="115000"/>
              </a:lnSpc>
            </a:pPr>
            <a:r>
              <a:rPr lang="en-US" sz="1300">
                <a:solidFill>
                  <a:srgbClr val="546775"/>
                </a:solidFill>
                <a:latin typeface="Aptos" panose="020B0004020202020204" pitchFamily="34" charset="0"/>
              </a:rPr>
              <a:t>6 / 10</a:t>
            </a:r>
          </a:p>
        </p:txBody>
      </p:sp>
    </p:spTree>
    <p:extLst>
      <p:ext uri="{BB962C8B-B14F-4D97-AF65-F5344CB8AC3E}">
        <p14:creationId xmlns:p14="http://schemas.microsoft.com/office/powerpoint/2010/main" val="306783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F6B750-08D2-5CA8-92CC-0D08B91A5EB4}"/>
              </a:ext>
            </a:extLst>
          </p:cNvPr>
          <p:cNvSpPr/>
          <p:nvPr/>
        </p:nvSpPr>
        <p:spPr>
          <a:xfrm>
            <a:off x="0" y="0"/>
            <a:ext cx="12192000" cy="1016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2112FA0-9DB6-107E-960C-0E7F23DFD259}"/>
              </a:ext>
            </a:extLst>
          </p:cNvPr>
          <p:cNvSpPr txBox="1"/>
          <p:nvPr/>
        </p:nvSpPr>
        <p:spPr>
          <a:xfrm>
            <a:off x="609600" y="469900"/>
            <a:ext cx="10985500" cy="572016"/>
          </a:xfrm>
          <a:prstGeom prst="rect">
            <a:avLst/>
          </a:prstGeom>
          <a:noFill/>
        </p:spPr>
        <p:txBody>
          <a:bodyPr vert="horz" wrap="square" lIns="0" tIns="0" rIns="0" bIns="0" rtlCol="0">
            <a:spAutoFit/>
          </a:bodyPr>
          <a:lstStyle/>
          <a:p>
            <a:pPr>
              <a:lnSpc>
                <a:spcPct val="115000"/>
              </a:lnSpc>
            </a:pPr>
            <a:r>
              <a:rPr lang="en-US" sz="3400" b="1">
                <a:solidFill>
                  <a:srgbClr val="172B3D"/>
                </a:solidFill>
                <a:latin typeface="Aptos" panose="020B0004020202020204" pitchFamily="34" charset="0"/>
              </a:rPr>
              <a:t>One clear code difference</a:t>
            </a:r>
          </a:p>
        </p:txBody>
      </p:sp>
      <p:sp>
        <p:nvSpPr>
          <p:cNvPr id="4" name="TextBox 3">
            <a:extLst>
              <a:ext uri="{FF2B5EF4-FFF2-40B4-BE49-F238E27FC236}">
                <a16:creationId xmlns:a16="http://schemas.microsoft.com/office/drawing/2014/main" id="{1F02695A-DAE5-5659-A4B4-D7DB7EF4F43E}"/>
              </a:ext>
            </a:extLst>
          </p:cNvPr>
          <p:cNvSpPr txBox="1"/>
          <p:nvPr/>
        </p:nvSpPr>
        <p:spPr>
          <a:xfrm>
            <a:off x="635000" y="1282700"/>
            <a:ext cx="10922000" cy="353302"/>
          </a:xfrm>
          <a:prstGeom prst="rect">
            <a:avLst/>
          </a:prstGeom>
          <a:noFill/>
        </p:spPr>
        <p:txBody>
          <a:bodyPr vert="horz" wrap="square" lIns="0" tIns="0" rIns="0" bIns="0" rtlCol="0">
            <a:spAutoFit/>
          </a:bodyPr>
          <a:lstStyle/>
          <a:p>
            <a:pPr>
              <a:lnSpc>
                <a:spcPct val="115000"/>
              </a:lnSpc>
            </a:pPr>
            <a:r>
              <a:rPr lang="en-US" sz="2100">
                <a:solidFill>
                  <a:srgbClr val="546775"/>
                </a:solidFill>
                <a:latin typeface="Aptos" panose="020B0004020202020204" pitchFamily="34" charset="0"/>
              </a:rPr>
              <a:t>Both records have the same fields</a:t>
            </a:r>
          </a:p>
        </p:txBody>
      </p:sp>
      <p:sp>
        <p:nvSpPr>
          <p:cNvPr id="5" name="Rectangle 4">
            <a:extLst>
              <a:ext uri="{FF2B5EF4-FFF2-40B4-BE49-F238E27FC236}">
                <a16:creationId xmlns:a16="http://schemas.microsoft.com/office/drawing/2014/main" id="{539EDCFF-167C-1C77-74E9-9DB942FAB62A}"/>
              </a:ext>
            </a:extLst>
          </p:cNvPr>
          <p:cNvSpPr/>
          <p:nvPr/>
        </p:nvSpPr>
        <p:spPr>
          <a:xfrm>
            <a:off x="635000" y="2171700"/>
            <a:ext cx="5283200" cy="3162300"/>
          </a:xfrm>
          <a:prstGeom prst="rect">
            <a:avLst/>
          </a:prstGeom>
          <a:solidFill>
            <a:srgbClr val="F2F6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F8D9D48-380E-3764-87E1-9D89B27F68FE}"/>
              </a:ext>
            </a:extLst>
          </p:cNvPr>
          <p:cNvSpPr txBox="1"/>
          <p:nvPr/>
        </p:nvSpPr>
        <p:spPr>
          <a:xfrm>
            <a:off x="876300" y="2349500"/>
            <a:ext cx="4813300" cy="403765"/>
          </a:xfrm>
          <a:prstGeom prst="rect">
            <a:avLst/>
          </a:prstGeom>
          <a:noFill/>
        </p:spPr>
        <p:txBody>
          <a:bodyPr vert="horz" wrap="square" lIns="0" tIns="0" rIns="0" bIns="0" rtlCol="0">
            <a:spAutoFit/>
          </a:bodyPr>
          <a:lstStyle/>
          <a:p>
            <a:pPr>
              <a:lnSpc>
                <a:spcPct val="115000"/>
              </a:lnSpc>
            </a:pPr>
            <a:r>
              <a:rPr lang="en-US" sz="2400" b="1">
                <a:solidFill>
                  <a:srgbClr val="007877"/>
                </a:solidFill>
                <a:latin typeface="Aptos" panose="020B0004020202020204" pitchFamily="34" charset="0"/>
              </a:rPr>
              <a:t>Python</a:t>
            </a:r>
          </a:p>
        </p:txBody>
      </p:sp>
      <p:sp>
        <p:nvSpPr>
          <p:cNvPr id="7" name="TextBox 6">
            <a:extLst>
              <a:ext uri="{FF2B5EF4-FFF2-40B4-BE49-F238E27FC236}">
                <a16:creationId xmlns:a16="http://schemas.microsoft.com/office/drawing/2014/main" id="{5C40692A-EFE3-364F-9B2F-FFF058065E77}"/>
              </a:ext>
            </a:extLst>
          </p:cNvPr>
          <p:cNvSpPr txBox="1"/>
          <p:nvPr/>
        </p:nvSpPr>
        <p:spPr>
          <a:xfrm>
            <a:off x="876300" y="2984500"/>
            <a:ext cx="4813300" cy="1838517"/>
          </a:xfrm>
          <a:prstGeom prst="rect">
            <a:avLst/>
          </a:prstGeom>
          <a:noFill/>
        </p:spPr>
        <p:txBody>
          <a:bodyPr vert="horz" wrap="square" lIns="0" tIns="0" rIns="0" bIns="0" rtlCol="0">
            <a:spAutoFit/>
          </a:bodyPr>
          <a:lstStyle/>
          <a:p>
            <a:pPr>
              <a:lnSpc>
                <a:spcPct val="115000"/>
              </a:lnSpc>
            </a:pPr>
            <a:r>
              <a:rPr lang="en-US" sz="1750">
                <a:solidFill>
                  <a:srgbClr val="172B3D"/>
                </a:solidFill>
                <a:latin typeface="Consolas" panose="020B0609020204030204" pitchFamily="49" charset="0"/>
              </a:rPr>
              <a:t>class Expense(TypedDict):
    id: int
    date: date
    amount_cents: int
    category: str
    description: str</a:t>
            </a:r>
          </a:p>
        </p:txBody>
      </p:sp>
      <p:sp>
        <p:nvSpPr>
          <p:cNvPr id="8" name="Rectangle 7">
            <a:extLst>
              <a:ext uri="{FF2B5EF4-FFF2-40B4-BE49-F238E27FC236}">
                <a16:creationId xmlns:a16="http://schemas.microsoft.com/office/drawing/2014/main" id="{E4AFA286-4F29-6C9C-554C-B7E9DCA3FAA9}"/>
              </a:ext>
            </a:extLst>
          </p:cNvPr>
          <p:cNvSpPr/>
          <p:nvPr/>
        </p:nvSpPr>
        <p:spPr>
          <a:xfrm>
            <a:off x="6261100" y="2171700"/>
            <a:ext cx="5283200" cy="3162300"/>
          </a:xfrm>
          <a:prstGeom prst="rect">
            <a:avLst/>
          </a:prstGeom>
          <a:solidFill>
            <a:srgbClr val="F2F6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1976FB9-7F9D-EF2F-B3E9-A1614AD92254}"/>
              </a:ext>
            </a:extLst>
          </p:cNvPr>
          <p:cNvSpPr txBox="1"/>
          <p:nvPr/>
        </p:nvSpPr>
        <p:spPr>
          <a:xfrm>
            <a:off x="6502400" y="2349500"/>
            <a:ext cx="4813300" cy="403765"/>
          </a:xfrm>
          <a:prstGeom prst="rect">
            <a:avLst/>
          </a:prstGeom>
          <a:noFill/>
        </p:spPr>
        <p:txBody>
          <a:bodyPr vert="horz" wrap="square" lIns="0" tIns="0" rIns="0" bIns="0" rtlCol="0">
            <a:spAutoFit/>
          </a:bodyPr>
          <a:lstStyle/>
          <a:p>
            <a:pPr>
              <a:lnSpc>
                <a:spcPct val="115000"/>
              </a:lnSpc>
            </a:pPr>
            <a:r>
              <a:rPr lang="en-US" sz="2400" b="1">
                <a:solidFill>
                  <a:srgbClr val="007877"/>
                </a:solidFill>
                <a:latin typeface="Aptos" panose="020B0004020202020204" pitchFamily="34" charset="0"/>
              </a:rPr>
              <a:t>C++</a:t>
            </a:r>
          </a:p>
        </p:txBody>
      </p:sp>
      <p:sp>
        <p:nvSpPr>
          <p:cNvPr id="10" name="TextBox 9">
            <a:extLst>
              <a:ext uri="{FF2B5EF4-FFF2-40B4-BE49-F238E27FC236}">
                <a16:creationId xmlns:a16="http://schemas.microsoft.com/office/drawing/2014/main" id="{B25F20C2-35DF-D936-46EF-97679BA04B62}"/>
              </a:ext>
            </a:extLst>
          </p:cNvPr>
          <p:cNvSpPr txBox="1"/>
          <p:nvPr/>
        </p:nvSpPr>
        <p:spPr>
          <a:xfrm>
            <a:off x="6502400" y="2984500"/>
            <a:ext cx="4813300" cy="2148217"/>
          </a:xfrm>
          <a:prstGeom prst="rect">
            <a:avLst/>
          </a:prstGeom>
          <a:noFill/>
        </p:spPr>
        <p:txBody>
          <a:bodyPr vert="horz" wrap="square" lIns="0" tIns="0" rIns="0" bIns="0" rtlCol="0">
            <a:spAutoFit/>
          </a:bodyPr>
          <a:lstStyle/>
          <a:p>
            <a:pPr>
              <a:lnSpc>
                <a:spcPct val="115000"/>
              </a:lnSpc>
            </a:pPr>
            <a:r>
              <a:rPr lang="en-US" sz="1750">
                <a:solidFill>
                  <a:srgbClr val="172B3D"/>
                </a:solidFill>
                <a:latin typeface="Consolas" panose="020B0609020204030204" pitchFamily="49" charset="0"/>
              </a:rPr>
              <a:t>struct Expense {
    std::int32_t id;
    std::string date;
    std::int64_t amount_cents;
    std::string category;
    std::string description;
};</a:t>
            </a:r>
          </a:p>
        </p:txBody>
      </p:sp>
      <p:sp>
        <p:nvSpPr>
          <p:cNvPr id="11" name="TextBox 10">
            <a:extLst>
              <a:ext uri="{FF2B5EF4-FFF2-40B4-BE49-F238E27FC236}">
                <a16:creationId xmlns:a16="http://schemas.microsoft.com/office/drawing/2014/main" id="{F2F5B81D-FA02-7B1A-1CC2-84DC2B03F7FD}"/>
              </a:ext>
            </a:extLst>
          </p:cNvPr>
          <p:cNvSpPr txBox="1"/>
          <p:nvPr/>
        </p:nvSpPr>
        <p:spPr>
          <a:xfrm>
            <a:off x="698500" y="5524500"/>
            <a:ext cx="5067300" cy="336502"/>
          </a:xfrm>
          <a:prstGeom prst="rect">
            <a:avLst/>
          </a:prstGeom>
          <a:noFill/>
        </p:spPr>
        <p:txBody>
          <a:bodyPr vert="horz" wrap="square" lIns="0" tIns="0" rIns="0" bIns="0" rtlCol="0">
            <a:spAutoFit/>
          </a:bodyPr>
          <a:lstStyle/>
          <a:p>
            <a:pPr>
              <a:lnSpc>
                <a:spcPct val="115000"/>
              </a:lnSpc>
            </a:pPr>
            <a:r>
              <a:rPr lang="en-US" sz="2000">
                <a:solidFill>
                  <a:srgbClr val="172B3D"/>
                </a:solidFill>
                <a:latin typeface="Aptos" panose="020B0004020202020204" pitchFamily="34" charset="0"/>
              </a:rPr>
              <a:t>Python: hints describe the fields.</a:t>
            </a:r>
          </a:p>
        </p:txBody>
      </p:sp>
      <p:sp>
        <p:nvSpPr>
          <p:cNvPr id="12" name="TextBox 11">
            <a:extLst>
              <a:ext uri="{FF2B5EF4-FFF2-40B4-BE49-F238E27FC236}">
                <a16:creationId xmlns:a16="http://schemas.microsoft.com/office/drawing/2014/main" id="{2D42A6A5-8235-4A2E-F03B-4B891793D79E}"/>
              </a:ext>
            </a:extLst>
          </p:cNvPr>
          <p:cNvSpPr txBox="1"/>
          <p:nvPr/>
        </p:nvSpPr>
        <p:spPr>
          <a:xfrm>
            <a:off x="6324600" y="5524500"/>
            <a:ext cx="5067300" cy="336502"/>
          </a:xfrm>
          <a:prstGeom prst="rect">
            <a:avLst/>
          </a:prstGeom>
          <a:noFill/>
        </p:spPr>
        <p:txBody>
          <a:bodyPr vert="horz" wrap="square" lIns="0" tIns="0" rIns="0" bIns="0" rtlCol="0">
            <a:spAutoFit/>
          </a:bodyPr>
          <a:lstStyle/>
          <a:p>
            <a:pPr>
              <a:lnSpc>
                <a:spcPct val="115000"/>
              </a:lnSpc>
            </a:pPr>
            <a:r>
              <a:rPr lang="en-US" sz="2000">
                <a:solidFill>
                  <a:srgbClr val="172B3D"/>
                </a:solidFill>
                <a:latin typeface="Aptos" panose="020B0004020202020204" pitchFamily="34" charset="0"/>
              </a:rPr>
              <a:t>C++: field types are checked during the build.</a:t>
            </a:r>
          </a:p>
        </p:txBody>
      </p:sp>
      <p:sp>
        <p:nvSpPr>
          <p:cNvPr id="13" name="TextBox 12">
            <a:extLst>
              <a:ext uri="{FF2B5EF4-FFF2-40B4-BE49-F238E27FC236}">
                <a16:creationId xmlns:a16="http://schemas.microsoft.com/office/drawing/2014/main" id="{C833A21B-CD56-2534-6E12-100B9FDEBB6E}"/>
              </a:ext>
            </a:extLst>
          </p:cNvPr>
          <p:cNvSpPr txBox="1"/>
          <p:nvPr/>
        </p:nvSpPr>
        <p:spPr>
          <a:xfrm>
            <a:off x="635000" y="6527800"/>
            <a:ext cx="8255000" cy="168251"/>
          </a:xfrm>
          <a:prstGeom prst="rect">
            <a:avLst/>
          </a:prstGeom>
          <a:noFill/>
        </p:spPr>
        <p:txBody>
          <a:bodyPr vert="horz" wrap="square" lIns="0" tIns="0" rIns="0" bIns="0" rtlCol="0">
            <a:spAutoFit/>
          </a:bodyPr>
          <a:lstStyle/>
          <a:p>
            <a:pPr>
              <a:lnSpc>
                <a:spcPct val="115000"/>
              </a:lnSpc>
            </a:pPr>
            <a:r>
              <a:rPr lang="en-US" sz="1000">
                <a:solidFill>
                  <a:srgbClr val="546775"/>
                </a:solidFill>
                <a:latin typeface="Aptos" panose="020B0004020202020204" pitchFamily="34" charset="0"/>
              </a:rPr>
              <a:t>Expense Tracker | Python and C++</a:t>
            </a:r>
          </a:p>
        </p:txBody>
      </p:sp>
      <p:sp>
        <p:nvSpPr>
          <p:cNvPr id="14" name="TextBox 13">
            <a:extLst>
              <a:ext uri="{FF2B5EF4-FFF2-40B4-BE49-F238E27FC236}">
                <a16:creationId xmlns:a16="http://schemas.microsoft.com/office/drawing/2014/main" id="{3CAFC0FB-7FB1-4B2F-D6C1-4019C8C883AF}"/>
              </a:ext>
            </a:extLst>
          </p:cNvPr>
          <p:cNvSpPr txBox="1"/>
          <p:nvPr/>
        </p:nvSpPr>
        <p:spPr>
          <a:xfrm>
            <a:off x="10477500" y="6451600"/>
            <a:ext cx="1016000" cy="218778"/>
          </a:xfrm>
          <a:prstGeom prst="rect">
            <a:avLst/>
          </a:prstGeom>
          <a:noFill/>
        </p:spPr>
        <p:txBody>
          <a:bodyPr vert="horz" wrap="square" lIns="0" tIns="0" rIns="0" bIns="0" rtlCol="0">
            <a:spAutoFit/>
          </a:bodyPr>
          <a:lstStyle/>
          <a:p>
            <a:pPr algn="r">
              <a:lnSpc>
                <a:spcPct val="115000"/>
              </a:lnSpc>
            </a:pPr>
            <a:r>
              <a:rPr lang="en-US" sz="1300">
                <a:solidFill>
                  <a:srgbClr val="546775"/>
                </a:solidFill>
                <a:latin typeface="Aptos" panose="020B0004020202020204" pitchFamily="34" charset="0"/>
              </a:rPr>
              <a:t>7 / 10</a:t>
            </a:r>
          </a:p>
        </p:txBody>
      </p:sp>
    </p:spTree>
    <p:extLst>
      <p:ext uri="{BB962C8B-B14F-4D97-AF65-F5344CB8AC3E}">
        <p14:creationId xmlns:p14="http://schemas.microsoft.com/office/powerpoint/2010/main" val="3527359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3DBD88-BC43-AAEF-20FC-587A486E98B3}"/>
              </a:ext>
            </a:extLst>
          </p:cNvPr>
          <p:cNvSpPr/>
          <p:nvPr/>
        </p:nvSpPr>
        <p:spPr>
          <a:xfrm>
            <a:off x="0" y="0"/>
            <a:ext cx="12192000" cy="1016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3FB97F-37A8-999C-9FFB-CCF53BBECD31}"/>
              </a:ext>
            </a:extLst>
          </p:cNvPr>
          <p:cNvSpPr txBox="1"/>
          <p:nvPr/>
        </p:nvSpPr>
        <p:spPr>
          <a:xfrm>
            <a:off x="609600" y="469900"/>
            <a:ext cx="10985500" cy="572016"/>
          </a:xfrm>
          <a:prstGeom prst="rect">
            <a:avLst/>
          </a:prstGeom>
          <a:noFill/>
        </p:spPr>
        <p:txBody>
          <a:bodyPr vert="horz" wrap="square" lIns="0" tIns="0" rIns="0" bIns="0" rtlCol="0">
            <a:spAutoFit/>
          </a:bodyPr>
          <a:lstStyle/>
          <a:p>
            <a:pPr>
              <a:lnSpc>
                <a:spcPct val="115000"/>
              </a:lnSpc>
            </a:pPr>
            <a:r>
              <a:rPr lang="en-US" sz="3400" b="1">
                <a:solidFill>
                  <a:srgbClr val="172B3D"/>
                </a:solidFill>
                <a:latin typeface="Aptos" panose="020B0004020202020204" pitchFamily="34" charset="0"/>
              </a:rPr>
              <a:t>What felt different?</a:t>
            </a:r>
          </a:p>
        </p:txBody>
      </p:sp>
      <p:sp>
        <p:nvSpPr>
          <p:cNvPr id="4" name="TextBox 3">
            <a:extLst>
              <a:ext uri="{FF2B5EF4-FFF2-40B4-BE49-F238E27FC236}">
                <a16:creationId xmlns:a16="http://schemas.microsoft.com/office/drawing/2014/main" id="{5BA5E072-0DDB-7724-1EEC-146A1B1411C5}"/>
              </a:ext>
            </a:extLst>
          </p:cNvPr>
          <p:cNvSpPr txBox="1"/>
          <p:nvPr/>
        </p:nvSpPr>
        <p:spPr>
          <a:xfrm>
            <a:off x="635000" y="1282700"/>
            <a:ext cx="10922000" cy="353302"/>
          </a:xfrm>
          <a:prstGeom prst="rect">
            <a:avLst/>
          </a:prstGeom>
          <a:noFill/>
        </p:spPr>
        <p:txBody>
          <a:bodyPr vert="horz" wrap="square" lIns="0" tIns="0" rIns="0" bIns="0" rtlCol="0">
            <a:spAutoFit/>
          </a:bodyPr>
          <a:lstStyle/>
          <a:p>
            <a:pPr>
              <a:lnSpc>
                <a:spcPct val="115000"/>
              </a:lnSpc>
            </a:pPr>
            <a:r>
              <a:rPr lang="en-US" sz="2100">
                <a:solidFill>
                  <a:srgbClr val="546775"/>
                </a:solidFill>
                <a:latin typeface="Aptos" panose="020B0004020202020204" pitchFamily="34" charset="0"/>
              </a:rPr>
              <a:t>Our choices while building this project</a:t>
            </a:r>
          </a:p>
        </p:txBody>
      </p:sp>
      <p:sp>
        <p:nvSpPr>
          <p:cNvPr id="5" name="Rectangle 4">
            <a:extLst>
              <a:ext uri="{FF2B5EF4-FFF2-40B4-BE49-F238E27FC236}">
                <a16:creationId xmlns:a16="http://schemas.microsoft.com/office/drawing/2014/main" id="{2E4D1C61-1915-B9A4-6DE6-6CAC7110EC4E}"/>
              </a:ext>
            </a:extLst>
          </p:cNvPr>
          <p:cNvSpPr/>
          <p:nvPr/>
        </p:nvSpPr>
        <p:spPr>
          <a:xfrm>
            <a:off x="635000" y="2108200"/>
            <a:ext cx="10922000" cy="7620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1464D38-5148-826A-CD01-382908C5B417}"/>
              </a:ext>
            </a:extLst>
          </p:cNvPr>
          <p:cNvSpPr txBox="1"/>
          <p:nvPr/>
        </p:nvSpPr>
        <p:spPr>
          <a:xfrm>
            <a:off x="774700" y="2222500"/>
            <a:ext cx="2540000" cy="319703"/>
          </a:xfrm>
          <a:prstGeom prst="rect">
            <a:avLst/>
          </a:prstGeom>
          <a:noFill/>
        </p:spPr>
        <p:txBody>
          <a:bodyPr vert="horz" wrap="square" lIns="0" tIns="0" rIns="0" bIns="0" rtlCol="0">
            <a:spAutoFit/>
          </a:bodyPr>
          <a:lstStyle/>
          <a:p>
            <a:pPr>
              <a:lnSpc>
                <a:spcPct val="115000"/>
              </a:lnSpc>
            </a:pPr>
            <a:r>
              <a:rPr lang="en-US" sz="1900" b="1">
                <a:solidFill>
                  <a:srgbClr val="FFFFFF"/>
                </a:solidFill>
                <a:latin typeface="Aptos" panose="020B0004020202020204" pitchFamily="34" charset="0"/>
              </a:rPr>
              <a:t>In our project</a:t>
            </a:r>
          </a:p>
        </p:txBody>
      </p:sp>
      <p:sp>
        <p:nvSpPr>
          <p:cNvPr id="7" name="TextBox 6">
            <a:extLst>
              <a:ext uri="{FF2B5EF4-FFF2-40B4-BE49-F238E27FC236}">
                <a16:creationId xmlns:a16="http://schemas.microsoft.com/office/drawing/2014/main" id="{29321495-E5B1-CD68-EF84-71851A466DC4}"/>
              </a:ext>
            </a:extLst>
          </p:cNvPr>
          <p:cNvSpPr txBox="1"/>
          <p:nvPr/>
        </p:nvSpPr>
        <p:spPr>
          <a:xfrm>
            <a:off x="3594100" y="2222500"/>
            <a:ext cx="3619500" cy="319703"/>
          </a:xfrm>
          <a:prstGeom prst="rect">
            <a:avLst/>
          </a:prstGeom>
          <a:noFill/>
        </p:spPr>
        <p:txBody>
          <a:bodyPr vert="horz" wrap="square" lIns="0" tIns="0" rIns="0" bIns="0" rtlCol="0">
            <a:spAutoFit/>
          </a:bodyPr>
          <a:lstStyle/>
          <a:p>
            <a:pPr>
              <a:lnSpc>
                <a:spcPct val="115000"/>
              </a:lnSpc>
            </a:pPr>
            <a:r>
              <a:rPr lang="en-US" sz="1900" b="1">
                <a:solidFill>
                  <a:srgbClr val="FFFFFF"/>
                </a:solidFill>
                <a:latin typeface="Aptos" panose="020B0004020202020204" pitchFamily="34" charset="0"/>
              </a:rPr>
              <a:t>Python</a:t>
            </a:r>
          </a:p>
        </p:txBody>
      </p:sp>
      <p:sp>
        <p:nvSpPr>
          <p:cNvPr id="8" name="TextBox 7">
            <a:extLst>
              <a:ext uri="{FF2B5EF4-FFF2-40B4-BE49-F238E27FC236}">
                <a16:creationId xmlns:a16="http://schemas.microsoft.com/office/drawing/2014/main" id="{0CFF35B2-7789-367F-B9C4-68FE3E9EF839}"/>
              </a:ext>
            </a:extLst>
          </p:cNvPr>
          <p:cNvSpPr txBox="1"/>
          <p:nvPr/>
        </p:nvSpPr>
        <p:spPr>
          <a:xfrm>
            <a:off x="7493000" y="2222500"/>
            <a:ext cx="3924300" cy="319703"/>
          </a:xfrm>
          <a:prstGeom prst="rect">
            <a:avLst/>
          </a:prstGeom>
          <a:noFill/>
        </p:spPr>
        <p:txBody>
          <a:bodyPr vert="horz" wrap="square" lIns="0" tIns="0" rIns="0" bIns="0" rtlCol="0">
            <a:spAutoFit/>
          </a:bodyPr>
          <a:lstStyle/>
          <a:p>
            <a:pPr>
              <a:lnSpc>
                <a:spcPct val="115000"/>
              </a:lnSpc>
            </a:pPr>
            <a:r>
              <a:rPr lang="en-US" sz="1900" b="1">
                <a:solidFill>
                  <a:srgbClr val="FFFFFF"/>
                </a:solidFill>
                <a:latin typeface="Aptos" panose="020B0004020202020204" pitchFamily="34" charset="0"/>
              </a:rPr>
              <a:t>C++</a:t>
            </a:r>
          </a:p>
        </p:txBody>
      </p:sp>
      <p:sp>
        <p:nvSpPr>
          <p:cNvPr id="9" name="Rectangle 8">
            <a:extLst>
              <a:ext uri="{FF2B5EF4-FFF2-40B4-BE49-F238E27FC236}">
                <a16:creationId xmlns:a16="http://schemas.microsoft.com/office/drawing/2014/main" id="{87F751D0-751B-AED3-4D0E-E3FE82161F49}"/>
              </a:ext>
            </a:extLst>
          </p:cNvPr>
          <p:cNvSpPr/>
          <p:nvPr/>
        </p:nvSpPr>
        <p:spPr>
          <a:xfrm>
            <a:off x="635000" y="2895600"/>
            <a:ext cx="10922000" cy="762000"/>
          </a:xfrm>
          <a:prstGeom prst="rect">
            <a:avLst/>
          </a:prstGeom>
          <a:solidFill>
            <a:srgbClr val="F2F6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3C73014-B89F-0F57-DC25-04DE71A30ADD}"/>
              </a:ext>
            </a:extLst>
          </p:cNvPr>
          <p:cNvSpPr txBox="1"/>
          <p:nvPr/>
        </p:nvSpPr>
        <p:spPr>
          <a:xfrm>
            <a:off x="774700" y="3009900"/>
            <a:ext cx="2540000" cy="319703"/>
          </a:xfrm>
          <a:prstGeom prst="rect">
            <a:avLst/>
          </a:prstGeom>
          <a:noFill/>
        </p:spPr>
        <p:txBody>
          <a:bodyPr vert="horz" wrap="square" lIns="0" tIns="0" rIns="0" bIns="0" rtlCol="0">
            <a:spAutoFit/>
          </a:bodyPr>
          <a:lstStyle/>
          <a:p>
            <a:pPr>
              <a:lnSpc>
                <a:spcPct val="115000"/>
              </a:lnSpc>
            </a:pPr>
            <a:r>
              <a:rPr lang="en-US" sz="1900">
                <a:solidFill>
                  <a:srgbClr val="172B3D"/>
                </a:solidFill>
                <a:latin typeface="Aptos" panose="020B0004020202020204" pitchFamily="34" charset="0"/>
              </a:rPr>
              <a:t>Starting the app</a:t>
            </a:r>
          </a:p>
        </p:txBody>
      </p:sp>
      <p:sp>
        <p:nvSpPr>
          <p:cNvPr id="11" name="TextBox 10">
            <a:extLst>
              <a:ext uri="{FF2B5EF4-FFF2-40B4-BE49-F238E27FC236}">
                <a16:creationId xmlns:a16="http://schemas.microsoft.com/office/drawing/2014/main" id="{0C2591FE-AE4F-B9B7-A0DE-0D45E11B99A1}"/>
              </a:ext>
            </a:extLst>
          </p:cNvPr>
          <p:cNvSpPr txBox="1"/>
          <p:nvPr/>
        </p:nvSpPr>
        <p:spPr>
          <a:xfrm>
            <a:off x="3594100" y="3009900"/>
            <a:ext cx="3619500" cy="319703"/>
          </a:xfrm>
          <a:prstGeom prst="rect">
            <a:avLst/>
          </a:prstGeom>
          <a:noFill/>
        </p:spPr>
        <p:txBody>
          <a:bodyPr vert="horz" wrap="square" lIns="0" tIns="0" rIns="0" bIns="0" rtlCol="0">
            <a:spAutoFit/>
          </a:bodyPr>
          <a:lstStyle/>
          <a:p>
            <a:pPr>
              <a:lnSpc>
                <a:spcPct val="115000"/>
              </a:lnSpc>
            </a:pPr>
            <a:r>
              <a:rPr lang="en-US" sz="1900">
                <a:solidFill>
                  <a:srgbClr val="172B3D"/>
                </a:solidFill>
                <a:latin typeface="Aptos" panose="020B0004020202020204" pitchFamily="34" charset="0"/>
              </a:rPr>
              <a:t>Run using Python</a:t>
            </a:r>
          </a:p>
        </p:txBody>
      </p:sp>
      <p:sp>
        <p:nvSpPr>
          <p:cNvPr id="12" name="TextBox 11">
            <a:extLst>
              <a:ext uri="{FF2B5EF4-FFF2-40B4-BE49-F238E27FC236}">
                <a16:creationId xmlns:a16="http://schemas.microsoft.com/office/drawing/2014/main" id="{70D4BCC1-A00F-7A11-493D-161F463DC386}"/>
              </a:ext>
            </a:extLst>
          </p:cNvPr>
          <p:cNvSpPr txBox="1"/>
          <p:nvPr/>
        </p:nvSpPr>
        <p:spPr>
          <a:xfrm>
            <a:off x="7493000" y="3009900"/>
            <a:ext cx="3924300" cy="319703"/>
          </a:xfrm>
          <a:prstGeom prst="rect">
            <a:avLst/>
          </a:prstGeom>
          <a:noFill/>
        </p:spPr>
        <p:txBody>
          <a:bodyPr vert="horz" wrap="square" lIns="0" tIns="0" rIns="0" bIns="0" rtlCol="0">
            <a:spAutoFit/>
          </a:bodyPr>
          <a:lstStyle/>
          <a:p>
            <a:pPr>
              <a:lnSpc>
                <a:spcPct val="115000"/>
              </a:lnSpc>
            </a:pPr>
            <a:r>
              <a:rPr lang="en-US" sz="1900">
                <a:solidFill>
                  <a:srgbClr val="172B3D"/>
                </a:solidFill>
                <a:latin typeface="Aptos" panose="020B0004020202020204" pitchFamily="34" charset="0"/>
              </a:rPr>
              <a:t>Compile, then run</a:t>
            </a:r>
          </a:p>
        </p:txBody>
      </p:sp>
      <p:sp>
        <p:nvSpPr>
          <p:cNvPr id="13" name="Rectangle 12">
            <a:extLst>
              <a:ext uri="{FF2B5EF4-FFF2-40B4-BE49-F238E27FC236}">
                <a16:creationId xmlns:a16="http://schemas.microsoft.com/office/drawing/2014/main" id="{72B1BA2E-6248-7802-C0E0-204EDFDF9DB7}"/>
              </a:ext>
            </a:extLst>
          </p:cNvPr>
          <p:cNvSpPr/>
          <p:nvPr/>
        </p:nvSpPr>
        <p:spPr>
          <a:xfrm>
            <a:off x="635000" y="3683000"/>
            <a:ext cx="10922000" cy="762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AAC5935-3FE1-8743-0A0B-F565AAE243C3}"/>
              </a:ext>
            </a:extLst>
          </p:cNvPr>
          <p:cNvSpPr txBox="1"/>
          <p:nvPr/>
        </p:nvSpPr>
        <p:spPr>
          <a:xfrm>
            <a:off x="774700" y="3797300"/>
            <a:ext cx="2540000" cy="319703"/>
          </a:xfrm>
          <a:prstGeom prst="rect">
            <a:avLst/>
          </a:prstGeom>
          <a:noFill/>
        </p:spPr>
        <p:txBody>
          <a:bodyPr vert="horz" wrap="square" lIns="0" tIns="0" rIns="0" bIns="0" rtlCol="0">
            <a:spAutoFit/>
          </a:bodyPr>
          <a:lstStyle/>
          <a:p>
            <a:pPr>
              <a:lnSpc>
                <a:spcPct val="115000"/>
              </a:lnSpc>
            </a:pPr>
            <a:r>
              <a:rPr lang="en-US" sz="1900">
                <a:solidFill>
                  <a:srgbClr val="172B3D"/>
                </a:solidFill>
                <a:latin typeface="Aptos" panose="020B0004020202020204" pitchFamily="34" charset="0"/>
              </a:rPr>
              <a:t>Expense records</a:t>
            </a:r>
          </a:p>
        </p:txBody>
      </p:sp>
      <p:sp>
        <p:nvSpPr>
          <p:cNvPr id="15" name="TextBox 14">
            <a:extLst>
              <a:ext uri="{FF2B5EF4-FFF2-40B4-BE49-F238E27FC236}">
                <a16:creationId xmlns:a16="http://schemas.microsoft.com/office/drawing/2014/main" id="{8B45C6C2-BAED-D2B4-2B6D-5054E92AFC80}"/>
              </a:ext>
            </a:extLst>
          </p:cNvPr>
          <p:cNvSpPr txBox="1"/>
          <p:nvPr/>
        </p:nvSpPr>
        <p:spPr>
          <a:xfrm>
            <a:off x="3594100" y="3797300"/>
            <a:ext cx="3619500" cy="319703"/>
          </a:xfrm>
          <a:prstGeom prst="rect">
            <a:avLst/>
          </a:prstGeom>
          <a:noFill/>
        </p:spPr>
        <p:txBody>
          <a:bodyPr vert="horz" wrap="square" lIns="0" tIns="0" rIns="0" bIns="0" rtlCol="0">
            <a:spAutoFit/>
          </a:bodyPr>
          <a:lstStyle/>
          <a:p>
            <a:pPr>
              <a:lnSpc>
                <a:spcPct val="115000"/>
              </a:lnSpc>
            </a:pPr>
            <a:r>
              <a:rPr lang="en-US" sz="1900">
                <a:solidFill>
                  <a:srgbClr val="172B3D"/>
                </a:solidFill>
                <a:latin typeface="Aptos" panose="020B0004020202020204" pitchFamily="34" charset="0"/>
              </a:rPr>
              <a:t>Named fields with type hints</a:t>
            </a:r>
          </a:p>
        </p:txBody>
      </p:sp>
      <p:sp>
        <p:nvSpPr>
          <p:cNvPr id="16" name="TextBox 15">
            <a:extLst>
              <a:ext uri="{FF2B5EF4-FFF2-40B4-BE49-F238E27FC236}">
                <a16:creationId xmlns:a16="http://schemas.microsoft.com/office/drawing/2014/main" id="{A98E34DF-268C-F6B6-EF0E-E7A016C6391B}"/>
              </a:ext>
            </a:extLst>
          </p:cNvPr>
          <p:cNvSpPr txBox="1"/>
          <p:nvPr/>
        </p:nvSpPr>
        <p:spPr>
          <a:xfrm>
            <a:off x="7493000" y="3797300"/>
            <a:ext cx="3924300" cy="319703"/>
          </a:xfrm>
          <a:prstGeom prst="rect">
            <a:avLst/>
          </a:prstGeom>
          <a:noFill/>
        </p:spPr>
        <p:txBody>
          <a:bodyPr vert="horz" wrap="square" lIns="0" tIns="0" rIns="0" bIns="0" rtlCol="0">
            <a:spAutoFit/>
          </a:bodyPr>
          <a:lstStyle/>
          <a:p>
            <a:pPr>
              <a:lnSpc>
                <a:spcPct val="115000"/>
              </a:lnSpc>
            </a:pPr>
            <a:r>
              <a:rPr lang="en-US" sz="1900">
                <a:solidFill>
                  <a:srgbClr val="172B3D"/>
                </a:solidFill>
                <a:latin typeface="Aptos" panose="020B0004020202020204" pitchFamily="34" charset="0"/>
              </a:rPr>
              <a:t>Fields with fixed types</a:t>
            </a:r>
          </a:p>
        </p:txBody>
      </p:sp>
      <p:sp>
        <p:nvSpPr>
          <p:cNvPr id="17" name="Rectangle 16">
            <a:extLst>
              <a:ext uri="{FF2B5EF4-FFF2-40B4-BE49-F238E27FC236}">
                <a16:creationId xmlns:a16="http://schemas.microsoft.com/office/drawing/2014/main" id="{4A8DA448-5E1E-B539-1094-E147BC8526F7}"/>
              </a:ext>
            </a:extLst>
          </p:cNvPr>
          <p:cNvSpPr/>
          <p:nvPr/>
        </p:nvSpPr>
        <p:spPr>
          <a:xfrm>
            <a:off x="635000" y="4470400"/>
            <a:ext cx="10922000" cy="762000"/>
          </a:xfrm>
          <a:prstGeom prst="rect">
            <a:avLst/>
          </a:prstGeom>
          <a:solidFill>
            <a:srgbClr val="F2F6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BC94188-5D98-3F98-5E6B-354217247968}"/>
              </a:ext>
            </a:extLst>
          </p:cNvPr>
          <p:cNvSpPr txBox="1"/>
          <p:nvPr/>
        </p:nvSpPr>
        <p:spPr>
          <a:xfrm>
            <a:off x="774700" y="4584700"/>
            <a:ext cx="2540000" cy="319703"/>
          </a:xfrm>
          <a:prstGeom prst="rect">
            <a:avLst/>
          </a:prstGeom>
          <a:noFill/>
        </p:spPr>
        <p:txBody>
          <a:bodyPr vert="horz" wrap="square" lIns="0" tIns="0" rIns="0" bIns="0" rtlCol="0">
            <a:spAutoFit/>
          </a:bodyPr>
          <a:lstStyle/>
          <a:p>
            <a:pPr>
              <a:lnSpc>
                <a:spcPct val="115000"/>
              </a:lnSpc>
            </a:pPr>
            <a:r>
              <a:rPr lang="en-US" sz="1900">
                <a:solidFill>
                  <a:srgbClr val="172B3D"/>
                </a:solidFill>
                <a:latin typeface="Aptos" panose="020B0004020202020204" pitchFamily="34" charset="0"/>
              </a:rPr>
              <a:t>Dates and CSV files</a:t>
            </a:r>
          </a:p>
        </p:txBody>
      </p:sp>
      <p:sp>
        <p:nvSpPr>
          <p:cNvPr id="19" name="TextBox 18">
            <a:extLst>
              <a:ext uri="{FF2B5EF4-FFF2-40B4-BE49-F238E27FC236}">
                <a16:creationId xmlns:a16="http://schemas.microsoft.com/office/drawing/2014/main" id="{24A180CA-FC27-8D67-3B97-C31AB10F8EA6}"/>
              </a:ext>
            </a:extLst>
          </p:cNvPr>
          <p:cNvSpPr txBox="1"/>
          <p:nvPr/>
        </p:nvSpPr>
        <p:spPr>
          <a:xfrm>
            <a:off x="3594100" y="4584700"/>
            <a:ext cx="3619500" cy="319703"/>
          </a:xfrm>
          <a:prstGeom prst="rect">
            <a:avLst/>
          </a:prstGeom>
          <a:noFill/>
        </p:spPr>
        <p:txBody>
          <a:bodyPr vert="horz" wrap="square" lIns="0" tIns="0" rIns="0" bIns="0" rtlCol="0">
            <a:spAutoFit/>
          </a:bodyPr>
          <a:lstStyle/>
          <a:p>
            <a:pPr>
              <a:lnSpc>
                <a:spcPct val="115000"/>
              </a:lnSpc>
            </a:pPr>
            <a:r>
              <a:rPr lang="en-US" sz="1900">
                <a:solidFill>
                  <a:srgbClr val="172B3D"/>
                </a:solidFill>
                <a:latin typeface="Aptos" panose="020B0004020202020204" pitchFamily="34" charset="0"/>
              </a:rPr>
              <a:t>Built-in tools helped</a:t>
            </a:r>
          </a:p>
        </p:txBody>
      </p:sp>
      <p:sp>
        <p:nvSpPr>
          <p:cNvPr id="20" name="TextBox 19">
            <a:extLst>
              <a:ext uri="{FF2B5EF4-FFF2-40B4-BE49-F238E27FC236}">
                <a16:creationId xmlns:a16="http://schemas.microsoft.com/office/drawing/2014/main" id="{C1A8B5C3-AB15-7DC5-3C7E-F55C991F92AE}"/>
              </a:ext>
            </a:extLst>
          </p:cNvPr>
          <p:cNvSpPr txBox="1"/>
          <p:nvPr/>
        </p:nvSpPr>
        <p:spPr>
          <a:xfrm>
            <a:off x="7493000" y="4584700"/>
            <a:ext cx="3924300" cy="319703"/>
          </a:xfrm>
          <a:prstGeom prst="rect">
            <a:avLst/>
          </a:prstGeom>
          <a:noFill/>
        </p:spPr>
        <p:txBody>
          <a:bodyPr vert="horz" wrap="square" lIns="0" tIns="0" rIns="0" bIns="0" rtlCol="0">
            <a:spAutoFit/>
          </a:bodyPr>
          <a:lstStyle/>
          <a:p>
            <a:pPr>
              <a:lnSpc>
                <a:spcPct val="115000"/>
              </a:lnSpc>
            </a:pPr>
            <a:r>
              <a:rPr lang="en-US" sz="1900">
                <a:solidFill>
                  <a:srgbClr val="172B3D"/>
                </a:solidFill>
                <a:latin typeface="Aptos" panose="020B0004020202020204" pitchFamily="34" charset="0"/>
              </a:rPr>
              <a:t>More code written by us</a:t>
            </a:r>
          </a:p>
        </p:txBody>
      </p:sp>
      <p:sp>
        <p:nvSpPr>
          <p:cNvPr id="21" name="Rectangle 20">
            <a:extLst>
              <a:ext uri="{FF2B5EF4-FFF2-40B4-BE49-F238E27FC236}">
                <a16:creationId xmlns:a16="http://schemas.microsoft.com/office/drawing/2014/main" id="{9A92E582-B750-AE5F-5B5A-BADD8173995B}"/>
              </a:ext>
            </a:extLst>
          </p:cNvPr>
          <p:cNvSpPr/>
          <p:nvPr/>
        </p:nvSpPr>
        <p:spPr>
          <a:xfrm>
            <a:off x="635000" y="5257800"/>
            <a:ext cx="10922000" cy="762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83F769D-B124-CB5C-F327-7CA94918466C}"/>
              </a:ext>
            </a:extLst>
          </p:cNvPr>
          <p:cNvSpPr txBox="1"/>
          <p:nvPr/>
        </p:nvSpPr>
        <p:spPr>
          <a:xfrm>
            <a:off x="774700" y="5372100"/>
            <a:ext cx="2540000" cy="319703"/>
          </a:xfrm>
          <a:prstGeom prst="rect">
            <a:avLst/>
          </a:prstGeom>
          <a:noFill/>
        </p:spPr>
        <p:txBody>
          <a:bodyPr vert="horz" wrap="square" lIns="0" tIns="0" rIns="0" bIns="0" rtlCol="0">
            <a:spAutoFit/>
          </a:bodyPr>
          <a:lstStyle/>
          <a:p>
            <a:pPr>
              <a:lnSpc>
                <a:spcPct val="115000"/>
              </a:lnSpc>
            </a:pPr>
            <a:r>
              <a:rPr lang="en-US" sz="1900">
                <a:solidFill>
                  <a:srgbClr val="172B3D"/>
                </a:solidFill>
                <a:latin typeface="Aptos" panose="020B0004020202020204" pitchFamily="34" charset="0"/>
              </a:rPr>
              <a:t>Organizing the code</a:t>
            </a:r>
          </a:p>
        </p:txBody>
      </p:sp>
      <p:sp>
        <p:nvSpPr>
          <p:cNvPr id="23" name="TextBox 22">
            <a:extLst>
              <a:ext uri="{FF2B5EF4-FFF2-40B4-BE49-F238E27FC236}">
                <a16:creationId xmlns:a16="http://schemas.microsoft.com/office/drawing/2014/main" id="{25B5B4CD-7B99-1C1C-28E0-0E4222D88125}"/>
              </a:ext>
            </a:extLst>
          </p:cNvPr>
          <p:cNvSpPr txBox="1"/>
          <p:nvPr/>
        </p:nvSpPr>
        <p:spPr>
          <a:xfrm>
            <a:off x="3594100" y="5372100"/>
            <a:ext cx="3619500" cy="319703"/>
          </a:xfrm>
          <a:prstGeom prst="rect">
            <a:avLst/>
          </a:prstGeom>
          <a:noFill/>
        </p:spPr>
        <p:txBody>
          <a:bodyPr vert="horz" wrap="square" lIns="0" tIns="0" rIns="0" bIns="0" rtlCol="0">
            <a:spAutoFit/>
          </a:bodyPr>
          <a:lstStyle/>
          <a:p>
            <a:pPr>
              <a:lnSpc>
                <a:spcPct val="115000"/>
              </a:lnSpc>
            </a:pPr>
            <a:r>
              <a:rPr lang="en-US" sz="1900">
                <a:solidFill>
                  <a:srgbClr val="172B3D"/>
                </a:solidFill>
                <a:latin typeface="Aptos" panose="020B0004020202020204" pitchFamily="34" charset="0"/>
              </a:rPr>
              <a:t>Separate functions</a:t>
            </a:r>
          </a:p>
        </p:txBody>
      </p:sp>
      <p:sp>
        <p:nvSpPr>
          <p:cNvPr id="24" name="TextBox 23">
            <a:extLst>
              <a:ext uri="{FF2B5EF4-FFF2-40B4-BE49-F238E27FC236}">
                <a16:creationId xmlns:a16="http://schemas.microsoft.com/office/drawing/2014/main" id="{270C2AA7-4B2F-F684-770A-156CC18C35AF}"/>
              </a:ext>
            </a:extLst>
          </p:cNvPr>
          <p:cNvSpPr txBox="1"/>
          <p:nvPr/>
        </p:nvSpPr>
        <p:spPr>
          <a:xfrm>
            <a:off x="7493000" y="5372100"/>
            <a:ext cx="3924300" cy="319703"/>
          </a:xfrm>
          <a:prstGeom prst="rect">
            <a:avLst/>
          </a:prstGeom>
          <a:noFill/>
        </p:spPr>
        <p:txBody>
          <a:bodyPr vert="horz" wrap="square" lIns="0" tIns="0" rIns="0" bIns="0" rtlCol="0">
            <a:spAutoFit/>
          </a:bodyPr>
          <a:lstStyle/>
          <a:p>
            <a:pPr>
              <a:lnSpc>
                <a:spcPct val="115000"/>
              </a:lnSpc>
            </a:pPr>
            <a:r>
              <a:rPr lang="en-US" sz="1900">
                <a:solidFill>
                  <a:srgbClr val="172B3D"/>
                </a:solidFill>
                <a:latin typeface="Aptos" panose="020B0004020202020204" pitchFamily="34" charset="0"/>
              </a:rPr>
              <a:t>A Tracker class groups operations</a:t>
            </a:r>
          </a:p>
        </p:txBody>
      </p:sp>
      <p:sp>
        <p:nvSpPr>
          <p:cNvPr id="25" name="TextBox 24">
            <a:extLst>
              <a:ext uri="{FF2B5EF4-FFF2-40B4-BE49-F238E27FC236}">
                <a16:creationId xmlns:a16="http://schemas.microsoft.com/office/drawing/2014/main" id="{EF1336CB-C820-9A70-0B68-BF5A2F05B908}"/>
              </a:ext>
            </a:extLst>
          </p:cNvPr>
          <p:cNvSpPr txBox="1"/>
          <p:nvPr/>
        </p:nvSpPr>
        <p:spPr>
          <a:xfrm>
            <a:off x="635000" y="6527800"/>
            <a:ext cx="8255000" cy="168251"/>
          </a:xfrm>
          <a:prstGeom prst="rect">
            <a:avLst/>
          </a:prstGeom>
          <a:noFill/>
        </p:spPr>
        <p:txBody>
          <a:bodyPr vert="horz" wrap="square" lIns="0" tIns="0" rIns="0" bIns="0" rtlCol="0">
            <a:spAutoFit/>
          </a:bodyPr>
          <a:lstStyle/>
          <a:p>
            <a:pPr>
              <a:lnSpc>
                <a:spcPct val="115000"/>
              </a:lnSpc>
            </a:pPr>
            <a:r>
              <a:rPr lang="en-US" sz="1000">
                <a:solidFill>
                  <a:srgbClr val="546775"/>
                </a:solidFill>
                <a:latin typeface="Aptos" panose="020B0004020202020204" pitchFamily="34" charset="0"/>
              </a:rPr>
              <a:t>Expense Tracker | Python and C++</a:t>
            </a:r>
          </a:p>
        </p:txBody>
      </p:sp>
      <p:sp>
        <p:nvSpPr>
          <p:cNvPr id="26" name="TextBox 25">
            <a:extLst>
              <a:ext uri="{FF2B5EF4-FFF2-40B4-BE49-F238E27FC236}">
                <a16:creationId xmlns:a16="http://schemas.microsoft.com/office/drawing/2014/main" id="{B336EA6E-BF98-B1CC-9C91-529C8FE1AC5D}"/>
              </a:ext>
            </a:extLst>
          </p:cNvPr>
          <p:cNvSpPr txBox="1"/>
          <p:nvPr/>
        </p:nvSpPr>
        <p:spPr>
          <a:xfrm>
            <a:off x="10477500" y="6451600"/>
            <a:ext cx="1016000" cy="218778"/>
          </a:xfrm>
          <a:prstGeom prst="rect">
            <a:avLst/>
          </a:prstGeom>
          <a:noFill/>
        </p:spPr>
        <p:txBody>
          <a:bodyPr vert="horz" wrap="square" lIns="0" tIns="0" rIns="0" bIns="0" rtlCol="0">
            <a:spAutoFit/>
          </a:bodyPr>
          <a:lstStyle/>
          <a:p>
            <a:pPr algn="r">
              <a:lnSpc>
                <a:spcPct val="115000"/>
              </a:lnSpc>
            </a:pPr>
            <a:r>
              <a:rPr lang="en-US" sz="1300">
                <a:solidFill>
                  <a:srgbClr val="546775"/>
                </a:solidFill>
                <a:latin typeface="Aptos" panose="020B0004020202020204" pitchFamily="34" charset="0"/>
              </a:rPr>
              <a:t>8 / 10</a:t>
            </a:r>
          </a:p>
        </p:txBody>
      </p:sp>
    </p:spTree>
    <p:extLst>
      <p:ext uri="{BB962C8B-B14F-4D97-AF65-F5344CB8AC3E}">
        <p14:creationId xmlns:p14="http://schemas.microsoft.com/office/powerpoint/2010/main" val="2955319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E7BF57-5339-1E14-BC35-910251986A00}"/>
              </a:ext>
            </a:extLst>
          </p:cNvPr>
          <p:cNvSpPr/>
          <p:nvPr/>
        </p:nvSpPr>
        <p:spPr>
          <a:xfrm>
            <a:off x="0" y="0"/>
            <a:ext cx="12192000" cy="1016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D17029-3EAA-0643-AF78-D8D7EABB6044}"/>
              </a:ext>
            </a:extLst>
          </p:cNvPr>
          <p:cNvSpPr txBox="1"/>
          <p:nvPr/>
        </p:nvSpPr>
        <p:spPr>
          <a:xfrm>
            <a:off x="609600" y="469900"/>
            <a:ext cx="10985500" cy="572016"/>
          </a:xfrm>
          <a:prstGeom prst="rect">
            <a:avLst/>
          </a:prstGeom>
          <a:noFill/>
        </p:spPr>
        <p:txBody>
          <a:bodyPr vert="horz" wrap="square" lIns="0" tIns="0" rIns="0" bIns="0" rtlCol="0">
            <a:spAutoFit/>
          </a:bodyPr>
          <a:lstStyle/>
          <a:p>
            <a:pPr>
              <a:lnSpc>
                <a:spcPct val="115000"/>
              </a:lnSpc>
            </a:pPr>
            <a:r>
              <a:rPr lang="en-US" sz="3400" b="1">
                <a:solidFill>
                  <a:srgbClr val="172B3D"/>
                </a:solidFill>
                <a:latin typeface="Aptos" panose="020B0004020202020204" pitchFamily="34" charset="0"/>
              </a:rPr>
              <a:t>How did we check it?</a:t>
            </a:r>
          </a:p>
        </p:txBody>
      </p:sp>
      <p:sp>
        <p:nvSpPr>
          <p:cNvPr id="4" name="TextBox 3">
            <a:extLst>
              <a:ext uri="{FF2B5EF4-FFF2-40B4-BE49-F238E27FC236}">
                <a16:creationId xmlns:a16="http://schemas.microsoft.com/office/drawing/2014/main" id="{938AC2DD-3A15-7808-6AA0-916FDB519335}"/>
              </a:ext>
            </a:extLst>
          </p:cNvPr>
          <p:cNvSpPr txBox="1"/>
          <p:nvPr/>
        </p:nvSpPr>
        <p:spPr>
          <a:xfrm>
            <a:off x="635000" y="1282700"/>
            <a:ext cx="10922000" cy="353302"/>
          </a:xfrm>
          <a:prstGeom prst="rect">
            <a:avLst/>
          </a:prstGeom>
          <a:noFill/>
        </p:spPr>
        <p:txBody>
          <a:bodyPr vert="horz" wrap="square" lIns="0" tIns="0" rIns="0" bIns="0" rtlCol="0">
            <a:spAutoFit/>
          </a:bodyPr>
          <a:lstStyle/>
          <a:p>
            <a:pPr>
              <a:lnSpc>
                <a:spcPct val="115000"/>
              </a:lnSpc>
            </a:pPr>
            <a:r>
              <a:rPr lang="en-US" sz="2100">
                <a:solidFill>
                  <a:srgbClr val="546775"/>
                </a:solidFill>
                <a:latin typeface="Aptos" panose="020B0004020202020204" pitchFamily="34" charset="0"/>
              </a:rPr>
              <a:t>62 tests passed in our recorded verification run</a:t>
            </a:r>
          </a:p>
        </p:txBody>
      </p:sp>
      <p:sp>
        <p:nvSpPr>
          <p:cNvPr id="5" name="Rectangle 4">
            <a:extLst>
              <a:ext uri="{FF2B5EF4-FFF2-40B4-BE49-F238E27FC236}">
                <a16:creationId xmlns:a16="http://schemas.microsoft.com/office/drawing/2014/main" id="{7FBADFDA-CFAE-E5EC-33BE-3AD02874C968}"/>
              </a:ext>
            </a:extLst>
          </p:cNvPr>
          <p:cNvSpPr/>
          <p:nvPr/>
        </p:nvSpPr>
        <p:spPr>
          <a:xfrm>
            <a:off x="635000" y="2324100"/>
            <a:ext cx="3619500" cy="3378200"/>
          </a:xfrm>
          <a:prstGeom prst="rect">
            <a:avLst/>
          </a:prstGeom>
          <a:solidFill>
            <a:srgbClr val="F2F6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9ADADED-D936-D2EC-B47B-5686B4448C93}"/>
              </a:ext>
            </a:extLst>
          </p:cNvPr>
          <p:cNvSpPr txBox="1"/>
          <p:nvPr/>
        </p:nvSpPr>
        <p:spPr>
          <a:xfrm>
            <a:off x="965200" y="2679700"/>
            <a:ext cx="2959100" cy="1329146"/>
          </a:xfrm>
          <a:prstGeom prst="rect">
            <a:avLst/>
          </a:prstGeom>
          <a:noFill/>
        </p:spPr>
        <p:txBody>
          <a:bodyPr vert="horz" wrap="square" lIns="0" tIns="0" rIns="0" bIns="0" rtlCol="0">
            <a:spAutoFit/>
          </a:bodyPr>
          <a:lstStyle/>
          <a:p>
            <a:pPr algn="ctr">
              <a:lnSpc>
                <a:spcPct val="115000"/>
              </a:lnSpc>
            </a:pPr>
            <a:r>
              <a:rPr lang="en-US" sz="7900" b="1">
                <a:solidFill>
                  <a:srgbClr val="007877"/>
                </a:solidFill>
                <a:latin typeface="Aptos" panose="020B0004020202020204" pitchFamily="34" charset="0"/>
              </a:rPr>
              <a:t>62</a:t>
            </a:r>
          </a:p>
        </p:txBody>
      </p:sp>
      <p:sp>
        <p:nvSpPr>
          <p:cNvPr id="7" name="TextBox 6">
            <a:extLst>
              <a:ext uri="{FF2B5EF4-FFF2-40B4-BE49-F238E27FC236}">
                <a16:creationId xmlns:a16="http://schemas.microsoft.com/office/drawing/2014/main" id="{51C17AAF-E6C7-F6D5-0FB8-C42D2A0DB8D5}"/>
              </a:ext>
            </a:extLst>
          </p:cNvPr>
          <p:cNvSpPr txBox="1"/>
          <p:nvPr/>
        </p:nvSpPr>
        <p:spPr>
          <a:xfrm>
            <a:off x="914400" y="4356100"/>
            <a:ext cx="3060700" cy="454227"/>
          </a:xfrm>
          <a:prstGeom prst="rect">
            <a:avLst/>
          </a:prstGeom>
          <a:noFill/>
        </p:spPr>
        <p:txBody>
          <a:bodyPr vert="horz" wrap="square" lIns="0" tIns="0" rIns="0" bIns="0" rtlCol="0">
            <a:spAutoFit/>
          </a:bodyPr>
          <a:lstStyle/>
          <a:p>
            <a:pPr algn="ctr">
              <a:lnSpc>
                <a:spcPct val="115000"/>
              </a:lnSpc>
            </a:pPr>
            <a:r>
              <a:rPr lang="en-US" sz="2700" b="1">
                <a:solidFill>
                  <a:srgbClr val="172B3D"/>
                </a:solidFill>
                <a:latin typeface="Aptos" panose="020B0004020202020204" pitchFamily="34" charset="0"/>
              </a:rPr>
              <a:t>tests passed</a:t>
            </a:r>
          </a:p>
        </p:txBody>
      </p:sp>
      <p:sp>
        <p:nvSpPr>
          <p:cNvPr id="8" name="Rectangle 7">
            <a:extLst>
              <a:ext uri="{FF2B5EF4-FFF2-40B4-BE49-F238E27FC236}">
                <a16:creationId xmlns:a16="http://schemas.microsoft.com/office/drawing/2014/main" id="{E0B60593-2244-DC32-0A4E-8419EB3FC83F}"/>
              </a:ext>
            </a:extLst>
          </p:cNvPr>
          <p:cNvSpPr/>
          <p:nvPr/>
        </p:nvSpPr>
        <p:spPr>
          <a:xfrm>
            <a:off x="4851400" y="2730500"/>
            <a:ext cx="76200" cy="3048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377E6B8-F940-842A-B4BD-FD2A3640EB5F}"/>
              </a:ext>
            </a:extLst>
          </p:cNvPr>
          <p:cNvSpPr txBox="1"/>
          <p:nvPr/>
        </p:nvSpPr>
        <p:spPr>
          <a:xfrm>
            <a:off x="5156200" y="2603500"/>
            <a:ext cx="6286500" cy="403765"/>
          </a:xfrm>
          <a:prstGeom prst="rect">
            <a:avLst/>
          </a:prstGeom>
          <a:noFill/>
        </p:spPr>
        <p:txBody>
          <a:bodyPr vert="horz" wrap="square" lIns="0" tIns="0" rIns="0" bIns="0" rtlCol="0">
            <a:spAutoFit/>
          </a:bodyPr>
          <a:lstStyle/>
          <a:p>
            <a:pPr>
              <a:lnSpc>
                <a:spcPct val="115000"/>
              </a:lnSpc>
            </a:pPr>
            <a:r>
              <a:rPr lang="en-US" sz="2400">
                <a:solidFill>
                  <a:srgbClr val="172B3D"/>
                </a:solidFill>
                <a:latin typeface="Aptos" panose="020B0004020202020204" pitchFamily="34" charset="0"/>
              </a:rPr>
              <a:t>Totals, searches, and date filters</a:t>
            </a:r>
          </a:p>
        </p:txBody>
      </p:sp>
      <p:sp>
        <p:nvSpPr>
          <p:cNvPr id="10" name="Rectangle 9">
            <a:extLst>
              <a:ext uri="{FF2B5EF4-FFF2-40B4-BE49-F238E27FC236}">
                <a16:creationId xmlns:a16="http://schemas.microsoft.com/office/drawing/2014/main" id="{2B6FA0BF-1C4F-0958-5DEF-FAD6AD1DDEC2}"/>
              </a:ext>
            </a:extLst>
          </p:cNvPr>
          <p:cNvSpPr/>
          <p:nvPr/>
        </p:nvSpPr>
        <p:spPr>
          <a:xfrm>
            <a:off x="4851400" y="3721100"/>
            <a:ext cx="76200" cy="3048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931B761-AF0E-26D3-0C21-282C77CBB4F1}"/>
              </a:ext>
            </a:extLst>
          </p:cNvPr>
          <p:cNvSpPr txBox="1"/>
          <p:nvPr/>
        </p:nvSpPr>
        <p:spPr>
          <a:xfrm>
            <a:off x="5156200" y="3594100"/>
            <a:ext cx="6286500" cy="403765"/>
          </a:xfrm>
          <a:prstGeom prst="rect">
            <a:avLst/>
          </a:prstGeom>
          <a:noFill/>
        </p:spPr>
        <p:txBody>
          <a:bodyPr vert="horz" wrap="square" lIns="0" tIns="0" rIns="0" bIns="0" rtlCol="0">
            <a:spAutoFit/>
          </a:bodyPr>
          <a:lstStyle/>
          <a:p>
            <a:pPr>
              <a:lnSpc>
                <a:spcPct val="115000"/>
              </a:lnSpc>
            </a:pPr>
            <a:r>
              <a:rPr lang="en-US" sz="2400">
                <a:solidFill>
                  <a:srgbClr val="172B3D"/>
                </a:solidFill>
                <a:latin typeface="Aptos" panose="020B0004020202020204" pitchFamily="34" charset="0"/>
              </a:rPr>
              <a:t>Invalid dates and amounts</a:t>
            </a:r>
          </a:p>
        </p:txBody>
      </p:sp>
      <p:sp>
        <p:nvSpPr>
          <p:cNvPr id="12" name="Rectangle 11">
            <a:extLst>
              <a:ext uri="{FF2B5EF4-FFF2-40B4-BE49-F238E27FC236}">
                <a16:creationId xmlns:a16="http://schemas.microsoft.com/office/drawing/2014/main" id="{70BC329D-EB65-C5AE-EE25-20F0729E9E3D}"/>
              </a:ext>
            </a:extLst>
          </p:cNvPr>
          <p:cNvSpPr/>
          <p:nvPr/>
        </p:nvSpPr>
        <p:spPr>
          <a:xfrm>
            <a:off x="4851400" y="4711700"/>
            <a:ext cx="76200" cy="3048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378E493-6F26-95B7-52B6-AF6236D6013A}"/>
              </a:ext>
            </a:extLst>
          </p:cNvPr>
          <p:cNvSpPr txBox="1"/>
          <p:nvPr/>
        </p:nvSpPr>
        <p:spPr>
          <a:xfrm>
            <a:off x="5156200" y="4584700"/>
            <a:ext cx="6286500" cy="403765"/>
          </a:xfrm>
          <a:prstGeom prst="rect">
            <a:avLst/>
          </a:prstGeom>
          <a:noFill/>
        </p:spPr>
        <p:txBody>
          <a:bodyPr vert="horz" wrap="square" lIns="0" tIns="0" rIns="0" bIns="0" rtlCol="0">
            <a:spAutoFit/>
          </a:bodyPr>
          <a:lstStyle/>
          <a:p>
            <a:pPr>
              <a:lnSpc>
                <a:spcPct val="115000"/>
              </a:lnSpc>
            </a:pPr>
            <a:r>
              <a:rPr lang="en-US" sz="2400">
                <a:solidFill>
                  <a:srgbClr val="172B3D"/>
                </a:solidFill>
                <a:latin typeface="Aptos" panose="020B0004020202020204" pitchFamily="34" charset="0"/>
              </a:rPr>
              <a:t>Saved files used by both versions</a:t>
            </a:r>
          </a:p>
        </p:txBody>
      </p:sp>
      <p:sp>
        <p:nvSpPr>
          <p:cNvPr id="14" name="TextBox 13">
            <a:extLst>
              <a:ext uri="{FF2B5EF4-FFF2-40B4-BE49-F238E27FC236}">
                <a16:creationId xmlns:a16="http://schemas.microsoft.com/office/drawing/2014/main" id="{D87515AA-A72B-9CDB-05E1-66B61B0ED64F}"/>
              </a:ext>
            </a:extLst>
          </p:cNvPr>
          <p:cNvSpPr txBox="1"/>
          <p:nvPr/>
        </p:nvSpPr>
        <p:spPr>
          <a:xfrm>
            <a:off x="635000" y="6527800"/>
            <a:ext cx="8255000" cy="168251"/>
          </a:xfrm>
          <a:prstGeom prst="rect">
            <a:avLst/>
          </a:prstGeom>
          <a:noFill/>
        </p:spPr>
        <p:txBody>
          <a:bodyPr vert="horz" wrap="square" lIns="0" tIns="0" rIns="0" bIns="0" rtlCol="0">
            <a:spAutoFit/>
          </a:bodyPr>
          <a:lstStyle/>
          <a:p>
            <a:pPr>
              <a:lnSpc>
                <a:spcPct val="115000"/>
              </a:lnSpc>
            </a:pPr>
            <a:r>
              <a:rPr lang="en-US" sz="1000">
                <a:solidFill>
                  <a:srgbClr val="546775"/>
                </a:solidFill>
                <a:latin typeface="Aptos" panose="020B0004020202020204" pitchFamily="34" charset="0"/>
              </a:rPr>
              <a:t>Expense Tracker | Python and C++</a:t>
            </a:r>
          </a:p>
        </p:txBody>
      </p:sp>
      <p:sp>
        <p:nvSpPr>
          <p:cNvPr id="15" name="TextBox 14">
            <a:extLst>
              <a:ext uri="{FF2B5EF4-FFF2-40B4-BE49-F238E27FC236}">
                <a16:creationId xmlns:a16="http://schemas.microsoft.com/office/drawing/2014/main" id="{7BC9A0D5-4550-8F8B-8738-09A169E176E1}"/>
              </a:ext>
            </a:extLst>
          </p:cNvPr>
          <p:cNvSpPr txBox="1"/>
          <p:nvPr/>
        </p:nvSpPr>
        <p:spPr>
          <a:xfrm>
            <a:off x="10477500" y="6451600"/>
            <a:ext cx="1016000" cy="218778"/>
          </a:xfrm>
          <a:prstGeom prst="rect">
            <a:avLst/>
          </a:prstGeom>
          <a:noFill/>
        </p:spPr>
        <p:txBody>
          <a:bodyPr vert="horz" wrap="square" lIns="0" tIns="0" rIns="0" bIns="0" rtlCol="0">
            <a:spAutoFit/>
          </a:bodyPr>
          <a:lstStyle/>
          <a:p>
            <a:pPr algn="r">
              <a:lnSpc>
                <a:spcPct val="115000"/>
              </a:lnSpc>
            </a:pPr>
            <a:r>
              <a:rPr lang="en-US" sz="1300">
                <a:solidFill>
                  <a:srgbClr val="546775"/>
                </a:solidFill>
                <a:latin typeface="Aptos" panose="020B0004020202020204" pitchFamily="34" charset="0"/>
              </a:rPr>
              <a:t>9 / 10</a:t>
            </a:r>
          </a:p>
        </p:txBody>
      </p:sp>
    </p:spTree>
    <p:extLst>
      <p:ext uri="{BB962C8B-B14F-4D97-AF65-F5344CB8AC3E}">
        <p14:creationId xmlns:p14="http://schemas.microsoft.com/office/powerpoint/2010/main" val="1914907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7BCCFA-A162-F873-3A42-3ADE5B1B6F94}"/>
              </a:ext>
            </a:extLst>
          </p:cNvPr>
          <p:cNvSpPr/>
          <p:nvPr/>
        </p:nvSpPr>
        <p:spPr>
          <a:xfrm>
            <a:off x="0" y="0"/>
            <a:ext cx="12192000" cy="1016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B06AC3E-D8B6-3A81-ADBB-2B05AF5AFFDB}"/>
              </a:ext>
            </a:extLst>
          </p:cNvPr>
          <p:cNvSpPr txBox="1"/>
          <p:nvPr/>
        </p:nvSpPr>
        <p:spPr>
          <a:xfrm>
            <a:off x="609600" y="469900"/>
            <a:ext cx="10985500" cy="572016"/>
          </a:xfrm>
          <a:prstGeom prst="rect">
            <a:avLst/>
          </a:prstGeom>
          <a:noFill/>
        </p:spPr>
        <p:txBody>
          <a:bodyPr vert="horz" wrap="square" lIns="0" tIns="0" rIns="0" bIns="0" rtlCol="0">
            <a:spAutoFit/>
          </a:bodyPr>
          <a:lstStyle/>
          <a:p>
            <a:pPr>
              <a:lnSpc>
                <a:spcPct val="115000"/>
              </a:lnSpc>
            </a:pPr>
            <a:r>
              <a:rPr lang="en-US" sz="3400" b="1">
                <a:solidFill>
                  <a:srgbClr val="172B3D"/>
                </a:solidFill>
                <a:latin typeface="Aptos" panose="020B0004020202020204" pitchFamily="34" charset="0"/>
              </a:rPr>
              <a:t>What we learned</a:t>
            </a:r>
          </a:p>
        </p:txBody>
      </p:sp>
      <p:sp>
        <p:nvSpPr>
          <p:cNvPr id="4" name="TextBox 3">
            <a:extLst>
              <a:ext uri="{FF2B5EF4-FFF2-40B4-BE49-F238E27FC236}">
                <a16:creationId xmlns:a16="http://schemas.microsoft.com/office/drawing/2014/main" id="{FCEF0CC9-0C3B-8A0E-DB24-ACFE642CAA89}"/>
              </a:ext>
            </a:extLst>
          </p:cNvPr>
          <p:cNvSpPr txBox="1"/>
          <p:nvPr/>
        </p:nvSpPr>
        <p:spPr>
          <a:xfrm>
            <a:off x="635000" y="1282700"/>
            <a:ext cx="10922000" cy="353302"/>
          </a:xfrm>
          <a:prstGeom prst="rect">
            <a:avLst/>
          </a:prstGeom>
          <a:noFill/>
        </p:spPr>
        <p:txBody>
          <a:bodyPr vert="horz" wrap="square" lIns="0" tIns="0" rIns="0" bIns="0" rtlCol="0">
            <a:spAutoFit/>
          </a:bodyPr>
          <a:lstStyle/>
          <a:p>
            <a:pPr>
              <a:lnSpc>
                <a:spcPct val="115000"/>
              </a:lnSpc>
            </a:pPr>
            <a:r>
              <a:rPr lang="en-US" sz="2100">
                <a:solidFill>
                  <a:srgbClr val="546775"/>
                </a:solidFill>
                <a:latin typeface="Aptos" panose="020B0004020202020204" pitchFamily="34" charset="0"/>
              </a:rPr>
              <a:t>Same features. Different ways to write the code.</a:t>
            </a:r>
          </a:p>
        </p:txBody>
      </p:sp>
      <p:sp>
        <p:nvSpPr>
          <p:cNvPr id="5" name="Rectangle 4">
            <a:extLst>
              <a:ext uri="{FF2B5EF4-FFF2-40B4-BE49-F238E27FC236}">
                <a16:creationId xmlns:a16="http://schemas.microsoft.com/office/drawing/2014/main" id="{FD2EB452-DFE0-1198-5E9F-27E0E78F797A}"/>
              </a:ext>
            </a:extLst>
          </p:cNvPr>
          <p:cNvSpPr/>
          <p:nvPr/>
        </p:nvSpPr>
        <p:spPr>
          <a:xfrm>
            <a:off x="774700" y="2476500"/>
            <a:ext cx="76200" cy="3048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7CC30EC-0823-E507-4782-F4B6FBE78469}"/>
              </a:ext>
            </a:extLst>
          </p:cNvPr>
          <p:cNvSpPr txBox="1"/>
          <p:nvPr/>
        </p:nvSpPr>
        <p:spPr>
          <a:xfrm>
            <a:off x="1079500" y="2349500"/>
            <a:ext cx="10236200" cy="403765"/>
          </a:xfrm>
          <a:prstGeom prst="rect">
            <a:avLst/>
          </a:prstGeom>
          <a:noFill/>
        </p:spPr>
        <p:txBody>
          <a:bodyPr vert="horz" wrap="square" lIns="0" tIns="0" rIns="0" bIns="0" rtlCol="0">
            <a:spAutoFit/>
          </a:bodyPr>
          <a:lstStyle/>
          <a:p>
            <a:pPr>
              <a:lnSpc>
                <a:spcPct val="115000"/>
              </a:lnSpc>
            </a:pPr>
            <a:r>
              <a:rPr lang="en-US" sz="2400">
                <a:solidFill>
                  <a:srgbClr val="172B3D"/>
                </a:solidFill>
                <a:latin typeface="Aptos" panose="020B0004020202020204" pitchFamily="34" charset="0"/>
              </a:rPr>
              <a:t>Python made quick changes convenient.</a:t>
            </a:r>
          </a:p>
        </p:txBody>
      </p:sp>
      <p:sp>
        <p:nvSpPr>
          <p:cNvPr id="7" name="Rectangle 6">
            <a:extLst>
              <a:ext uri="{FF2B5EF4-FFF2-40B4-BE49-F238E27FC236}">
                <a16:creationId xmlns:a16="http://schemas.microsoft.com/office/drawing/2014/main" id="{D503B827-D088-EE51-1A51-5FFC42A53726}"/>
              </a:ext>
            </a:extLst>
          </p:cNvPr>
          <p:cNvSpPr/>
          <p:nvPr/>
        </p:nvSpPr>
        <p:spPr>
          <a:xfrm>
            <a:off x="774700" y="3467100"/>
            <a:ext cx="76200" cy="3048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F1FD29F-7E91-6B9A-6FD1-A9BE8BE29C4A}"/>
              </a:ext>
            </a:extLst>
          </p:cNvPr>
          <p:cNvSpPr txBox="1"/>
          <p:nvPr/>
        </p:nvSpPr>
        <p:spPr>
          <a:xfrm>
            <a:off x="1079500" y="3340100"/>
            <a:ext cx="10236200" cy="403765"/>
          </a:xfrm>
          <a:prstGeom prst="rect">
            <a:avLst/>
          </a:prstGeom>
          <a:noFill/>
        </p:spPr>
        <p:txBody>
          <a:bodyPr vert="horz" wrap="square" lIns="0" tIns="0" rIns="0" bIns="0" rtlCol="0">
            <a:spAutoFit/>
          </a:bodyPr>
          <a:lstStyle/>
          <a:p>
            <a:pPr>
              <a:lnSpc>
                <a:spcPct val="115000"/>
              </a:lnSpc>
            </a:pPr>
            <a:r>
              <a:rPr lang="en-US" sz="2400">
                <a:solidFill>
                  <a:srgbClr val="172B3D"/>
                </a:solidFill>
                <a:latin typeface="Aptos" panose="020B0004020202020204" pitchFamily="34" charset="0"/>
              </a:rPr>
              <a:t>C++ made field types and structure explicit.</a:t>
            </a:r>
          </a:p>
        </p:txBody>
      </p:sp>
      <p:sp>
        <p:nvSpPr>
          <p:cNvPr id="9" name="Rectangle 8">
            <a:extLst>
              <a:ext uri="{FF2B5EF4-FFF2-40B4-BE49-F238E27FC236}">
                <a16:creationId xmlns:a16="http://schemas.microsoft.com/office/drawing/2014/main" id="{FECC79E9-32A7-5DE4-D653-18565094A728}"/>
              </a:ext>
            </a:extLst>
          </p:cNvPr>
          <p:cNvSpPr/>
          <p:nvPr/>
        </p:nvSpPr>
        <p:spPr>
          <a:xfrm>
            <a:off x="774700" y="4457700"/>
            <a:ext cx="76200" cy="304800"/>
          </a:xfrm>
          <a:prstGeom prst="rect">
            <a:avLst/>
          </a:prstGeom>
          <a:solidFill>
            <a:srgbClr val="0078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D60D377-71C9-0924-6182-DAFE92778801}"/>
              </a:ext>
            </a:extLst>
          </p:cNvPr>
          <p:cNvSpPr txBox="1"/>
          <p:nvPr/>
        </p:nvSpPr>
        <p:spPr>
          <a:xfrm>
            <a:off x="1079500" y="4330700"/>
            <a:ext cx="10236200" cy="403765"/>
          </a:xfrm>
          <a:prstGeom prst="rect">
            <a:avLst/>
          </a:prstGeom>
          <a:noFill/>
        </p:spPr>
        <p:txBody>
          <a:bodyPr vert="horz" wrap="square" lIns="0" tIns="0" rIns="0" bIns="0" rtlCol="0">
            <a:spAutoFit/>
          </a:bodyPr>
          <a:lstStyle/>
          <a:p>
            <a:pPr>
              <a:lnSpc>
                <a:spcPct val="115000"/>
              </a:lnSpc>
            </a:pPr>
            <a:r>
              <a:rPr lang="en-US" sz="2400">
                <a:solidFill>
                  <a:srgbClr val="172B3D"/>
                </a:solidFill>
                <a:latin typeface="Aptos" panose="020B0004020202020204" pitchFamily="34" charset="0"/>
              </a:rPr>
              <a:t>Both versions use the same files and give the same results.</a:t>
            </a:r>
          </a:p>
        </p:txBody>
      </p:sp>
      <p:sp>
        <p:nvSpPr>
          <p:cNvPr id="11" name="TextBox 10">
            <a:extLst>
              <a:ext uri="{FF2B5EF4-FFF2-40B4-BE49-F238E27FC236}">
                <a16:creationId xmlns:a16="http://schemas.microsoft.com/office/drawing/2014/main" id="{F1491DF2-BC75-6C14-71E8-9BBAEB6992F1}"/>
              </a:ext>
            </a:extLst>
          </p:cNvPr>
          <p:cNvSpPr txBox="1"/>
          <p:nvPr/>
        </p:nvSpPr>
        <p:spPr>
          <a:xfrm>
            <a:off x="812800" y="5486400"/>
            <a:ext cx="10439400" cy="269241"/>
          </a:xfrm>
          <a:prstGeom prst="rect">
            <a:avLst/>
          </a:prstGeom>
          <a:noFill/>
        </p:spPr>
        <p:txBody>
          <a:bodyPr vert="horz" wrap="square" lIns="0" tIns="0" rIns="0" bIns="0" rtlCol="0">
            <a:spAutoFit/>
          </a:bodyPr>
          <a:lstStyle/>
          <a:p>
            <a:pPr>
              <a:lnSpc>
                <a:spcPct val="115000"/>
              </a:lnSpc>
            </a:pPr>
            <a:r>
              <a:rPr lang="en-US" sz="1600">
                <a:solidFill>
                  <a:srgbClr val="546775"/>
                </a:solidFill>
                <a:latin typeface="Aptos" panose="020B0004020202020204" pitchFamily="34" charset="0"/>
              </a:rPr>
              <a:t>Source code, sample data, tests, and run instructions:</a:t>
            </a:r>
          </a:p>
        </p:txBody>
      </p:sp>
      <p:sp>
        <p:nvSpPr>
          <p:cNvPr id="12" name="TextBox 11">
            <a:extLst>
              <a:ext uri="{FF2B5EF4-FFF2-40B4-BE49-F238E27FC236}">
                <a16:creationId xmlns:a16="http://schemas.microsoft.com/office/drawing/2014/main" id="{6F7BDF3F-3194-B561-042A-875E354DA229}"/>
              </a:ext>
            </a:extLst>
          </p:cNvPr>
          <p:cNvSpPr txBox="1"/>
          <p:nvPr/>
        </p:nvSpPr>
        <p:spPr>
          <a:xfrm>
            <a:off x="812800" y="5918200"/>
            <a:ext cx="10477500" cy="269241"/>
          </a:xfrm>
          <a:prstGeom prst="rect">
            <a:avLst/>
          </a:prstGeom>
          <a:noFill/>
        </p:spPr>
        <p:txBody>
          <a:bodyPr vert="horz" wrap="square" lIns="0" tIns="0" rIns="0" bIns="0" rtlCol="0">
            <a:spAutoFit/>
          </a:bodyPr>
          <a:lstStyle/>
          <a:p>
            <a:pPr>
              <a:lnSpc>
                <a:spcPct val="115000"/>
              </a:lnSpc>
            </a:pPr>
            <a:r>
              <a:rPr lang="en-US" sz="1600">
                <a:solidFill>
                  <a:srgbClr val="007877"/>
                </a:solidFill>
                <a:latin typeface="Aptos" panose="020B0004020202020204" pitchFamily="34" charset="0"/>
                <a:hlinkClick r:id="rId3"/>
              </a:rPr>
              <a:t>https://github.com/psahay101/cross-language-expense-tracker</a:t>
            </a:r>
            <a:endParaRPr lang="en-US" sz="1600">
              <a:solidFill>
                <a:srgbClr val="007877"/>
              </a:solidFill>
              <a:latin typeface="Aptos" panose="020B0004020202020204" pitchFamily="34" charset="0"/>
            </a:endParaRPr>
          </a:p>
        </p:txBody>
      </p:sp>
      <p:sp>
        <p:nvSpPr>
          <p:cNvPr id="13" name="TextBox 12">
            <a:extLst>
              <a:ext uri="{FF2B5EF4-FFF2-40B4-BE49-F238E27FC236}">
                <a16:creationId xmlns:a16="http://schemas.microsoft.com/office/drawing/2014/main" id="{34BD957E-986C-4A6A-E5F3-5124AF96CF86}"/>
              </a:ext>
            </a:extLst>
          </p:cNvPr>
          <p:cNvSpPr txBox="1"/>
          <p:nvPr/>
        </p:nvSpPr>
        <p:spPr>
          <a:xfrm>
            <a:off x="635000" y="6527800"/>
            <a:ext cx="8255000" cy="168251"/>
          </a:xfrm>
          <a:prstGeom prst="rect">
            <a:avLst/>
          </a:prstGeom>
          <a:noFill/>
        </p:spPr>
        <p:txBody>
          <a:bodyPr vert="horz" wrap="square" lIns="0" tIns="0" rIns="0" bIns="0" rtlCol="0">
            <a:spAutoFit/>
          </a:bodyPr>
          <a:lstStyle/>
          <a:p>
            <a:pPr>
              <a:lnSpc>
                <a:spcPct val="115000"/>
              </a:lnSpc>
            </a:pPr>
            <a:r>
              <a:rPr lang="en-US" sz="1000">
                <a:solidFill>
                  <a:srgbClr val="546775"/>
                </a:solidFill>
                <a:latin typeface="Aptos" panose="020B0004020202020204" pitchFamily="34" charset="0"/>
              </a:rPr>
              <a:t>Expense Tracker | Python and C++</a:t>
            </a:r>
          </a:p>
        </p:txBody>
      </p:sp>
      <p:sp>
        <p:nvSpPr>
          <p:cNvPr id="14" name="TextBox 13">
            <a:extLst>
              <a:ext uri="{FF2B5EF4-FFF2-40B4-BE49-F238E27FC236}">
                <a16:creationId xmlns:a16="http://schemas.microsoft.com/office/drawing/2014/main" id="{97B2E286-CA94-0BA2-0272-0C9ACF0ACD6E}"/>
              </a:ext>
            </a:extLst>
          </p:cNvPr>
          <p:cNvSpPr txBox="1"/>
          <p:nvPr/>
        </p:nvSpPr>
        <p:spPr>
          <a:xfrm>
            <a:off x="10477500" y="6451600"/>
            <a:ext cx="1016000" cy="218778"/>
          </a:xfrm>
          <a:prstGeom prst="rect">
            <a:avLst/>
          </a:prstGeom>
          <a:noFill/>
        </p:spPr>
        <p:txBody>
          <a:bodyPr vert="horz" wrap="square" lIns="0" tIns="0" rIns="0" bIns="0" rtlCol="0">
            <a:spAutoFit/>
          </a:bodyPr>
          <a:lstStyle/>
          <a:p>
            <a:pPr algn="r">
              <a:lnSpc>
                <a:spcPct val="115000"/>
              </a:lnSpc>
            </a:pPr>
            <a:r>
              <a:rPr lang="en-US" sz="1300">
                <a:solidFill>
                  <a:srgbClr val="546775"/>
                </a:solidFill>
                <a:latin typeface="Aptos" panose="020B0004020202020204" pitchFamily="34" charset="0"/>
              </a:rPr>
              <a:t>10 / 10</a:t>
            </a:r>
          </a:p>
        </p:txBody>
      </p:sp>
    </p:spTree>
    <p:extLst>
      <p:ext uri="{BB962C8B-B14F-4D97-AF65-F5344CB8AC3E}">
        <p14:creationId xmlns:p14="http://schemas.microsoft.com/office/powerpoint/2010/main" val="14387100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2154</Words>
  <Application>Microsoft Office PowerPoint</Application>
  <PresentationFormat>Custom</PresentationFormat>
  <Paragraphs>165</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Prateek Sahay</dc:creator>
  <cp:lastModifiedBy>Prateek Sahay</cp:lastModifiedBy>
  <cp:revision>1</cp:revision>
  <dcterms:created xsi:type="dcterms:W3CDTF">2026-10-04T15:42:52Z</dcterms:created>
  <dcterms:modified xsi:type="dcterms:W3CDTF">2026-10-04T15:42:52Z</dcterms:modified>
</cp:coreProperties>
</file>